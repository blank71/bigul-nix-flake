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124" r:id="rId1"/>
  </p:sldMasterIdLst>
  <p:notesMasterIdLst>
    <p:notesMasterId r:id="rId60"/>
  </p:notesMasterIdLst>
  <p:handoutMasterIdLst>
    <p:handoutMasterId r:id="rId61"/>
  </p:handoutMasterIdLst>
  <p:sldIdLst>
    <p:sldId id="559" r:id="rId2"/>
    <p:sldId id="660" r:id="rId3"/>
    <p:sldId id="600" r:id="rId4"/>
    <p:sldId id="606" r:id="rId5"/>
    <p:sldId id="607" r:id="rId6"/>
    <p:sldId id="647" r:id="rId7"/>
    <p:sldId id="612" r:id="rId8"/>
    <p:sldId id="613" r:id="rId9"/>
    <p:sldId id="614" r:id="rId10"/>
    <p:sldId id="648" r:id="rId11"/>
    <p:sldId id="649" r:id="rId12"/>
    <p:sldId id="618" r:id="rId13"/>
    <p:sldId id="650" r:id="rId14"/>
    <p:sldId id="651" r:id="rId15"/>
    <p:sldId id="652" r:id="rId16"/>
    <p:sldId id="653" r:id="rId17"/>
    <p:sldId id="654" r:id="rId18"/>
    <p:sldId id="656" r:id="rId19"/>
    <p:sldId id="657" r:id="rId20"/>
    <p:sldId id="658" r:id="rId21"/>
    <p:sldId id="659" r:id="rId22"/>
    <p:sldId id="621" r:id="rId23"/>
    <p:sldId id="661" r:id="rId24"/>
    <p:sldId id="662" r:id="rId25"/>
    <p:sldId id="663" r:id="rId26"/>
    <p:sldId id="664" r:id="rId27"/>
    <p:sldId id="665" r:id="rId28"/>
    <p:sldId id="666" r:id="rId29"/>
    <p:sldId id="667" r:id="rId30"/>
    <p:sldId id="668" r:id="rId31"/>
    <p:sldId id="669" r:id="rId32"/>
    <p:sldId id="670" r:id="rId33"/>
    <p:sldId id="671" r:id="rId34"/>
    <p:sldId id="672" r:id="rId35"/>
    <p:sldId id="673" r:id="rId36"/>
    <p:sldId id="674" r:id="rId37"/>
    <p:sldId id="675" r:id="rId38"/>
    <p:sldId id="676" r:id="rId39"/>
    <p:sldId id="677" r:id="rId40"/>
    <p:sldId id="678" r:id="rId41"/>
    <p:sldId id="679" r:id="rId42"/>
    <p:sldId id="680" r:id="rId43"/>
    <p:sldId id="681" r:id="rId44"/>
    <p:sldId id="682" r:id="rId45"/>
    <p:sldId id="683" r:id="rId46"/>
    <p:sldId id="684" r:id="rId47"/>
    <p:sldId id="685" r:id="rId48"/>
    <p:sldId id="686" r:id="rId49"/>
    <p:sldId id="687" r:id="rId50"/>
    <p:sldId id="688" r:id="rId51"/>
    <p:sldId id="689" r:id="rId52"/>
    <p:sldId id="690" r:id="rId53"/>
    <p:sldId id="691" r:id="rId54"/>
    <p:sldId id="692" r:id="rId55"/>
    <p:sldId id="693" r:id="rId56"/>
    <p:sldId id="694" r:id="rId57"/>
    <p:sldId id="695" r:id="rId58"/>
    <p:sldId id="696" r:id="rId59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4D62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31" autoAdjust="0"/>
  </p:normalViewPr>
  <p:slideViewPr>
    <p:cSldViewPr snapToObjects="1">
      <p:cViewPr>
        <p:scale>
          <a:sx n="66" d="100"/>
          <a:sy n="66" d="100"/>
        </p:scale>
        <p:origin x="-712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notesMaster" Target="notesMasters/notesMaster1.xml"/><Relationship Id="rId61" Type="http://schemas.openxmlformats.org/officeDocument/2006/relationships/handoutMaster" Target="handoutMasters/handoutMaster1.xml"/><Relationship Id="rId62" Type="http://schemas.openxmlformats.org/officeDocument/2006/relationships/printerSettings" Target="printerSettings/printerSettings1.bin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93697-C8A9-9B49-BE2A-924B569EB904}" type="datetimeFigureOut">
              <a:rPr lang="ja-JP" altLang="en-US" smtClean="0"/>
              <a:pPr/>
              <a:t>16/07/25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ADCB4A-5D02-1F48-BE63-B6FF8351FB4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15081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BB2EE-6F08-0F40-84F7-F95277EBA770}" type="datetimeFigureOut">
              <a:rPr lang="ja-JP" altLang="en-US" smtClean="0"/>
              <a:pPr/>
              <a:t>16/07/25</a:t>
            </a:fld>
            <a:endParaRPr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4C89A-ADE7-DA41-9F34-CD7E1A050C1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324713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For all x, exist y. R(</a:t>
            </a:r>
            <a:r>
              <a:rPr kumimoji="1" lang="en-US" altLang="ja-JP" dirty="0" err="1" smtClean="0"/>
              <a:t>x,y</a:t>
            </a:r>
            <a:r>
              <a:rPr kumimoji="1" lang="en-US" altLang="ja-JP" dirty="0" smtClean="0"/>
              <a:t>)  =&gt; for all x, exist f. R(x, f(x)).</a:t>
            </a:r>
            <a:r>
              <a:rPr kumimoji="1" lang="en-US" altLang="ja-JP" smtClean="0"/>
              <a:t>: axiom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4C89A-ADE7-DA41-9F34-CD7E1A050C13}" type="slidenum">
              <a:rPr lang="ja-JP" altLang="en-US" smtClean="0"/>
              <a:pPr/>
              <a:t>15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8636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For all x, exist y. R(</a:t>
            </a:r>
            <a:r>
              <a:rPr kumimoji="1" lang="en-US" altLang="ja-JP" dirty="0" err="1" smtClean="0"/>
              <a:t>x,y</a:t>
            </a:r>
            <a:r>
              <a:rPr kumimoji="1" lang="en-US" altLang="ja-JP" dirty="0" smtClean="0"/>
              <a:t>)  =&gt; for all x, exist f. R(x, f(x)).</a:t>
            </a:r>
            <a:r>
              <a:rPr kumimoji="1" lang="en-US" altLang="ja-JP" smtClean="0"/>
              <a:t>: axiom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4C89A-ADE7-DA41-9F34-CD7E1A050C13}" type="slidenum">
              <a:rPr lang="ja-JP" altLang="en-US" smtClean="0"/>
              <a:pPr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8636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putTwice</a:t>
            </a:r>
            <a:r>
              <a:rPr kumimoji="1" lang="en-US" altLang="ja-JP" dirty="0" smtClean="0"/>
              <a:t>:</a:t>
            </a:r>
          </a:p>
          <a:p>
            <a:endParaRPr kumimoji="1" lang="en-US" altLang="ja-JP" dirty="0" smtClean="0"/>
          </a:p>
          <a:p>
            <a:r>
              <a:rPr kumimoji="1" lang="en-US" altLang="ja-JP" baseline="0" dirty="0" smtClean="0"/>
              <a:t>    p</a:t>
            </a:r>
            <a:r>
              <a:rPr kumimoji="1" lang="en-US" altLang="ja-JP" dirty="0" smtClean="0"/>
              <a:t>ut (put s v) v</a:t>
            </a:r>
          </a:p>
          <a:p>
            <a:r>
              <a:rPr kumimoji="1" lang="en-US" altLang="ja-JP" dirty="0" smtClean="0"/>
              <a:t>=  put (put s v)</a:t>
            </a:r>
            <a:r>
              <a:rPr kumimoji="1" lang="en-US" altLang="ja-JP" baseline="0" dirty="0" smtClean="0"/>
              <a:t> (get (put s v))</a:t>
            </a:r>
          </a:p>
          <a:p>
            <a:r>
              <a:rPr kumimoji="1" lang="en-US" altLang="ja-JP" baseline="0" dirty="0" smtClean="0"/>
              <a:t>=  put s v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4C89A-ADE7-DA41-9F34-CD7E1A050C13}" type="slidenum">
              <a:rPr lang="ja-JP" altLang="en-US" smtClean="0"/>
              <a:pPr/>
              <a:t>17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48414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>
                <a:sym typeface="Wingdings"/>
              </a:rPr>
              <a:t></a:t>
            </a:r>
            <a:endParaRPr kumimoji="1" lang="en-US" altLang="ja-JP" dirty="0" smtClean="0"/>
          </a:p>
          <a:p>
            <a:r>
              <a:rPr kumimoji="1" lang="en-US" altLang="ja-JP" dirty="0" smtClean="0"/>
              <a:t>    put (put s v) v</a:t>
            </a:r>
          </a:p>
          <a:p>
            <a:r>
              <a:rPr kumimoji="1" lang="en-US" altLang="ja-JP" dirty="0" smtClean="0"/>
              <a:t>=    { </a:t>
            </a:r>
            <a:r>
              <a:rPr kumimoji="1" lang="en-US" altLang="ja-JP" dirty="0" err="1" smtClean="0"/>
              <a:t>PutGet</a:t>
            </a:r>
            <a:r>
              <a:rPr kumimoji="1" lang="en-US" altLang="ja-JP" baseline="0" dirty="0" smtClean="0"/>
              <a:t> }</a:t>
            </a:r>
            <a:endParaRPr kumimoji="1" lang="en-US" altLang="ja-JP" dirty="0" smtClean="0"/>
          </a:p>
          <a:p>
            <a:r>
              <a:rPr kumimoji="1" lang="en-US" altLang="ja-JP" baseline="0" dirty="0" smtClean="0"/>
              <a:t>    </a:t>
            </a:r>
            <a:r>
              <a:rPr kumimoji="1" lang="en-US" altLang="ja-JP" dirty="0" smtClean="0"/>
              <a:t>put (put s v) (get</a:t>
            </a:r>
            <a:r>
              <a:rPr kumimoji="1" lang="en-US" altLang="ja-JP" baseline="0" dirty="0" smtClean="0"/>
              <a:t> (put s v))</a:t>
            </a:r>
            <a:r>
              <a:rPr kumimoji="1" lang="en-US" altLang="ja-JP" dirty="0" smtClean="0"/>
              <a:t> </a:t>
            </a:r>
          </a:p>
          <a:p>
            <a:r>
              <a:rPr kumimoji="1" lang="en-US" altLang="ja-JP" dirty="0" smtClean="0"/>
              <a:t>=    { </a:t>
            </a:r>
            <a:r>
              <a:rPr kumimoji="1" lang="en-US" altLang="ja-JP" dirty="0" err="1" smtClean="0"/>
              <a:t>GetPut</a:t>
            </a:r>
            <a:r>
              <a:rPr kumimoji="1" lang="en-US" altLang="ja-JP" dirty="0" smtClean="0"/>
              <a:t> }</a:t>
            </a:r>
          </a:p>
          <a:p>
            <a:r>
              <a:rPr kumimoji="1" lang="en-US" altLang="ja-JP" dirty="0" smtClean="0"/>
              <a:t>    put s v</a:t>
            </a:r>
          </a:p>
          <a:p>
            <a:endParaRPr kumimoji="1" lang="en-US" altLang="ja-JP" dirty="0" smtClean="0"/>
          </a:p>
          <a:p>
            <a:r>
              <a:rPr kumimoji="1" lang="en-US" altLang="ja-JP" dirty="0" smtClean="0">
                <a:sym typeface="Wingdings"/>
              </a:rPr>
              <a:t></a:t>
            </a:r>
          </a:p>
          <a:p>
            <a:r>
              <a:rPr kumimoji="1" lang="en-US" altLang="ja-JP" dirty="0" smtClean="0">
                <a:sym typeface="Wingdings"/>
              </a:rPr>
              <a:t>1 =&gt; </a:t>
            </a:r>
            <a:r>
              <a:rPr kumimoji="1" lang="en-US" altLang="ja-JP" dirty="0" err="1" smtClean="0">
                <a:sym typeface="Wingdings"/>
              </a:rPr>
              <a:t>PutGet</a:t>
            </a:r>
            <a:endParaRPr kumimoji="1" lang="en-US" altLang="ja-JP" dirty="0" smtClean="0">
              <a:sym typeface="Wingdings"/>
            </a:endParaRPr>
          </a:p>
          <a:p>
            <a:r>
              <a:rPr kumimoji="1" lang="en-US" altLang="ja-JP" dirty="0" smtClean="0">
                <a:sym typeface="Wingdings"/>
              </a:rPr>
              <a:t>2+3</a:t>
            </a:r>
            <a:r>
              <a:rPr kumimoji="1" lang="en-US" altLang="ja-JP" baseline="0" dirty="0" smtClean="0">
                <a:sym typeface="Wingdings"/>
              </a:rPr>
              <a:t> =&gt; </a:t>
            </a:r>
            <a:r>
              <a:rPr kumimoji="1" lang="en-US" altLang="ja-JP" baseline="0" dirty="0" err="1" smtClean="0">
                <a:sym typeface="Wingdings"/>
              </a:rPr>
              <a:t>GetPut</a:t>
            </a:r>
            <a:endParaRPr kumimoji="1" lang="en-US" altLang="ja-JP" baseline="0" dirty="0" smtClean="0">
              <a:sym typeface="Wingdings"/>
            </a:endParaRPr>
          </a:p>
          <a:p>
            <a:endParaRPr kumimoji="1" lang="en-US" altLang="ja-JP" baseline="0" dirty="0" smtClean="0">
              <a:sym typeface="Wingdings"/>
            </a:endParaRPr>
          </a:p>
          <a:p>
            <a:r>
              <a:rPr kumimoji="1" lang="en-US" altLang="ja-JP" baseline="0" dirty="0" smtClean="0">
                <a:sym typeface="Wingdings"/>
              </a:rPr>
              <a:t>   put s (get s)</a:t>
            </a:r>
          </a:p>
          <a:p>
            <a:r>
              <a:rPr kumimoji="1" lang="en-US" altLang="ja-JP" baseline="0" dirty="0" smtClean="0">
                <a:sym typeface="Wingdings"/>
              </a:rPr>
              <a:t>=  { </a:t>
            </a:r>
            <a:r>
              <a:rPr kumimoji="1" lang="en-US" altLang="ja-JP" baseline="0" dirty="0" err="1" smtClean="0">
                <a:sym typeface="Wingdings"/>
              </a:rPr>
              <a:t>surjective</a:t>
            </a:r>
            <a:r>
              <a:rPr kumimoji="1" lang="en-US" altLang="ja-JP" baseline="0" dirty="0" smtClean="0">
                <a:sym typeface="Wingdings"/>
              </a:rPr>
              <a:t> of put: s = put s’ v }</a:t>
            </a:r>
          </a:p>
          <a:p>
            <a:r>
              <a:rPr kumimoji="1" lang="en-US" altLang="ja-JP" baseline="0" dirty="0" smtClean="0">
                <a:sym typeface="Wingdings"/>
              </a:rPr>
              <a:t>   put (put s’ v) (get (put s’ v) </a:t>
            </a:r>
          </a:p>
          <a:p>
            <a:r>
              <a:rPr kumimoji="1" lang="en-US" altLang="ja-JP" dirty="0" smtClean="0"/>
              <a:t>=  { </a:t>
            </a:r>
            <a:r>
              <a:rPr kumimoji="1" lang="en-US" altLang="ja-JP" dirty="0" err="1" smtClean="0"/>
              <a:t>PutGet</a:t>
            </a:r>
            <a:r>
              <a:rPr kumimoji="1" lang="en-US" altLang="ja-JP" dirty="0" smtClean="0"/>
              <a:t> }</a:t>
            </a:r>
          </a:p>
          <a:p>
            <a:r>
              <a:rPr kumimoji="1" lang="en-US" altLang="ja-JP" dirty="0" smtClean="0"/>
              <a:t>   put (put s’ v) s’</a:t>
            </a:r>
          </a:p>
          <a:p>
            <a:r>
              <a:rPr kumimoji="1" lang="en-US" altLang="ja-JP" dirty="0" smtClean="0"/>
              <a:t>=  </a:t>
            </a:r>
            <a:r>
              <a:rPr kumimoji="1" lang="en-US" altLang="ja-JP" baseline="0" dirty="0" smtClean="0"/>
              <a:t> { </a:t>
            </a:r>
            <a:r>
              <a:rPr kumimoji="1" lang="en-US" altLang="ja-JP" baseline="0" dirty="0" err="1" smtClean="0"/>
              <a:t>PutTwice</a:t>
            </a:r>
            <a:r>
              <a:rPr kumimoji="1" lang="en-US" altLang="ja-JP" baseline="0" dirty="0" smtClean="0"/>
              <a:t> }</a:t>
            </a:r>
          </a:p>
          <a:p>
            <a:r>
              <a:rPr kumimoji="1" lang="en-US" altLang="ja-JP" baseline="0" dirty="0" smtClean="0"/>
              <a:t>   put s’ v</a:t>
            </a:r>
          </a:p>
          <a:p>
            <a:r>
              <a:rPr kumimoji="1" lang="en-US" altLang="ja-JP" baseline="0" dirty="0" smtClean="0"/>
              <a:t>=    { assumption above }</a:t>
            </a:r>
          </a:p>
          <a:p>
            <a:r>
              <a:rPr kumimoji="1" lang="en-US" altLang="ja-JP" baseline="0" dirty="0" smtClean="0"/>
              <a:t>   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4C89A-ADE7-DA41-9F34-CD7E1A050C13}" type="slidenum">
              <a:rPr lang="ja-JP" altLang="en-US" smtClean="0"/>
              <a:pPr/>
              <a:t>19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0054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4C89A-ADE7-DA41-9F34-CD7E1A050C13}" type="slidenum">
              <a:rPr lang="ja-JP" altLang="en-US" smtClean="0"/>
              <a:pPr/>
              <a:t>20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87974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kumimoji="0" lang="is-IS" smtClean="0"/>
              <a:t>FM 2014, Singapore, May 15, 2014</a:t>
            </a:r>
            <a:endParaRPr kumimoji="0" 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1054100" y="1295400"/>
            <a:ext cx="374015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46650" y="1295400"/>
            <a:ext cx="374015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8" name="スライド番号プレースホル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is-IS" altLang="ja-JP" smtClean="0"/>
              <a:t>FM 2014, Singapore, May 15, 2014</a:t>
            </a: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と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 smtClean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is-IS" altLang="ja-JP" smtClean="0"/>
              <a:t>FM 2014, Singapore, May 15, 2014</a:t>
            </a: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is-IS" altLang="ja-JP" smtClean="0"/>
              <a:t>FM 2014, Singapore, May 15, 2014</a:t>
            </a: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/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778625" y="496888"/>
            <a:ext cx="1908175" cy="5599112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1054100" y="496888"/>
            <a:ext cx="5572125" cy="5599112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is-IS" altLang="ja-JP" smtClean="0"/>
              <a:t>FM 2014, Singapore, May 15, 2014</a:t>
            </a: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62118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</a:t>
            </a:r>
            <a:r>
              <a:rPr lang="en-US" altLang="ja-JP"/>
              <a:t> </a:t>
            </a:r>
            <a:r>
              <a:rPr lang="ja-JP" altLang="en-US"/>
              <a:t>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6327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</a:t>
            </a:r>
            <a:r>
              <a:rPr lang="en-US" altLang="ja-JP"/>
              <a:t> </a:t>
            </a:r>
            <a:r>
              <a:rPr lang="ja-JP" altLang="en-US"/>
              <a:t>テキストの書式設定</a:t>
            </a:r>
            <a:endParaRPr lang="en-US" altLang="ja-JP"/>
          </a:p>
          <a:p>
            <a:pPr lvl="1"/>
            <a:r>
              <a:rPr lang="ja-JP" altLang="en-US"/>
              <a:t>第</a:t>
            </a:r>
            <a:r>
              <a:rPr lang="en-US" altLang="ja-JP"/>
              <a:t> 2 </a:t>
            </a:r>
            <a:r>
              <a:rPr lang="ja-JP" altLang="en-US"/>
              <a:t>レベル</a:t>
            </a:r>
            <a:endParaRPr lang="en-US" altLang="ja-JP"/>
          </a:p>
          <a:p>
            <a:pPr lvl="2"/>
            <a:r>
              <a:rPr lang="ja-JP" altLang="en-US"/>
              <a:t>第</a:t>
            </a:r>
            <a:r>
              <a:rPr lang="en-US" altLang="ja-JP"/>
              <a:t> 3 </a:t>
            </a:r>
            <a:r>
              <a:rPr lang="ja-JP" altLang="en-US"/>
              <a:t>レベル</a:t>
            </a:r>
            <a:endParaRPr lang="en-US" altLang="ja-JP"/>
          </a:p>
          <a:p>
            <a:pPr lvl="3"/>
            <a:r>
              <a:rPr lang="ja-JP" altLang="en-US"/>
              <a:t>第</a:t>
            </a:r>
            <a:r>
              <a:rPr lang="en-US" altLang="ja-JP"/>
              <a:t> 4 </a:t>
            </a:r>
            <a:r>
              <a:rPr lang="ja-JP" altLang="en-US"/>
              <a:t>レベル</a:t>
            </a:r>
            <a:endParaRPr lang="en-US" altLang="ja-JP"/>
          </a:p>
          <a:p>
            <a:pPr lvl="4"/>
            <a:r>
              <a:rPr lang="ja-JP" altLang="en-US"/>
              <a:t>第</a:t>
            </a:r>
            <a:r>
              <a:rPr lang="en-US" altLang="ja-JP"/>
              <a:t> 5 </a:t>
            </a:r>
            <a:r>
              <a:rPr lang="ja-JP" altLang="en-US"/>
              <a:t>レベル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55888" y="6248400"/>
            <a:ext cx="45831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3235E"/>
                </a:solidFill>
                <a:latin typeface="Chalkboard" pitchFamily="-108" charset="0"/>
                <a:ea typeface="ヒラギノ丸ゴ Pro W4" pitchFamily="-108" charset="-128"/>
                <a:cs typeface="ヒラギノ丸ゴ Pro W4" pitchFamily="-108" charset="-128"/>
              </a:defRPr>
            </a:lvl1pPr>
          </a:lstStyle>
          <a:p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172200"/>
            <a:ext cx="57626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3235E"/>
                </a:solidFill>
                <a:latin typeface="Chalkboard" pitchFamily="-108" charset="0"/>
                <a:ea typeface="ヒラギノ丸ゴ Pro W4" pitchFamily="-108" charset="-128"/>
                <a:cs typeface="ヒラギノ丸ゴ Pro W4" pitchFamily="-108" charset="-128"/>
              </a:defRPr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030" name="図 7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934200" y="457200"/>
            <a:ext cx="2032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" name="Group 3"/>
          <p:cNvGrpSpPr>
            <a:grpSpLocks/>
          </p:cNvGrpSpPr>
          <p:nvPr userDrawn="1"/>
        </p:nvGrpSpPr>
        <p:grpSpPr bwMode="auto">
          <a:xfrm>
            <a:off x="8077200" y="5918574"/>
            <a:ext cx="990600" cy="787026"/>
            <a:chOff x="2304" y="1920"/>
            <a:chExt cx="1728" cy="1200"/>
          </a:xfrm>
          <a:solidFill>
            <a:schemeClr val="bg2"/>
          </a:solidFill>
        </p:grpSpPr>
        <p:sp>
          <p:nvSpPr>
            <p:cNvPr id="9" name="AutoShape 4"/>
            <p:cNvSpPr>
              <a:spLocks noChangeArrowheads="1"/>
            </p:cNvSpPr>
            <p:nvPr/>
          </p:nvSpPr>
          <p:spPr bwMode="auto">
            <a:xfrm>
              <a:off x="2304" y="1920"/>
              <a:ext cx="672" cy="576"/>
            </a:xfrm>
            <a:prstGeom prst="flowChartExtra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" name="AutoShape 5"/>
            <p:cNvSpPr>
              <a:spLocks noChangeArrowheads="1"/>
            </p:cNvSpPr>
            <p:nvPr/>
          </p:nvSpPr>
          <p:spPr bwMode="auto">
            <a:xfrm>
              <a:off x="2640" y="1920"/>
              <a:ext cx="1392" cy="1200"/>
            </a:xfrm>
            <a:prstGeom prst="flowChartExtra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" name="AutoShape 6"/>
            <p:cNvSpPr>
              <a:spLocks noChangeArrowheads="1"/>
            </p:cNvSpPr>
            <p:nvPr/>
          </p:nvSpPr>
          <p:spPr bwMode="auto">
            <a:xfrm flipV="1">
              <a:off x="2976" y="2496"/>
              <a:ext cx="672" cy="624"/>
            </a:xfrm>
            <a:prstGeom prst="flowChartExtra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2592" y="2208"/>
              <a:ext cx="768" cy="0"/>
            </a:xfrm>
            <a:prstGeom prst="line">
              <a:avLst/>
            </a:prstGeom>
            <a:grp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 flipH="1">
              <a:off x="2928" y="2832"/>
              <a:ext cx="720" cy="0"/>
            </a:xfrm>
            <a:prstGeom prst="line">
              <a:avLst/>
            </a:prstGeom>
            <a:grp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25" r:id="rId1"/>
    <p:sldLayoutId id="2147485126" r:id="rId2"/>
    <p:sldLayoutId id="2147485127" r:id="rId3"/>
    <p:sldLayoutId id="2147485128" r:id="rId4"/>
    <p:sldLayoutId id="2147485129" r:id="rId5"/>
    <p:sldLayoutId id="2147485130" r:id="rId6"/>
    <p:sldLayoutId id="2147485131" r:id="rId7"/>
    <p:sldLayoutId id="2147485132" r:id="rId8"/>
    <p:sldLayoutId id="2147485133" r:id="rId9"/>
    <p:sldLayoutId id="2147485134" r:id="rId10"/>
    <p:sldLayoutId id="2147485135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5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haskell.org/platform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685800" y="2276872"/>
            <a:ext cx="8062664" cy="1470025"/>
          </a:xfrm>
        </p:spPr>
        <p:txBody>
          <a:bodyPr/>
          <a:lstStyle/>
          <a:p>
            <a:r>
              <a:rPr kumimoji="1" lang="en-US" altLang="ja-JP" dirty="0" smtClean="0"/>
              <a:t>Principle and Practice </a:t>
            </a:r>
            <a:r>
              <a:rPr lang="en-US" altLang="ja-JP" dirty="0" smtClean="0"/>
              <a:t>of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Putback</a:t>
            </a:r>
            <a:r>
              <a:rPr kumimoji="1" lang="en-US" altLang="ja-JP" dirty="0" smtClean="0"/>
              <a:t>-based Bidirectional Programming in </a:t>
            </a:r>
            <a:r>
              <a:rPr kumimoji="1" lang="en-US" altLang="ja-JP" dirty="0" err="1" smtClean="0"/>
              <a:t>BiGUL</a:t>
            </a:r>
            <a:endParaRPr kumimoji="1" lang="ja-JP" altLang="en-US" dirty="0"/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>
          <a:xfrm>
            <a:off x="1389514" y="3933056"/>
            <a:ext cx="6400800" cy="1752600"/>
          </a:xfrm>
        </p:spPr>
        <p:txBody>
          <a:bodyPr/>
          <a:lstStyle/>
          <a:p>
            <a:r>
              <a:rPr kumimoji="1" lang="en-US" altLang="ja-JP" dirty="0" smtClean="0"/>
              <a:t>Zhenjiang Hu, </a:t>
            </a:r>
            <a:r>
              <a:rPr lang="en-US" altLang="ja-JP" dirty="0"/>
              <a:t>Hsiang-Shang </a:t>
            </a:r>
            <a:r>
              <a:rPr lang="en-US" altLang="ja-JP" dirty="0" err="1"/>
              <a:t>Ko</a:t>
            </a:r>
            <a:r>
              <a:rPr kumimoji="1" lang="en-US" altLang="ja-JP" dirty="0" smtClean="0"/>
              <a:t> </a:t>
            </a:r>
          </a:p>
          <a:p>
            <a:r>
              <a:rPr lang="en-US" altLang="ja-JP" dirty="0" smtClean="0"/>
              <a:t>National Institute of Informatics, Japan</a:t>
            </a:r>
          </a:p>
          <a:p>
            <a:endParaRPr lang="en-US" altLang="ja-JP" dirty="0" smtClean="0"/>
          </a:p>
          <a:p>
            <a:r>
              <a:rPr lang="en-US" altLang="ja-JP" dirty="0" smtClean="0"/>
              <a:t>BX</a:t>
            </a:r>
            <a:r>
              <a:rPr lang="ja-JP" altLang="en-US" dirty="0" smtClean="0"/>
              <a:t> </a:t>
            </a:r>
            <a:r>
              <a:rPr lang="en-US" altLang="ja-JP" dirty="0" smtClean="0"/>
              <a:t>Summer</a:t>
            </a:r>
            <a:r>
              <a:rPr lang="ja-JP" altLang="en-US" dirty="0" smtClean="0"/>
              <a:t> </a:t>
            </a:r>
            <a:r>
              <a:rPr lang="en-US" altLang="ja-JP" dirty="0" smtClean="0"/>
              <a:t>School</a:t>
            </a:r>
            <a:r>
              <a:rPr lang="ja-JP" altLang="en-US" dirty="0" smtClean="0"/>
              <a:t>, </a:t>
            </a:r>
            <a:r>
              <a:rPr lang="en-US" altLang="ja-JP" dirty="0" smtClean="0"/>
              <a:t>Oxford</a:t>
            </a:r>
          </a:p>
          <a:p>
            <a:r>
              <a:rPr lang="en-US" altLang="ja-JP" dirty="0" smtClean="0"/>
              <a:t>July 25-29, 2016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</a:t>
            </a:fld>
            <a:endParaRPr lang="ja-JP" altLang="en-US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24493"/>
            <a:ext cx="1581944" cy="151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585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Overview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Lecture 1: Introduction to </a:t>
            </a:r>
            <a:r>
              <a:rPr kumimoji="1" lang="en-US" altLang="ja-JP" dirty="0" err="1" smtClean="0"/>
              <a:t>BiGUL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Why is </a:t>
            </a:r>
            <a:r>
              <a:rPr lang="en-US" altLang="ja-JP" dirty="0" err="1" smtClean="0"/>
              <a:t>putback</a:t>
            </a:r>
            <a:r>
              <a:rPr lang="en-US" altLang="ja-JP" dirty="0" smtClean="0"/>
              <a:t>-based BX?</a:t>
            </a:r>
          </a:p>
          <a:p>
            <a:pPr lvl="1"/>
            <a:r>
              <a:rPr kumimoji="1" lang="en-US" altLang="ja-JP" dirty="0" smtClean="0"/>
              <a:t>What is its foundation?</a:t>
            </a:r>
          </a:p>
          <a:p>
            <a:pPr lvl="1"/>
            <a:r>
              <a:rPr lang="en-US" altLang="ja-JP" dirty="0" smtClean="0"/>
              <a:t>How to program in </a:t>
            </a:r>
            <a:r>
              <a:rPr lang="en-US" altLang="ja-JP" dirty="0" err="1" smtClean="0"/>
              <a:t>BiGUL</a:t>
            </a:r>
            <a:r>
              <a:rPr lang="en-US" altLang="ja-JP" dirty="0" smtClean="0"/>
              <a:t>?</a:t>
            </a:r>
            <a:endParaRPr lang="en-US" altLang="ja-JP" dirty="0" smtClean="0"/>
          </a:p>
          <a:p>
            <a:r>
              <a:rPr kumimoji="1" lang="en-US" altLang="ja-JP" dirty="0" smtClean="0"/>
              <a:t>Lecture 2: Into </a:t>
            </a:r>
            <a:r>
              <a:rPr kumimoji="1" lang="en-US" altLang="ja-JP" dirty="0" err="1" smtClean="0"/>
              <a:t>BiGUL’s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Bidirectionality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How is </a:t>
            </a:r>
            <a:r>
              <a:rPr lang="en-US" altLang="ja-JP" dirty="0" err="1" smtClean="0"/>
              <a:t>BiGUL</a:t>
            </a:r>
            <a:r>
              <a:rPr lang="en-US" altLang="ja-JP" dirty="0" smtClean="0"/>
              <a:t> implemented?</a:t>
            </a:r>
          </a:p>
          <a:p>
            <a:r>
              <a:rPr kumimoji="1" lang="en-US" altLang="ja-JP" dirty="0" smtClean="0"/>
              <a:t>Lecture </a:t>
            </a:r>
            <a:r>
              <a:rPr kumimoji="1" lang="en-US" altLang="ja-JP" dirty="0" smtClean="0"/>
              <a:t>3: Three Applications using </a:t>
            </a:r>
            <a:r>
              <a:rPr kumimoji="1" lang="en-US" altLang="ja-JP" dirty="0" err="1" smtClean="0"/>
              <a:t>BiGUL</a:t>
            </a:r>
            <a:endParaRPr kumimoji="1" lang="en-US" altLang="ja-JP" dirty="0" smtClean="0"/>
          </a:p>
          <a:p>
            <a:pPr lvl="1"/>
            <a:r>
              <a:rPr kumimoji="1" lang="en-US" altLang="ja-JP" dirty="0" smtClean="0"/>
              <a:t>Matching/delta lenses in </a:t>
            </a:r>
            <a:r>
              <a:rPr kumimoji="1" lang="en-US" altLang="ja-JP" dirty="0" err="1" smtClean="0"/>
              <a:t>BiGUL</a:t>
            </a:r>
            <a:endParaRPr kumimoji="1" lang="en-US" altLang="ja-JP" dirty="0" smtClean="0"/>
          </a:p>
          <a:p>
            <a:pPr lvl="1"/>
            <a:r>
              <a:rPr lang="en-US" altLang="ja-JP" dirty="0" err="1" smtClean="0"/>
              <a:t>Bidirectionalize</a:t>
            </a:r>
            <a:r>
              <a:rPr lang="en-US" altLang="ja-JP" dirty="0" smtClean="0"/>
              <a:t> relational queries with </a:t>
            </a:r>
            <a:r>
              <a:rPr lang="en-US" altLang="ja-JP" dirty="0" err="1" smtClean="0"/>
              <a:t>BiGUL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Parsing and reflective printing (</a:t>
            </a:r>
            <a:r>
              <a:rPr lang="en-US" altLang="ja-JP" dirty="0" err="1" smtClean="0"/>
              <a:t>BiYacc</a:t>
            </a:r>
            <a:r>
              <a:rPr lang="en-US" altLang="ja-JP" dirty="0" smtClean="0"/>
              <a:t>)</a:t>
            </a:r>
          </a:p>
          <a:p>
            <a:pPr lvl="1"/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1033463" y="5517232"/>
            <a:ext cx="71722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400" b="1" dirty="0" smtClean="0"/>
              <a:t>https</a:t>
            </a:r>
            <a:r>
              <a:rPr lang="en-US" altLang="ja-JP" sz="2400" b="1" dirty="0"/>
              <a:t>://goo.gl/</a:t>
            </a:r>
            <a:r>
              <a:rPr lang="en-US" altLang="ja-JP" sz="2400" b="1" dirty="0" smtClean="0"/>
              <a:t>MdJeyk</a:t>
            </a:r>
            <a:r>
              <a:rPr lang="en-US" altLang="ja-JP" sz="2400" b="1" dirty="0" smtClean="0"/>
              <a:t>: lecture notes and codes</a:t>
            </a:r>
            <a:r>
              <a:rPr lang="en-US" altLang="ja-JP" sz="2400" b="1" dirty="0" smtClean="0"/>
              <a:t> </a:t>
            </a:r>
            <a:endParaRPr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590340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Bidirectional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Programming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(using</a:t>
            </a:r>
            <a:r>
              <a:rPr kumimoji="1" lang="ja-JP" alt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kumimoji="1" lang="en-US" altLang="ja-JP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Functions)</a:t>
            </a:r>
            <a:endParaRPr kumimoji="1" lang="ja-JP" alt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2234951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Bidirectional Transformation (BX)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</a:t>
            </a:fld>
            <a:endParaRPr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637" y="1856476"/>
            <a:ext cx="4226563" cy="1397000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466" y="3253477"/>
            <a:ext cx="1479734" cy="2551787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6636" y="3228076"/>
            <a:ext cx="2746829" cy="2577186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6635" y="1856476"/>
            <a:ext cx="4226564" cy="3948786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685800" y="1268760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[Nate Foster, et al: POPL 2005]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17047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57200" y="479425"/>
            <a:ext cx="6211888" cy="511175"/>
          </a:xfrm>
        </p:spPr>
        <p:txBody>
          <a:bodyPr>
            <a:noAutofit/>
          </a:bodyPr>
          <a:lstStyle/>
          <a:p>
            <a:r>
              <a:rPr lang="en-US" altLang="ja-JP" dirty="0" smtClean="0"/>
              <a:t>Roundtrip Properties</a:t>
            </a:r>
            <a:endParaRPr lang="ja-JP" altLang="en-US" dirty="0"/>
          </a:p>
        </p:txBody>
      </p:sp>
      <p:sp>
        <p:nvSpPr>
          <p:cNvPr id="13" name="スライド番号プレースホルダ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</a:t>
            </a:fld>
            <a:endParaRPr lang="ja-JP" altLang="en-US"/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36" y="1766214"/>
            <a:ext cx="4226564" cy="3948786"/>
          </a:xfrm>
          <a:prstGeom prst="rect">
            <a:avLst/>
          </a:prstGeom>
          <a:ln w="25400">
            <a:solidFill>
              <a:schemeClr val="accent5"/>
            </a:solidFill>
          </a:ln>
        </p:spPr>
      </p:pic>
      <p:sp>
        <p:nvSpPr>
          <p:cNvPr id="16" name="正方形/長方形 15"/>
          <p:cNvSpPr/>
          <p:nvPr/>
        </p:nvSpPr>
        <p:spPr>
          <a:xfrm>
            <a:off x="5251648" y="2367136"/>
            <a:ext cx="3352800" cy="2141984"/>
          </a:xfrm>
          <a:prstGeom prst="rect">
            <a:avLst/>
          </a:prstGeom>
          <a:noFill/>
          <a:ln w="38100" cmpd="sng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 smtClean="0">
                <a:solidFill>
                  <a:schemeClr val="tx1"/>
                </a:solidFill>
              </a:rPr>
              <a:t>Get-Put: 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p</a:t>
            </a:r>
            <a:r>
              <a:rPr lang="en-US" altLang="ja-JP" dirty="0" smtClean="0">
                <a:solidFill>
                  <a:schemeClr val="tx1"/>
                </a:solidFill>
              </a:rPr>
              <a:t>ut s (get s) = s</a:t>
            </a:r>
          </a:p>
          <a:p>
            <a:pPr algn="ctr"/>
            <a:endParaRPr lang="en-US" altLang="ja-JP" dirty="0" smtClean="0">
              <a:solidFill>
                <a:schemeClr val="tx1"/>
              </a:solidFill>
            </a:endParaRPr>
          </a:p>
          <a:p>
            <a:r>
              <a:rPr kumimoji="1" lang="en-US" altLang="ja-JP" dirty="0" smtClean="0">
                <a:solidFill>
                  <a:schemeClr val="tx1"/>
                </a:solidFill>
              </a:rPr>
              <a:t>Put-Get:</a:t>
            </a:r>
          </a:p>
          <a:p>
            <a:pPr algn="ctr"/>
            <a:r>
              <a:rPr lang="en-US" altLang="ja-JP" dirty="0" smtClean="0">
                <a:solidFill>
                  <a:schemeClr val="tx1"/>
                </a:solidFill>
              </a:rPr>
              <a:t>get (put s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en-US" altLang="ja-JP" dirty="0" smtClean="0">
                <a:solidFill>
                  <a:schemeClr val="tx1"/>
                </a:solidFill>
              </a:rPr>
              <a:t>t) = t</a:t>
            </a:r>
          </a:p>
        </p:txBody>
      </p:sp>
    </p:spTree>
    <p:extLst>
      <p:ext uri="{BB962C8B-B14F-4D97-AF65-F5344CB8AC3E}">
        <p14:creationId xmlns:p14="http://schemas.microsoft.com/office/powerpoint/2010/main" val="6291283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Challenges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One may </a:t>
            </a:r>
            <a:r>
              <a:rPr lang="en-US" altLang="ja-JP" dirty="0"/>
              <a:t>“solve” the problem just by sticking together </a:t>
            </a:r>
            <a:r>
              <a:rPr lang="en-US" altLang="ja-JP" dirty="0">
                <a:solidFill>
                  <a:schemeClr val="accent2"/>
                </a:solidFill>
              </a:rPr>
              <a:t>two arbitrary functions </a:t>
            </a:r>
            <a:r>
              <a:rPr lang="en-US" altLang="ja-JP" dirty="0" smtClean="0"/>
              <a:t>in </a:t>
            </a:r>
            <a:r>
              <a:rPr lang="en-US" altLang="ja-JP" dirty="0"/>
              <a:t>any programming language you like. </a:t>
            </a:r>
            <a:endParaRPr lang="en-US" altLang="ja-JP" dirty="0" smtClean="0"/>
          </a:p>
          <a:p>
            <a:endParaRPr lang="en-US" altLang="ja-JP" baseline="30000" dirty="0"/>
          </a:p>
          <a:p>
            <a:endParaRPr lang="en-US" altLang="ja-JP" dirty="0" smtClean="0"/>
          </a:p>
          <a:p>
            <a:r>
              <a:rPr lang="en-US" altLang="ja-JP" dirty="0" smtClean="0"/>
              <a:t>Tricky </a:t>
            </a:r>
            <a:r>
              <a:rPr lang="en-US" altLang="ja-JP" dirty="0"/>
              <a:t>to get right... and even trickier to </a:t>
            </a:r>
            <a:r>
              <a:rPr lang="en-US" altLang="ja-JP" dirty="0" smtClean="0"/>
              <a:t>maintain</a:t>
            </a:r>
          </a:p>
          <a:p>
            <a:endParaRPr lang="en-US" altLang="ja-JP" dirty="0"/>
          </a:p>
          <a:p>
            <a:endParaRPr lang="en-US" altLang="ja-JP" dirty="0" smtClean="0"/>
          </a:p>
          <a:p>
            <a:r>
              <a:rPr lang="en-US" altLang="ja-JP" dirty="0" smtClean="0"/>
              <a:t>Need </a:t>
            </a:r>
            <a:r>
              <a:rPr lang="en-US" altLang="ja-JP" dirty="0"/>
              <a:t>to find a way of </a:t>
            </a:r>
            <a:r>
              <a:rPr lang="en-US" altLang="ja-JP" dirty="0">
                <a:solidFill>
                  <a:schemeClr val="tx2"/>
                </a:solidFill>
              </a:rPr>
              <a:t>deriving both functions from </a:t>
            </a:r>
            <a:r>
              <a:rPr lang="en-US" altLang="ja-JP" dirty="0">
                <a:solidFill>
                  <a:srgbClr val="FF0000"/>
                </a:solidFill>
              </a:rPr>
              <a:t>a single description</a:t>
            </a:r>
            <a:r>
              <a:rPr lang="en-US" altLang="ja-JP" dirty="0"/>
              <a:t>. </a:t>
            </a:r>
          </a:p>
          <a:p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7" name="下矢印 6"/>
          <p:cNvSpPr/>
          <p:nvPr/>
        </p:nvSpPr>
        <p:spPr bwMode="auto">
          <a:xfrm>
            <a:off x="3923928" y="2643550"/>
            <a:ext cx="576064" cy="432048"/>
          </a:xfrm>
          <a:prstGeom prst="downArrow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8" name="下矢印 7"/>
          <p:cNvSpPr/>
          <p:nvPr/>
        </p:nvSpPr>
        <p:spPr bwMode="auto">
          <a:xfrm>
            <a:off x="3923928" y="3933056"/>
            <a:ext cx="576064" cy="432048"/>
          </a:xfrm>
          <a:prstGeom prst="downArrow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06971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15013" y="457200"/>
            <a:ext cx="6694512" cy="511175"/>
          </a:xfrm>
        </p:spPr>
        <p:txBody>
          <a:bodyPr/>
          <a:lstStyle/>
          <a:p>
            <a:r>
              <a:rPr lang="en-US" altLang="ja-JP" sz="2400" dirty="0" smtClean="0"/>
              <a:t>Get-based Approach</a:t>
            </a:r>
            <a:endParaRPr lang="ja-JP" altLang="en-US" sz="2400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9" name="コンテンツ プレースホルダ 2"/>
          <p:cNvSpPr>
            <a:spLocks noGrp="1"/>
          </p:cNvSpPr>
          <p:nvPr>
            <p:ph idx="1"/>
          </p:nvPr>
        </p:nvSpPr>
        <p:spPr>
          <a:xfrm>
            <a:off x="1343455" y="3414484"/>
            <a:ext cx="7044969" cy="1701552"/>
          </a:xfrm>
        </p:spPr>
        <p:txBody>
          <a:bodyPr/>
          <a:lstStyle/>
          <a:p>
            <a:pPr marL="0" indent="0">
              <a:buNone/>
            </a:pPr>
            <a:endParaRPr lang="en-US" altLang="ja-JP" dirty="0" smtClean="0"/>
          </a:p>
          <a:p>
            <a:r>
              <a:rPr lang="en-US" altLang="ja-JP" sz="2000" dirty="0" smtClean="0"/>
              <a:t>Domain Specific Bidirectional Languages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(lens1,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lens2,</a:t>
            </a:r>
            <a:r>
              <a:rPr lang="ja-JP" altLang="en-US" sz="2000" dirty="0" smtClean="0"/>
              <a:t> </a:t>
            </a:r>
            <a:r>
              <a:rPr lang="is-IS" altLang="ja-JP" sz="2000" dirty="0" smtClean="0"/>
              <a:t>…</a:t>
            </a:r>
            <a:r>
              <a:rPr lang="en-US" altLang="ja-JP" sz="2000" dirty="0" smtClean="0"/>
              <a:t>) </a:t>
            </a:r>
          </a:p>
          <a:p>
            <a:r>
              <a:rPr lang="en-US" altLang="ja-JP" sz="2000" dirty="0" smtClean="0"/>
              <a:t>Automatic </a:t>
            </a:r>
            <a:r>
              <a:rPr lang="en-US" altLang="ja-JP" sz="2000" dirty="0" err="1" smtClean="0"/>
              <a:t>Bidirectionization</a:t>
            </a:r>
            <a:r>
              <a:rPr lang="en-US" altLang="ja-JP" sz="2000" dirty="0" smtClean="0"/>
              <a:t> of ATL, XQuery, </a:t>
            </a:r>
            <a:r>
              <a:rPr lang="en-US" altLang="ja-JP" sz="2000" dirty="0" err="1" smtClean="0"/>
              <a:t>UnQL</a:t>
            </a:r>
            <a:r>
              <a:rPr lang="en-US" altLang="ja-JP" sz="2000" dirty="0" smtClean="0"/>
              <a:t> 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793642" y="1844824"/>
            <a:ext cx="4634602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“get” (forward transformation)</a:t>
            </a:r>
          </a:p>
          <a:p>
            <a:endParaRPr lang="en-US" altLang="ja-JP" sz="2400" dirty="0" smtClean="0"/>
          </a:p>
          <a:p>
            <a:endParaRPr lang="en-US" altLang="ja-JP" sz="2400" dirty="0"/>
          </a:p>
          <a:p>
            <a:r>
              <a:rPr lang="en-US" altLang="ja-JP" sz="2400" dirty="0" smtClean="0"/>
              <a:t>“put” (backward transformation</a:t>
            </a:r>
            <a:r>
              <a:rPr lang="en-US" altLang="ja-JP" dirty="0" smtClean="0"/>
              <a:t>)</a:t>
            </a:r>
            <a:r>
              <a:rPr kumimoji="1" lang="en-US" altLang="ja-JP" dirty="0" smtClean="0"/>
              <a:t> </a:t>
            </a:r>
            <a:endParaRPr kumimoji="1" lang="ja-JP" altLang="en-US" dirty="0"/>
          </a:p>
        </p:txBody>
      </p:sp>
      <p:sp>
        <p:nvSpPr>
          <p:cNvPr id="8" name="下矢印 7"/>
          <p:cNvSpPr/>
          <p:nvPr/>
        </p:nvSpPr>
        <p:spPr bwMode="auto">
          <a:xfrm>
            <a:off x="3737858" y="2365898"/>
            <a:ext cx="576064" cy="547639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56866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Ambiguity of “Put”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8</a:t>
            </a:fld>
            <a:endParaRPr lang="ja-JP" altLang="en-US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635" y="1210147"/>
            <a:ext cx="4226564" cy="394878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1475656" y="5302949"/>
            <a:ext cx="66967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/>
              <a:t>Since get is </a:t>
            </a:r>
            <a:r>
              <a:rPr lang="en-US" altLang="ja-JP" dirty="0" smtClean="0"/>
              <a:t>generally </a:t>
            </a:r>
            <a:r>
              <a:rPr lang="en-US" altLang="ja-JP" dirty="0">
                <a:solidFill>
                  <a:srgbClr val="FF0000"/>
                </a:solidFill>
              </a:rPr>
              <a:t>non-injective</a:t>
            </a:r>
            <a:r>
              <a:rPr lang="en-US" altLang="ja-JP" dirty="0"/>
              <a:t>, many suitable puts</a:t>
            </a:r>
          </a:p>
          <a:p>
            <a:r>
              <a:rPr lang="en-US" altLang="ja-JP" dirty="0"/>
              <a:t>correspond to one get, each being useful in </a:t>
            </a:r>
            <a:r>
              <a:rPr lang="en-US" altLang="ja-JP" dirty="0" smtClean="0"/>
              <a:t>different </a:t>
            </a:r>
            <a:r>
              <a:rPr lang="en-US" altLang="ja-JP" dirty="0"/>
              <a:t>context.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6912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9</a:t>
            </a:fld>
            <a:endParaRPr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210129"/>
            <a:ext cx="2654275" cy="4864319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3707904" y="1762938"/>
            <a:ext cx="418576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/>
              <a:t>getHeight</a:t>
            </a:r>
            <a:r>
              <a:rPr lang="en-US" altLang="ja-JP" dirty="0" smtClean="0"/>
              <a:t> (</a:t>
            </a:r>
            <a:r>
              <a:rPr lang="en-US" altLang="ja-JP" dirty="0" err="1" smtClean="0"/>
              <a:t>w,h</a:t>
            </a:r>
            <a:r>
              <a:rPr lang="en-US" altLang="ja-JP" dirty="0" smtClean="0"/>
              <a:t>) = h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r>
              <a:rPr lang="en-US" altLang="ja-JP" dirty="0" smtClean="0"/>
              <a:t>putHeight1 (</a:t>
            </a:r>
            <a:r>
              <a:rPr lang="en-US" altLang="ja-JP" dirty="0" err="1" smtClean="0"/>
              <a:t>w,h</a:t>
            </a:r>
            <a:r>
              <a:rPr lang="en-US" altLang="ja-JP" dirty="0" smtClean="0"/>
              <a:t>) h’ = (</a:t>
            </a:r>
            <a:r>
              <a:rPr lang="en-US" altLang="ja-JP" dirty="0" err="1" smtClean="0"/>
              <a:t>w,h</a:t>
            </a:r>
            <a:r>
              <a:rPr lang="en-US" altLang="ja-JP" dirty="0" smtClean="0"/>
              <a:t>’)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r>
              <a:rPr kumimoji="1" lang="en-US" altLang="ja-JP" dirty="0" smtClean="0"/>
              <a:t>PutHeight2 (</a:t>
            </a:r>
            <a:r>
              <a:rPr kumimoji="1" lang="en-US" altLang="ja-JP" dirty="0" err="1" smtClean="0"/>
              <a:t>w,h</a:t>
            </a:r>
            <a:r>
              <a:rPr kumimoji="1" lang="en-US" altLang="ja-JP" dirty="0" smtClean="0"/>
              <a:t>) h’ = (w*h’/h, h’)</a:t>
            </a:r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en-US" altLang="ja-JP" dirty="0" smtClean="0"/>
              <a:t>putHeight3 (</a:t>
            </a:r>
            <a:r>
              <a:rPr kumimoji="1" lang="en-US" altLang="ja-JP" dirty="0" err="1" smtClean="0"/>
              <a:t>w,h</a:t>
            </a:r>
            <a:r>
              <a:rPr kumimoji="1" lang="en-US" altLang="ja-JP" dirty="0" smtClean="0"/>
              <a:t>) h’ | h==h’ = (</a:t>
            </a:r>
            <a:r>
              <a:rPr kumimoji="1" lang="en-US" altLang="ja-JP" dirty="0" err="1" smtClean="0"/>
              <a:t>w,h</a:t>
            </a:r>
            <a:r>
              <a:rPr kumimoji="1" lang="en-US" altLang="ja-JP" dirty="0" smtClean="0"/>
              <a:t>)</a:t>
            </a:r>
          </a:p>
          <a:p>
            <a:r>
              <a:rPr lang="en-US" altLang="ja-JP" dirty="0"/>
              <a:t> </a:t>
            </a:r>
            <a:r>
              <a:rPr lang="en-US" altLang="ja-JP" dirty="0" smtClean="0"/>
              <a:t>                      | otherwise = (3,h’)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386284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dirty="0" smtClean="0"/>
              <a:t>O</a:t>
            </a:r>
            <a:r>
              <a:rPr lang="en-US" altLang="ja-JP" dirty="0" smtClean="0"/>
              <a:t>ne</a:t>
            </a:r>
            <a:r>
              <a:rPr lang="ja-JP" altLang="en-US" dirty="0" smtClean="0"/>
              <a:t> </a:t>
            </a:r>
            <a:r>
              <a:rPr lang="en-US" altLang="ja-JP" dirty="0" smtClean="0"/>
              <a:t>Solution</a:t>
            </a:r>
            <a:r>
              <a:rPr kumimoji="1" lang="en-US" altLang="ja-JP" dirty="0" smtClean="0"/>
              <a:t>: Enriching “get”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316495" y="2295302"/>
            <a:ext cx="4455066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 smtClean="0"/>
              <a:t>Get-based BX </a:t>
            </a:r>
            <a:r>
              <a:rPr lang="en-US" altLang="ja-JP" dirty="0" err="1" smtClean="0"/>
              <a:t>Combinator</a:t>
            </a:r>
            <a:r>
              <a:rPr lang="en-US" altLang="ja-JP" dirty="0"/>
              <a:t> </a:t>
            </a:r>
            <a:r>
              <a:rPr lang="en-US" altLang="ja-JP" dirty="0" smtClean="0"/>
              <a:t>Library Lenses </a:t>
            </a:r>
          </a:p>
          <a:p>
            <a:r>
              <a:rPr kumimoji="1" lang="en-US" altLang="ja-JP" dirty="0" smtClean="0"/>
              <a:t>(Foster et al.: POPL 2005)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346217" y="4150821"/>
            <a:ext cx="2595582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 smtClean="0"/>
              <a:t>Quotient Lenses </a:t>
            </a:r>
          </a:p>
          <a:p>
            <a:r>
              <a:rPr kumimoji="1" lang="en-US" altLang="ja-JP" dirty="0" smtClean="0"/>
              <a:t>(Foster et </a:t>
            </a:r>
            <a:r>
              <a:rPr lang="en-US" altLang="ja-JP" dirty="0" smtClean="0"/>
              <a:t>a</a:t>
            </a:r>
            <a:r>
              <a:rPr kumimoji="1" lang="en-US" altLang="ja-JP" dirty="0" smtClean="0"/>
              <a:t>l.: POPL’08)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179575" y="4143720"/>
            <a:ext cx="2518638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 smtClean="0"/>
              <a:t>Matching Lenses </a:t>
            </a:r>
          </a:p>
          <a:p>
            <a:r>
              <a:rPr kumimoji="1" lang="en-US" altLang="ja-JP" dirty="0" smtClean="0"/>
              <a:t>(Foster et al.: ICFP’10)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8067584" y="3163013"/>
            <a:ext cx="358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…</a:t>
            </a:r>
            <a:endParaRPr kumimoji="1" lang="ja-JP" altLang="en-US" dirty="0"/>
          </a:p>
        </p:txBody>
      </p:sp>
      <p:sp>
        <p:nvSpPr>
          <p:cNvPr id="10" name="下矢印 9"/>
          <p:cNvSpPr/>
          <p:nvPr/>
        </p:nvSpPr>
        <p:spPr bwMode="auto">
          <a:xfrm rot="1837972" flipH="1">
            <a:off x="2295849" y="3144356"/>
            <a:ext cx="576064" cy="720080"/>
          </a:xfrm>
          <a:prstGeom prst="downArrow">
            <a:avLst/>
          </a:prstGeom>
          <a:solidFill>
            <a:srgbClr val="333399"/>
          </a:solidFill>
          <a:ln>
            <a:solidFill>
              <a:srgbClr val="3333CC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1" name="下矢印 10"/>
          <p:cNvSpPr/>
          <p:nvPr/>
        </p:nvSpPr>
        <p:spPr bwMode="auto">
          <a:xfrm flipH="1">
            <a:off x="4644008" y="3164821"/>
            <a:ext cx="576064" cy="720080"/>
          </a:xfrm>
          <a:prstGeom prst="downArrow">
            <a:avLst/>
          </a:prstGeom>
          <a:solidFill>
            <a:srgbClr val="333399"/>
          </a:solidFill>
          <a:ln>
            <a:solidFill>
              <a:srgbClr val="3333CC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2" name="下矢印 11"/>
          <p:cNvSpPr/>
          <p:nvPr/>
        </p:nvSpPr>
        <p:spPr bwMode="auto">
          <a:xfrm rot="19253005" flipH="1">
            <a:off x="6700239" y="3087390"/>
            <a:ext cx="576064" cy="720080"/>
          </a:xfrm>
          <a:prstGeom prst="downArrow">
            <a:avLst>
              <a:gd name="adj1" fmla="val 50000"/>
              <a:gd name="adj2" fmla="val 41093"/>
            </a:avLst>
          </a:prstGeom>
          <a:solidFill>
            <a:srgbClr val="333399"/>
          </a:solidFill>
          <a:ln>
            <a:solidFill>
              <a:srgbClr val="3333CC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774797" y="1412776"/>
            <a:ext cx="55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Enrich “get” with more and more control over “put”</a:t>
            </a:r>
            <a:endParaRPr kumimoji="1" lang="ja-JP" altLang="en-US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549098" y="5301208"/>
            <a:ext cx="5070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rgbClr val="FF6600"/>
                </a:solidFill>
                <a:sym typeface="Wingdings"/>
              </a:rPr>
              <a:t> We will have too many versions of “get” …</a:t>
            </a:r>
            <a:endParaRPr kumimoji="1" lang="ja-JP" altLang="en-US" dirty="0">
              <a:solidFill>
                <a:srgbClr val="FF6600"/>
              </a:solidFill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77473" y="4143720"/>
            <a:ext cx="2994648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 smtClean="0"/>
              <a:t>Relational </a:t>
            </a:r>
            <a:r>
              <a:rPr lang="en-US" altLang="ja-JP" dirty="0" smtClean="0"/>
              <a:t>Lenses </a:t>
            </a:r>
          </a:p>
          <a:p>
            <a:r>
              <a:rPr kumimoji="1" lang="en-US" altLang="ja-JP" dirty="0" smtClean="0"/>
              <a:t>(</a:t>
            </a:r>
            <a:r>
              <a:rPr lang="en-US" altLang="ja-JP" dirty="0"/>
              <a:t>Bohannon</a:t>
            </a:r>
            <a:r>
              <a:rPr kumimoji="1" lang="en-US" altLang="ja-JP" dirty="0" smtClean="0"/>
              <a:t> et al.: </a:t>
            </a:r>
            <a:r>
              <a:rPr lang="en-US" altLang="ja-JP" dirty="0" smtClean="0"/>
              <a:t>PO</a:t>
            </a:r>
            <a:r>
              <a:rPr lang="en-US" altLang="ja-JP" dirty="0" smtClean="0"/>
              <a:t>DS</a:t>
            </a:r>
            <a:r>
              <a:rPr lang="en-US" altLang="ja-JP" dirty="0" smtClean="0"/>
              <a:t>’</a:t>
            </a:r>
            <a:r>
              <a:rPr lang="en-US" altLang="ja-JP" dirty="0" smtClean="0"/>
              <a:t>06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380271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Foundation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of</a:t>
            </a:r>
            <a:r>
              <a:rPr kumimoji="1" lang="ja-JP" altLang="en-US" dirty="0" smtClean="0"/>
              <a:t> </a:t>
            </a:r>
            <a:r>
              <a:rPr kumimoji="1" lang="en-US" altLang="ja-JP" dirty="0" err="1" smtClean="0"/>
              <a:t>Putback</a:t>
            </a:r>
            <a:r>
              <a:rPr kumimoji="1" lang="en-US" altLang="ja-JP" dirty="0" smtClean="0"/>
              <a:t>-based</a:t>
            </a:r>
            <a:r>
              <a:rPr kumimoji="1" lang="ja-JP" altLang="en-US" dirty="0" smtClean="0"/>
              <a:t> </a:t>
            </a:r>
            <a:r>
              <a:rPr lang="en-US" altLang="ja-JP" dirty="0" smtClean="0"/>
              <a:t>Bidirectional</a:t>
            </a:r>
            <a:r>
              <a:rPr lang="ja-JP" altLang="en-US" dirty="0" smtClean="0"/>
              <a:t> </a:t>
            </a:r>
            <a:r>
              <a:rPr lang="en-US" altLang="ja-JP" dirty="0" smtClean="0"/>
              <a:t>Programming</a:t>
            </a:r>
            <a:r>
              <a:rPr lang="ja-JP" altLang="en-US" dirty="0" smtClean="0"/>
              <a:t> </a:t>
            </a:r>
            <a:endParaRPr kumimoji="1" lang="ja-JP" altLang="en-US" dirty="0"/>
          </a:p>
        </p:txBody>
      </p:sp>
      <p:sp>
        <p:nvSpPr>
          <p:cNvPr id="7" name="サブタイトル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38276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 smtClean="0"/>
              <a:t>Putback</a:t>
            </a:r>
            <a:r>
              <a:rPr lang="en-US" altLang="ja-JP" dirty="0" smtClean="0"/>
              <a:t> is the essence of BX!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148680"/>
            <a:ext cx="7632700" cy="4800600"/>
          </a:xfrm>
        </p:spPr>
        <p:txBody>
          <a:bodyPr/>
          <a:lstStyle/>
          <a:p>
            <a:r>
              <a:rPr lang="en-US" altLang="ja-JP" dirty="0" smtClean="0"/>
              <a:t>An </a:t>
            </a:r>
            <a:r>
              <a:rPr lang="en-US" altLang="ja-JP" dirty="0"/>
              <a:t>i</a:t>
            </a:r>
            <a:r>
              <a:rPr lang="en-US" altLang="ja-JP" dirty="0" smtClean="0"/>
              <a:t>mportant but little-known </a:t>
            </a:r>
            <a:r>
              <a:rPr lang="en-US" altLang="ja-JP" dirty="0"/>
              <a:t>f</a:t>
            </a:r>
            <a:r>
              <a:rPr lang="en-US" altLang="ja-JP" dirty="0" smtClean="0"/>
              <a:t>act: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12</a:t>
            </a:fld>
            <a:endParaRPr lang="ja-JP" altLang="en-US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772816"/>
            <a:ext cx="3528391" cy="3296498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2034083" y="5229200"/>
            <a:ext cx="4834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800" dirty="0">
                <a:solidFill>
                  <a:srgbClr val="FF0000"/>
                </a:solidFill>
              </a:rPr>
              <a:t>p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ut</a:t>
            </a:r>
            <a:r>
              <a:rPr kumimoji="1" lang="en-US" altLang="ja-JP" sz="2800" dirty="0" smtClean="0"/>
              <a:t> uniquely determines 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get</a:t>
            </a:r>
            <a:endParaRPr kumimoji="1" lang="en-US" altLang="ja-JP" sz="2800" dirty="0" smtClean="0"/>
          </a:p>
        </p:txBody>
      </p:sp>
    </p:spTree>
    <p:extLst>
      <p:ext uri="{BB962C8B-B14F-4D97-AF65-F5344CB8AC3E}">
        <p14:creationId xmlns:p14="http://schemas.microsoft.com/office/powerpoint/2010/main" val="32789380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Derived “get”</a:t>
            </a:r>
            <a:r>
              <a:rPr kumimoji="1" lang="en-US" altLang="ja-JP" dirty="0" smtClean="0"/>
              <a:t>: Uniqueness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95400"/>
            <a:ext cx="7846640" cy="981472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</a:t>
            </a:r>
            <a:r>
              <a:rPr lang="en-US" altLang="ja-JP" dirty="0"/>
              <a:t>Given a put function, there exists at most one get function </a:t>
            </a:r>
            <a:r>
              <a:rPr lang="en-US" altLang="ja-JP" dirty="0" smtClean="0"/>
              <a:t>such that </a:t>
            </a:r>
            <a:r>
              <a:rPr lang="en-US" altLang="ja-JP" dirty="0" err="1"/>
              <a:t>GetPut</a:t>
            </a:r>
            <a:r>
              <a:rPr lang="en-US" altLang="ja-JP" dirty="0"/>
              <a:t> and </a:t>
            </a:r>
            <a:r>
              <a:rPr lang="en-US" altLang="ja-JP" dirty="0" err="1"/>
              <a:t>PutGet</a:t>
            </a:r>
            <a:r>
              <a:rPr lang="en-US" altLang="ja-JP" dirty="0"/>
              <a:t> hold.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13</a:t>
            </a:fld>
            <a:endParaRPr lang="ja-JP" altLang="en-US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 bwMode="auto">
          <a:xfrm>
            <a:off x="838200" y="2708920"/>
            <a:ext cx="7846640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Proof</a:t>
            </a:r>
            <a:r>
              <a:rPr lang="en-US" altLang="ja-JP" dirty="0" smtClean="0"/>
              <a:t>:</a:t>
            </a:r>
          </a:p>
          <a:p>
            <a:pPr marL="0" indent="0">
              <a:buNone/>
            </a:pPr>
            <a:r>
              <a:rPr lang="en-US" altLang="ja-JP" dirty="0" smtClean="0"/>
              <a:t>Suppose </a:t>
            </a:r>
            <a:r>
              <a:rPr lang="en-US" altLang="ja-JP" dirty="0"/>
              <a:t>we have two get functions, say get and get</a:t>
            </a:r>
            <a:r>
              <a:rPr lang="en-US" altLang="ja-JP" dirty="0" smtClean="0"/>
              <a:t>′</a:t>
            </a:r>
            <a:r>
              <a:rPr lang="en-US" altLang="ja-JP" dirty="0"/>
              <a:t>.</a:t>
            </a:r>
            <a:endParaRPr lang="en-US" altLang="ja-JP" dirty="0" smtClean="0"/>
          </a:p>
          <a:p>
            <a:pPr marL="0" indent="0">
              <a:buNone/>
            </a:pPr>
            <a:r>
              <a:rPr lang="cs-CZ" altLang="ja-JP" dirty="0" smtClean="0"/>
              <a:t>    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s</a:t>
            </a:r>
          </a:p>
          <a:p>
            <a:pPr marL="0" indent="0">
              <a:buNone/>
            </a:pPr>
            <a:r>
              <a:rPr lang="de-DE" altLang="ja-JP" dirty="0" smtClean="0"/>
              <a:t>=</a:t>
            </a:r>
            <a:r>
              <a:rPr lang="de-DE" altLang="ja-JP" dirty="0"/>
              <a:t>&gt;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GetPut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 </a:t>
            </a:r>
            <a:r>
              <a:rPr lang="de-DE" altLang="ja-JP" dirty="0" err="1" smtClean="0"/>
              <a:t>get</a:t>
            </a:r>
            <a:r>
              <a:rPr lang="de-DE" altLang="ja-JP" dirty="0" smtClean="0"/>
              <a:t> </a:t>
            </a:r>
            <a:r>
              <a:rPr lang="de-DE" altLang="ja-JP" dirty="0"/>
              <a:t>(</a:t>
            </a:r>
            <a:r>
              <a:rPr lang="de-DE" altLang="ja-JP" dirty="0" err="1" smtClean="0"/>
              <a:t>put</a:t>
            </a:r>
            <a:r>
              <a:rPr lang="de-DE" altLang="ja-JP" dirty="0" smtClean="0"/>
              <a:t> s (</a:t>
            </a:r>
            <a:r>
              <a:rPr lang="de-DE" altLang="ja-JP" dirty="0" err="1" smtClean="0"/>
              <a:t>get</a:t>
            </a:r>
            <a:r>
              <a:rPr lang="en-US" altLang="ja-JP" dirty="0"/>
              <a:t>′</a:t>
            </a:r>
            <a:r>
              <a:rPr lang="de-DE" altLang="ja-JP" dirty="0" smtClean="0"/>
              <a:t> s))</a:t>
            </a:r>
          </a:p>
          <a:p>
            <a:pPr marL="0" indent="0">
              <a:buNone/>
            </a:pPr>
            <a:r>
              <a:rPr lang="de-DE" altLang="ja-JP" dirty="0" smtClean="0"/>
              <a:t>==   </a:t>
            </a:r>
            <a:r>
              <a:rPr lang="de-DE" altLang="ja-JP" sz="1800" dirty="0" smtClean="0"/>
              <a:t>{</a:t>
            </a:r>
            <a:r>
              <a:rPr lang="de-DE" altLang="ja-JP" sz="1800" dirty="0"/>
              <a:t> </a:t>
            </a:r>
            <a:r>
              <a:rPr lang="de-DE" altLang="ja-JP" sz="1800" dirty="0" err="1" smtClean="0"/>
              <a:t>PutGet</a:t>
            </a:r>
            <a:r>
              <a:rPr lang="de-DE" altLang="ja-JP" sz="1800" dirty="0" smtClean="0"/>
              <a:t> }</a:t>
            </a:r>
            <a:endParaRPr lang="de-DE" altLang="ja-JP" sz="1800" dirty="0"/>
          </a:p>
          <a:p>
            <a:pPr marL="0" indent="0">
              <a:buNone/>
            </a:pPr>
            <a:r>
              <a:rPr lang="de-DE" altLang="ja-JP" dirty="0" smtClean="0"/>
              <a:t>    </a:t>
            </a:r>
            <a:r>
              <a:rPr lang="de-DE" altLang="ja-JP" dirty="0" err="1" smtClean="0"/>
              <a:t>get</a:t>
            </a:r>
            <a:r>
              <a:rPr lang="en-US" altLang="ja-JP" dirty="0" smtClean="0"/>
              <a:t>′ s</a:t>
            </a:r>
            <a:endParaRPr lang="en-US" altLang="ja-JP" dirty="0"/>
          </a:p>
          <a:p>
            <a:pPr marL="0" indent="0">
              <a:buFontTx/>
              <a:buNone/>
            </a:pPr>
            <a:endParaRPr lang="ja-JP" altLang="en-US" dirty="0"/>
          </a:p>
        </p:txBody>
      </p:sp>
      <p:sp>
        <p:nvSpPr>
          <p:cNvPr id="7" name="正方形/長方形 6"/>
          <p:cNvSpPr/>
          <p:nvPr/>
        </p:nvSpPr>
        <p:spPr bwMode="auto">
          <a:xfrm>
            <a:off x="685800" y="4149080"/>
            <a:ext cx="6440488" cy="115212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4422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Derived “get”</a:t>
            </a:r>
            <a:r>
              <a:rPr kumimoji="1" lang="en-US" altLang="ja-JP" dirty="0" smtClean="0"/>
              <a:t>: Uniqueness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95400"/>
            <a:ext cx="7846640" cy="981472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</a:t>
            </a:r>
            <a:r>
              <a:rPr lang="en-US" altLang="ja-JP" dirty="0"/>
              <a:t>Given a put function, there exists at most one get function </a:t>
            </a:r>
            <a:r>
              <a:rPr lang="en-US" altLang="ja-JP" dirty="0" smtClean="0"/>
              <a:t>such that </a:t>
            </a:r>
            <a:r>
              <a:rPr lang="en-US" altLang="ja-JP" dirty="0" err="1"/>
              <a:t>GetPut</a:t>
            </a:r>
            <a:r>
              <a:rPr lang="en-US" altLang="ja-JP" dirty="0"/>
              <a:t> and </a:t>
            </a:r>
            <a:r>
              <a:rPr lang="en-US" altLang="ja-JP" dirty="0" err="1"/>
              <a:t>PutGet</a:t>
            </a:r>
            <a:r>
              <a:rPr lang="en-US" altLang="ja-JP" dirty="0"/>
              <a:t> hold.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 bwMode="auto">
          <a:xfrm>
            <a:off x="838200" y="2708920"/>
            <a:ext cx="7846640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Proof</a:t>
            </a:r>
            <a:r>
              <a:rPr lang="en-US" altLang="ja-JP" dirty="0" smtClean="0"/>
              <a:t>:</a:t>
            </a:r>
          </a:p>
          <a:p>
            <a:pPr marL="0" indent="0">
              <a:buNone/>
            </a:pPr>
            <a:r>
              <a:rPr lang="en-US" altLang="ja-JP" dirty="0" smtClean="0"/>
              <a:t>Suppose </a:t>
            </a:r>
            <a:r>
              <a:rPr lang="en-US" altLang="ja-JP" dirty="0"/>
              <a:t>we have two get functions, say get and get</a:t>
            </a:r>
            <a:r>
              <a:rPr lang="en-US" altLang="ja-JP" dirty="0" smtClean="0"/>
              <a:t>′</a:t>
            </a:r>
            <a:r>
              <a:rPr lang="en-US" altLang="ja-JP" dirty="0"/>
              <a:t>.</a:t>
            </a:r>
            <a:endParaRPr lang="en-US" altLang="ja-JP" dirty="0" smtClean="0"/>
          </a:p>
          <a:p>
            <a:pPr marL="0" indent="0">
              <a:buNone/>
            </a:pPr>
            <a:r>
              <a:rPr lang="cs-CZ" altLang="ja-JP" dirty="0" smtClean="0"/>
              <a:t>    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s</a:t>
            </a:r>
          </a:p>
          <a:p>
            <a:pPr marL="0" indent="0">
              <a:buNone/>
            </a:pPr>
            <a:r>
              <a:rPr lang="de-DE" altLang="ja-JP" dirty="0" smtClean="0"/>
              <a:t>=</a:t>
            </a:r>
            <a:r>
              <a:rPr lang="de-DE" altLang="ja-JP" dirty="0"/>
              <a:t>&gt;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GetPut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 </a:t>
            </a:r>
            <a:r>
              <a:rPr lang="de-DE" altLang="ja-JP" dirty="0" err="1" smtClean="0"/>
              <a:t>get</a:t>
            </a:r>
            <a:r>
              <a:rPr lang="de-DE" altLang="ja-JP" dirty="0" smtClean="0"/>
              <a:t> </a:t>
            </a:r>
            <a:r>
              <a:rPr lang="de-DE" altLang="ja-JP" dirty="0"/>
              <a:t>(</a:t>
            </a:r>
            <a:r>
              <a:rPr lang="de-DE" altLang="ja-JP" dirty="0" err="1" smtClean="0"/>
              <a:t>put</a:t>
            </a:r>
            <a:r>
              <a:rPr lang="de-DE" altLang="ja-JP" dirty="0" smtClean="0"/>
              <a:t> s (</a:t>
            </a:r>
            <a:r>
              <a:rPr lang="de-DE" altLang="ja-JP" dirty="0" err="1" smtClean="0"/>
              <a:t>get</a:t>
            </a:r>
            <a:r>
              <a:rPr lang="en-US" altLang="ja-JP" dirty="0"/>
              <a:t>′</a:t>
            </a:r>
            <a:r>
              <a:rPr lang="de-DE" altLang="ja-JP" dirty="0" smtClean="0"/>
              <a:t> s))</a:t>
            </a:r>
          </a:p>
          <a:p>
            <a:pPr marL="0" indent="0">
              <a:buNone/>
            </a:pPr>
            <a:r>
              <a:rPr lang="de-DE" altLang="ja-JP" dirty="0" smtClean="0"/>
              <a:t>==   </a:t>
            </a:r>
            <a:r>
              <a:rPr lang="de-DE" altLang="ja-JP" sz="1800" dirty="0" smtClean="0"/>
              <a:t>{</a:t>
            </a:r>
            <a:r>
              <a:rPr lang="de-DE" altLang="ja-JP" sz="1800" dirty="0"/>
              <a:t> </a:t>
            </a:r>
            <a:r>
              <a:rPr lang="de-DE" altLang="ja-JP" sz="1800" dirty="0" err="1" smtClean="0"/>
              <a:t>PutGet</a:t>
            </a:r>
            <a:r>
              <a:rPr lang="de-DE" altLang="ja-JP" sz="1800" dirty="0" smtClean="0"/>
              <a:t> }</a:t>
            </a:r>
            <a:endParaRPr lang="de-DE" altLang="ja-JP" sz="1800" dirty="0"/>
          </a:p>
          <a:p>
            <a:pPr marL="0" indent="0">
              <a:buNone/>
            </a:pPr>
            <a:r>
              <a:rPr lang="de-DE" altLang="ja-JP" dirty="0" smtClean="0"/>
              <a:t>    </a:t>
            </a:r>
            <a:r>
              <a:rPr lang="de-DE" altLang="ja-JP" dirty="0" err="1" smtClean="0"/>
              <a:t>get</a:t>
            </a:r>
            <a:r>
              <a:rPr lang="en-US" altLang="ja-JP" dirty="0" smtClean="0"/>
              <a:t>′ s</a:t>
            </a:r>
            <a:endParaRPr lang="en-US" altLang="ja-JP" dirty="0"/>
          </a:p>
          <a:p>
            <a:pPr marL="0" indent="0">
              <a:buFontTx/>
              <a:buNone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36690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Derived “get”</a:t>
            </a:r>
            <a:r>
              <a:rPr kumimoji="1" lang="en-US" altLang="ja-JP" dirty="0" smtClean="0"/>
              <a:t>: </a:t>
            </a:r>
            <a:r>
              <a:rPr lang="en-US" altLang="ja-JP" dirty="0" smtClean="0"/>
              <a:t>Existence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95400"/>
            <a:ext cx="7882640" cy="2637656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</a:t>
            </a:r>
            <a:r>
              <a:rPr lang="en-US" altLang="ja-JP" dirty="0"/>
              <a:t>Given a </a:t>
            </a:r>
            <a:r>
              <a:rPr lang="en-US" altLang="ja-JP" dirty="0" err="1" smtClean="0"/>
              <a:t>surjective</a:t>
            </a:r>
            <a:r>
              <a:rPr lang="en-US" altLang="ja-JP" dirty="0" smtClean="0"/>
              <a:t> </a:t>
            </a:r>
            <a:r>
              <a:rPr lang="en-US" altLang="ja-JP" dirty="0"/>
              <a:t>put function </a:t>
            </a:r>
            <a:r>
              <a:rPr lang="en-US" altLang="ja-JP" sz="2000" dirty="0" smtClean="0"/>
              <a:t>(for </a:t>
            </a:r>
            <a:r>
              <a:rPr lang="en-US" altLang="ja-JP" sz="2000" dirty="0"/>
              <a:t>any s, there exist s’, v, such that s = put </a:t>
            </a:r>
            <a:r>
              <a:rPr lang="en-US" altLang="ja-JP" sz="2000" dirty="0" smtClean="0"/>
              <a:t>s’ v)</a:t>
            </a:r>
            <a:r>
              <a:rPr lang="en-US" altLang="ja-JP" dirty="0" smtClean="0"/>
              <a:t>, the</a:t>
            </a:r>
            <a:r>
              <a:rPr lang="ja-JP" altLang="en-US" dirty="0" smtClean="0"/>
              <a:t> </a:t>
            </a:r>
            <a:r>
              <a:rPr lang="en-US" altLang="ja-JP" dirty="0" smtClean="0"/>
              <a:t>get </a:t>
            </a:r>
            <a:r>
              <a:rPr lang="en-US" altLang="ja-JP" dirty="0"/>
              <a:t>function </a:t>
            </a:r>
            <a:r>
              <a:rPr lang="en-US" altLang="ja-JP" dirty="0" smtClean="0"/>
              <a:t>defined</a:t>
            </a:r>
            <a:r>
              <a:rPr lang="ja-JP" altLang="en-US" dirty="0" smtClean="0"/>
              <a:t> </a:t>
            </a:r>
            <a:r>
              <a:rPr lang="en-US" altLang="ja-JP" dirty="0" smtClean="0"/>
              <a:t>by</a:t>
            </a:r>
          </a:p>
          <a:p>
            <a:pPr marL="0" indent="0">
              <a:buNone/>
            </a:pPr>
            <a:r>
              <a:rPr lang="ja-JP" altLang="en-US" dirty="0" smtClean="0"/>
              <a:t>        </a:t>
            </a:r>
            <a:r>
              <a:rPr lang="en-US" altLang="ja-JP" dirty="0" smtClean="0"/>
              <a:t>get </a:t>
            </a:r>
            <a:r>
              <a:rPr lang="en-US" altLang="ja-JP" dirty="0"/>
              <a:t>s = v </a:t>
            </a:r>
            <a:r>
              <a:rPr lang="en-US" altLang="ja-JP" dirty="0">
                <a:solidFill>
                  <a:schemeClr val="accent2"/>
                </a:solidFill>
              </a:rPr>
              <a:t>such that </a:t>
            </a:r>
            <a:r>
              <a:rPr lang="en-US" altLang="ja-JP" dirty="0"/>
              <a:t>put </a:t>
            </a:r>
            <a:r>
              <a:rPr lang="en-US" altLang="ja-JP" dirty="0" smtClean="0"/>
              <a:t>s </a:t>
            </a:r>
            <a:r>
              <a:rPr lang="en-US" altLang="ja-JP" dirty="0"/>
              <a:t>v = </a:t>
            </a:r>
            <a:r>
              <a:rPr lang="en-US" altLang="ja-JP" dirty="0" smtClean="0"/>
              <a:t>s</a:t>
            </a:r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satisfies </a:t>
            </a:r>
            <a:r>
              <a:rPr lang="en-US" altLang="ja-JP" dirty="0" err="1" smtClean="0"/>
              <a:t>GetPut</a:t>
            </a:r>
            <a:r>
              <a:rPr lang="en-US" altLang="ja-JP" dirty="0" smtClean="0"/>
              <a:t> and </a:t>
            </a:r>
            <a:r>
              <a:rPr lang="en-US" altLang="ja-JP" dirty="0" err="1" smtClean="0"/>
              <a:t>PutGet</a:t>
            </a:r>
            <a:r>
              <a:rPr lang="en-US" altLang="ja-JP" dirty="0" smtClean="0"/>
              <a:t>. </a:t>
            </a:r>
            <a:endParaRPr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15</a:t>
            </a:fld>
            <a:endParaRPr lang="ja-JP" altLang="en-US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 bwMode="auto">
          <a:xfrm>
            <a:off x="1033463" y="3933056"/>
            <a:ext cx="3166236" cy="2704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Proof</a:t>
            </a:r>
            <a:r>
              <a:rPr lang="en-US" altLang="ja-JP" dirty="0" smtClean="0"/>
              <a:t>:</a:t>
            </a:r>
            <a:endParaRPr lang="cs-CZ" altLang="ja-JP" dirty="0" smtClean="0"/>
          </a:p>
          <a:p>
            <a:pPr marL="0" indent="0">
              <a:buNone/>
            </a:pPr>
            <a:r>
              <a:rPr lang="cs-CZ" altLang="ja-JP" dirty="0" smtClean="0"/>
              <a:t>   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(</a:t>
            </a:r>
            <a:r>
              <a:rPr lang="cs-CZ" altLang="ja-JP" dirty="0" err="1" smtClean="0"/>
              <a:t>put</a:t>
            </a:r>
            <a:r>
              <a:rPr lang="cs-CZ" altLang="ja-JP" dirty="0" smtClean="0"/>
              <a:t> s v) 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condition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for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put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</a:t>
            </a:r>
            <a:r>
              <a:rPr lang="de-DE" altLang="ja-JP" dirty="0" err="1" smtClean="0"/>
              <a:t>get</a:t>
            </a:r>
            <a:r>
              <a:rPr lang="de-DE" altLang="ja-JP" dirty="0" smtClean="0"/>
              <a:t> s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en-US" altLang="ja-JP" sz="1800" dirty="0"/>
              <a:t>definition</a:t>
            </a:r>
            <a:r>
              <a:rPr lang="ja-JP" altLang="en-US" sz="1800" dirty="0"/>
              <a:t> </a:t>
            </a:r>
            <a:r>
              <a:rPr lang="en-US" altLang="ja-JP" sz="1800" dirty="0"/>
              <a:t>of get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/>
              <a:t>   v</a:t>
            </a:r>
          </a:p>
          <a:p>
            <a:pPr marL="0" indent="0">
              <a:buNone/>
            </a:pPr>
            <a:endParaRPr lang="de-DE" altLang="ja-JP" dirty="0" smtClean="0"/>
          </a:p>
          <a:p>
            <a:pPr marL="0" indent="0">
              <a:buFontTx/>
              <a:buNone/>
            </a:pPr>
            <a:endParaRPr lang="ja-JP" altLang="en-US" dirty="0"/>
          </a:p>
        </p:txBody>
      </p:sp>
      <p:sp>
        <p:nvSpPr>
          <p:cNvPr id="9" name="コンテンツ プレースホルダー 2"/>
          <p:cNvSpPr txBox="1">
            <a:spLocks/>
          </p:cNvSpPr>
          <p:nvPr/>
        </p:nvSpPr>
        <p:spPr bwMode="auto">
          <a:xfrm>
            <a:off x="4788024" y="3717032"/>
            <a:ext cx="3096344" cy="2931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endParaRPr lang="cs-CZ" altLang="ja-JP" dirty="0" smtClean="0"/>
          </a:p>
          <a:p>
            <a:pPr marL="0" indent="0">
              <a:buNone/>
            </a:pPr>
            <a:r>
              <a:rPr lang="cs-CZ" altLang="ja-JP" dirty="0" smtClean="0"/>
              <a:t>   </a:t>
            </a:r>
            <a:r>
              <a:rPr lang="cs-CZ" altLang="ja-JP" dirty="0" err="1" smtClean="0"/>
              <a:t>put</a:t>
            </a:r>
            <a:r>
              <a:rPr lang="cs-CZ" altLang="ja-JP" dirty="0" smtClean="0"/>
              <a:t> s (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s) 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definition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of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get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</a:t>
            </a:r>
            <a:r>
              <a:rPr lang="de-DE" altLang="ja-JP" dirty="0" err="1" smtClean="0"/>
              <a:t>put</a:t>
            </a:r>
            <a:r>
              <a:rPr lang="de-DE" altLang="ja-JP" dirty="0" smtClean="0"/>
              <a:t> s v</a:t>
            </a:r>
          </a:p>
          <a:p>
            <a:pPr marL="0" indent="0">
              <a:buNone/>
            </a:pPr>
            <a:r>
              <a:rPr lang="de-DE" altLang="ja-JP" dirty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/>
              <a:t>condition</a:t>
            </a:r>
            <a:r>
              <a:rPr lang="de-DE" altLang="ja-JP" sz="1800" dirty="0"/>
              <a:t> </a:t>
            </a:r>
            <a:r>
              <a:rPr lang="de-DE" altLang="ja-JP" sz="1800" dirty="0" err="1"/>
              <a:t>for</a:t>
            </a:r>
            <a:r>
              <a:rPr lang="de-DE" altLang="ja-JP" sz="1800" dirty="0"/>
              <a:t> </a:t>
            </a:r>
            <a:r>
              <a:rPr lang="de-DE" altLang="ja-JP" sz="1800" dirty="0" err="1"/>
              <a:t>put</a:t>
            </a:r>
            <a:r>
              <a:rPr lang="de-DE" altLang="ja-JP" sz="1800" dirty="0"/>
              <a:t> }</a:t>
            </a:r>
          </a:p>
          <a:p>
            <a:pPr marL="0" indent="0">
              <a:buNone/>
            </a:pPr>
            <a:r>
              <a:rPr lang="de-DE" altLang="ja-JP" dirty="0"/>
              <a:t>   s</a:t>
            </a:r>
          </a:p>
          <a:p>
            <a:pPr marL="0" indent="0">
              <a:buNone/>
            </a:pPr>
            <a:r>
              <a:rPr lang="de-DE" altLang="ja-JP" dirty="0" smtClean="0"/>
              <a:t> </a:t>
            </a:r>
          </a:p>
          <a:p>
            <a:pPr marL="0" indent="0">
              <a:buFontTx/>
              <a:buNone/>
            </a:pPr>
            <a:endParaRPr lang="ja-JP" altLang="en-US" dirty="0"/>
          </a:p>
        </p:txBody>
      </p:sp>
      <p:sp>
        <p:nvSpPr>
          <p:cNvPr id="10" name="正方形/長方形 9"/>
          <p:cNvSpPr/>
          <p:nvPr/>
        </p:nvSpPr>
        <p:spPr bwMode="auto">
          <a:xfrm>
            <a:off x="4499992" y="4736132"/>
            <a:ext cx="3024336" cy="114113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3" name="正方形/長方形 12"/>
          <p:cNvSpPr/>
          <p:nvPr/>
        </p:nvSpPr>
        <p:spPr bwMode="auto">
          <a:xfrm>
            <a:off x="1033463" y="4888532"/>
            <a:ext cx="3024336" cy="12836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55984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Derived “get”</a:t>
            </a:r>
            <a:r>
              <a:rPr kumimoji="1" lang="en-US" altLang="ja-JP" dirty="0" smtClean="0"/>
              <a:t>: </a:t>
            </a:r>
            <a:r>
              <a:rPr lang="en-US" altLang="ja-JP" dirty="0" smtClean="0"/>
              <a:t>Existence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95400"/>
            <a:ext cx="7882640" cy="2637656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</a:t>
            </a:r>
            <a:r>
              <a:rPr lang="en-US" altLang="ja-JP" dirty="0"/>
              <a:t>Given a </a:t>
            </a:r>
            <a:r>
              <a:rPr lang="en-US" altLang="ja-JP" dirty="0" err="1" smtClean="0"/>
              <a:t>surjective</a:t>
            </a:r>
            <a:r>
              <a:rPr lang="en-US" altLang="ja-JP" dirty="0" smtClean="0"/>
              <a:t> </a:t>
            </a:r>
            <a:r>
              <a:rPr lang="en-US" altLang="ja-JP" dirty="0"/>
              <a:t>put function </a:t>
            </a:r>
            <a:r>
              <a:rPr lang="en-US" altLang="ja-JP" sz="2000" dirty="0" smtClean="0"/>
              <a:t>(for </a:t>
            </a:r>
            <a:r>
              <a:rPr lang="en-US" altLang="ja-JP" sz="2000" dirty="0"/>
              <a:t>any s, there exist s’, v, such that s = put </a:t>
            </a:r>
            <a:r>
              <a:rPr lang="en-US" altLang="ja-JP" sz="2000" dirty="0" smtClean="0"/>
              <a:t>s’ v)</a:t>
            </a:r>
            <a:r>
              <a:rPr lang="en-US" altLang="ja-JP" dirty="0" smtClean="0"/>
              <a:t>, the</a:t>
            </a:r>
            <a:r>
              <a:rPr lang="ja-JP" altLang="en-US" dirty="0" smtClean="0"/>
              <a:t> </a:t>
            </a:r>
            <a:r>
              <a:rPr lang="en-US" altLang="ja-JP" dirty="0" smtClean="0"/>
              <a:t>get </a:t>
            </a:r>
            <a:r>
              <a:rPr lang="en-US" altLang="ja-JP" dirty="0"/>
              <a:t>function </a:t>
            </a:r>
            <a:r>
              <a:rPr lang="en-US" altLang="ja-JP" dirty="0" smtClean="0"/>
              <a:t>defined</a:t>
            </a:r>
            <a:r>
              <a:rPr lang="ja-JP" altLang="en-US" dirty="0" smtClean="0"/>
              <a:t> </a:t>
            </a:r>
            <a:r>
              <a:rPr lang="en-US" altLang="ja-JP" dirty="0" smtClean="0"/>
              <a:t>by</a:t>
            </a:r>
          </a:p>
          <a:p>
            <a:pPr marL="0" indent="0">
              <a:buNone/>
            </a:pPr>
            <a:r>
              <a:rPr lang="ja-JP" altLang="en-US" dirty="0" smtClean="0"/>
              <a:t>        </a:t>
            </a:r>
            <a:r>
              <a:rPr lang="en-US" altLang="ja-JP" dirty="0" smtClean="0"/>
              <a:t>get </a:t>
            </a:r>
            <a:r>
              <a:rPr lang="en-US" altLang="ja-JP" dirty="0"/>
              <a:t>s = v </a:t>
            </a:r>
            <a:r>
              <a:rPr lang="en-US" altLang="ja-JP" dirty="0">
                <a:solidFill>
                  <a:schemeClr val="accent2"/>
                </a:solidFill>
              </a:rPr>
              <a:t>such that </a:t>
            </a:r>
            <a:r>
              <a:rPr lang="en-US" altLang="ja-JP" dirty="0"/>
              <a:t>put </a:t>
            </a:r>
            <a:r>
              <a:rPr lang="en-US" altLang="ja-JP" dirty="0" smtClean="0"/>
              <a:t>s </a:t>
            </a:r>
            <a:r>
              <a:rPr lang="en-US" altLang="ja-JP" dirty="0"/>
              <a:t>v = </a:t>
            </a:r>
            <a:r>
              <a:rPr lang="en-US" altLang="ja-JP" dirty="0" smtClean="0"/>
              <a:t>s</a:t>
            </a:r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satisfies </a:t>
            </a:r>
            <a:r>
              <a:rPr lang="en-US" altLang="ja-JP" dirty="0" err="1" smtClean="0"/>
              <a:t>GetPut</a:t>
            </a:r>
            <a:r>
              <a:rPr lang="en-US" altLang="ja-JP" dirty="0" smtClean="0"/>
              <a:t> and </a:t>
            </a:r>
            <a:r>
              <a:rPr lang="en-US" altLang="ja-JP" dirty="0" err="1" smtClean="0"/>
              <a:t>PutGet</a:t>
            </a:r>
            <a:r>
              <a:rPr lang="en-US" altLang="ja-JP" dirty="0" smtClean="0"/>
              <a:t>. </a:t>
            </a:r>
            <a:endParaRPr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16</a:t>
            </a:fld>
            <a:endParaRPr lang="ja-JP" altLang="en-US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 bwMode="auto">
          <a:xfrm>
            <a:off x="1033463" y="3933056"/>
            <a:ext cx="3166236" cy="2704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Proof</a:t>
            </a:r>
            <a:r>
              <a:rPr lang="en-US" altLang="ja-JP" dirty="0" smtClean="0"/>
              <a:t>:</a:t>
            </a:r>
            <a:endParaRPr lang="cs-CZ" altLang="ja-JP" dirty="0" smtClean="0"/>
          </a:p>
          <a:p>
            <a:pPr marL="0" indent="0">
              <a:buNone/>
            </a:pPr>
            <a:r>
              <a:rPr lang="cs-CZ" altLang="ja-JP" dirty="0" smtClean="0"/>
              <a:t>   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(</a:t>
            </a:r>
            <a:r>
              <a:rPr lang="cs-CZ" altLang="ja-JP" dirty="0" err="1" smtClean="0"/>
              <a:t>put</a:t>
            </a:r>
            <a:r>
              <a:rPr lang="cs-CZ" altLang="ja-JP" dirty="0" smtClean="0"/>
              <a:t> s v) 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condition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for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put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</a:t>
            </a:r>
            <a:r>
              <a:rPr lang="de-DE" altLang="ja-JP" dirty="0" err="1" smtClean="0"/>
              <a:t>get</a:t>
            </a:r>
            <a:r>
              <a:rPr lang="de-DE" altLang="ja-JP" dirty="0" smtClean="0"/>
              <a:t> s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en-US" altLang="ja-JP" sz="1800" dirty="0"/>
              <a:t>definition</a:t>
            </a:r>
            <a:r>
              <a:rPr lang="ja-JP" altLang="en-US" sz="1800" dirty="0"/>
              <a:t> </a:t>
            </a:r>
            <a:r>
              <a:rPr lang="en-US" altLang="ja-JP" sz="1800" dirty="0"/>
              <a:t>of get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/>
              <a:t>   v</a:t>
            </a:r>
          </a:p>
          <a:p>
            <a:pPr marL="0" indent="0">
              <a:buNone/>
            </a:pPr>
            <a:endParaRPr lang="de-DE" altLang="ja-JP" dirty="0" smtClean="0"/>
          </a:p>
          <a:p>
            <a:pPr marL="0" indent="0">
              <a:buFontTx/>
              <a:buNone/>
            </a:pPr>
            <a:endParaRPr lang="ja-JP" altLang="en-US" dirty="0"/>
          </a:p>
        </p:txBody>
      </p:sp>
      <p:sp>
        <p:nvSpPr>
          <p:cNvPr id="9" name="コンテンツ プレースホルダー 2"/>
          <p:cNvSpPr txBox="1">
            <a:spLocks/>
          </p:cNvSpPr>
          <p:nvPr/>
        </p:nvSpPr>
        <p:spPr bwMode="auto">
          <a:xfrm>
            <a:off x="4788024" y="3717032"/>
            <a:ext cx="3096344" cy="2931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endParaRPr lang="cs-CZ" altLang="ja-JP" dirty="0" smtClean="0"/>
          </a:p>
          <a:p>
            <a:pPr marL="0" indent="0">
              <a:buNone/>
            </a:pPr>
            <a:r>
              <a:rPr lang="cs-CZ" altLang="ja-JP" dirty="0" smtClean="0"/>
              <a:t>   </a:t>
            </a:r>
            <a:r>
              <a:rPr lang="cs-CZ" altLang="ja-JP" dirty="0" err="1" smtClean="0"/>
              <a:t>put</a:t>
            </a:r>
            <a:r>
              <a:rPr lang="cs-CZ" altLang="ja-JP" dirty="0" smtClean="0"/>
              <a:t> s (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s) 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definition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of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get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</a:t>
            </a:r>
            <a:r>
              <a:rPr lang="de-DE" altLang="ja-JP" dirty="0" err="1" smtClean="0"/>
              <a:t>put</a:t>
            </a:r>
            <a:r>
              <a:rPr lang="de-DE" altLang="ja-JP" dirty="0" smtClean="0"/>
              <a:t> s v</a:t>
            </a:r>
          </a:p>
          <a:p>
            <a:pPr marL="0" indent="0">
              <a:buNone/>
            </a:pPr>
            <a:r>
              <a:rPr lang="de-DE" altLang="ja-JP" dirty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/>
              <a:t>condition</a:t>
            </a:r>
            <a:r>
              <a:rPr lang="de-DE" altLang="ja-JP" sz="1800" dirty="0"/>
              <a:t> </a:t>
            </a:r>
            <a:r>
              <a:rPr lang="de-DE" altLang="ja-JP" sz="1800" dirty="0" err="1"/>
              <a:t>for</a:t>
            </a:r>
            <a:r>
              <a:rPr lang="de-DE" altLang="ja-JP" sz="1800" dirty="0"/>
              <a:t> </a:t>
            </a:r>
            <a:r>
              <a:rPr lang="de-DE" altLang="ja-JP" sz="1800" dirty="0" err="1"/>
              <a:t>put</a:t>
            </a:r>
            <a:r>
              <a:rPr lang="de-DE" altLang="ja-JP" sz="1800" dirty="0"/>
              <a:t> }</a:t>
            </a:r>
          </a:p>
          <a:p>
            <a:pPr marL="0" indent="0">
              <a:buNone/>
            </a:pPr>
            <a:r>
              <a:rPr lang="de-DE" altLang="ja-JP" dirty="0"/>
              <a:t>   s</a:t>
            </a:r>
          </a:p>
          <a:p>
            <a:pPr marL="0" indent="0">
              <a:buNone/>
            </a:pPr>
            <a:r>
              <a:rPr lang="de-DE" altLang="ja-JP" dirty="0" smtClean="0"/>
              <a:t> </a:t>
            </a:r>
          </a:p>
          <a:p>
            <a:pPr marL="0" indent="0">
              <a:buFontTx/>
              <a:buNone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020379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Remark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68760"/>
            <a:ext cx="7846640" cy="1413520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if there exists a v satisfying put s’ v = s, then so does put s v = s.</a:t>
            </a:r>
            <a:endParaRPr lang="en-US" altLang="ja-JP" sz="900" dirty="0" smtClean="0"/>
          </a:p>
          <a:p>
            <a:pPr marL="0" indent="0">
              <a:buNone/>
            </a:pPr>
            <a:r>
              <a:rPr kumimoji="1" lang="en-US" altLang="ja-JP" dirty="0" smtClean="0"/>
              <a:t>       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17</a:t>
            </a:fld>
            <a:endParaRPr lang="ja-JP" altLang="en-US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 bwMode="auto">
          <a:xfrm>
            <a:off x="899592" y="2276872"/>
            <a:ext cx="7485492" cy="3679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ja-JP" dirty="0">
                <a:solidFill>
                  <a:schemeClr val="accent2"/>
                </a:solidFill>
              </a:rPr>
              <a:t>Proof</a:t>
            </a:r>
            <a:r>
              <a:rPr lang="en-US" altLang="ja-JP" sz="1800" dirty="0" smtClean="0">
                <a:solidFill>
                  <a:schemeClr val="bg2"/>
                </a:solidFill>
              </a:rPr>
              <a:t>:</a:t>
            </a:r>
          </a:p>
          <a:p>
            <a:pPr marL="0" indent="0">
              <a:buNone/>
            </a:pPr>
            <a:r>
              <a:rPr lang="cs-CZ" altLang="ja-JP" sz="1800" dirty="0" smtClean="0">
                <a:solidFill>
                  <a:schemeClr val="bg2"/>
                </a:solidFill>
              </a:rPr>
              <a:t>   </a:t>
            </a:r>
            <a:r>
              <a:rPr lang="cs-CZ" altLang="ja-JP" dirty="0"/>
              <a:t> </a:t>
            </a:r>
            <a:r>
              <a:rPr lang="cs-CZ" altLang="ja-JP" dirty="0" err="1"/>
              <a:t>put</a:t>
            </a:r>
            <a:r>
              <a:rPr lang="cs-CZ" altLang="ja-JP" dirty="0"/>
              <a:t> </a:t>
            </a:r>
            <a:r>
              <a:rPr lang="cs-CZ" altLang="ja-JP" dirty="0" smtClean="0"/>
              <a:t>s</a:t>
            </a:r>
            <a:r>
              <a:rPr lang="en-US" altLang="ja-JP" dirty="0" smtClean="0"/>
              <a:t>’</a:t>
            </a:r>
            <a:r>
              <a:rPr lang="cs-CZ" altLang="ja-JP" dirty="0" smtClean="0"/>
              <a:t> </a:t>
            </a:r>
            <a:r>
              <a:rPr lang="cs-CZ" altLang="ja-JP" dirty="0"/>
              <a:t>v = s</a:t>
            </a:r>
          </a:p>
          <a:p>
            <a:pPr marL="0" indent="0">
              <a:buNone/>
            </a:pPr>
            <a:r>
              <a:rPr lang="de-DE" altLang="ja-JP" dirty="0"/>
              <a:t>=&gt;   { </a:t>
            </a:r>
            <a:r>
              <a:rPr lang="de-DE" altLang="ja-JP" dirty="0" err="1"/>
              <a:t>put</a:t>
            </a:r>
            <a:r>
              <a:rPr lang="de-DE" altLang="ja-JP" dirty="0"/>
              <a:t> }</a:t>
            </a:r>
          </a:p>
          <a:p>
            <a:pPr marL="0" indent="0">
              <a:buNone/>
            </a:pPr>
            <a:r>
              <a:rPr lang="de-DE" altLang="ja-JP" dirty="0"/>
              <a:t>    </a:t>
            </a:r>
            <a:r>
              <a:rPr lang="de-DE" altLang="ja-JP" dirty="0" err="1"/>
              <a:t>put</a:t>
            </a:r>
            <a:r>
              <a:rPr lang="de-DE" altLang="ja-JP" dirty="0"/>
              <a:t> (</a:t>
            </a:r>
            <a:r>
              <a:rPr lang="de-DE" altLang="ja-JP" dirty="0" err="1"/>
              <a:t>put</a:t>
            </a:r>
            <a:r>
              <a:rPr lang="de-DE" altLang="ja-JP" dirty="0"/>
              <a:t> </a:t>
            </a:r>
            <a:r>
              <a:rPr lang="de-DE" altLang="ja-JP" dirty="0" smtClean="0"/>
              <a:t>s</a:t>
            </a:r>
            <a:r>
              <a:rPr lang="en-US" altLang="ja-JP" dirty="0"/>
              <a:t>’</a:t>
            </a:r>
            <a:r>
              <a:rPr lang="de-DE" altLang="ja-JP" dirty="0" smtClean="0"/>
              <a:t> </a:t>
            </a:r>
            <a:r>
              <a:rPr lang="de-DE" altLang="ja-JP" dirty="0"/>
              <a:t>v) v = </a:t>
            </a:r>
            <a:r>
              <a:rPr lang="de-DE" altLang="ja-JP" dirty="0" err="1"/>
              <a:t>put</a:t>
            </a:r>
            <a:r>
              <a:rPr lang="de-DE" altLang="ja-JP" dirty="0"/>
              <a:t> s v</a:t>
            </a:r>
          </a:p>
          <a:p>
            <a:pPr marL="0" indent="0">
              <a:buNone/>
            </a:pPr>
            <a:r>
              <a:rPr lang="de-DE" altLang="ja-JP" dirty="0"/>
              <a:t>==   { </a:t>
            </a:r>
            <a:r>
              <a:rPr lang="de-DE" altLang="ja-JP" dirty="0" err="1" smtClean="0"/>
              <a:t>PutTwice</a:t>
            </a:r>
            <a:r>
              <a:rPr lang="en-US" altLang="ja-JP" dirty="0" smtClean="0"/>
              <a:t>:</a:t>
            </a:r>
            <a:r>
              <a:rPr lang="ja-JP" altLang="en-US" dirty="0" smtClean="0"/>
              <a:t> </a:t>
            </a:r>
            <a:r>
              <a:rPr lang="en-US" altLang="ja-JP" dirty="0" err="1" smtClean="0"/>
              <a:t>forall</a:t>
            </a:r>
            <a:r>
              <a:rPr lang="ja-JP" altLang="en-US" dirty="0" smtClean="0"/>
              <a:t> </a:t>
            </a:r>
            <a:r>
              <a:rPr lang="en-US" altLang="ja-JP" dirty="0" smtClean="0"/>
              <a:t>s</a:t>
            </a:r>
            <a:r>
              <a:rPr lang="ja-JP" altLang="en-US" dirty="0" smtClean="0"/>
              <a:t> </a:t>
            </a:r>
            <a:r>
              <a:rPr lang="en-US" altLang="ja-JP" dirty="0" smtClean="0"/>
              <a:t>v.</a:t>
            </a:r>
            <a:r>
              <a:rPr lang="ja-JP" altLang="en-US" dirty="0" smtClean="0"/>
              <a:t> </a:t>
            </a:r>
            <a:r>
              <a:rPr lang="en-US" altLang="ja-JP" dirty="0" smtClean="0"/>
              <a:t>put</a:t>
            </a:r>
            <a:r>
              <a:rPr lang="ja-JP" altLang="en-US" dirty="0" smtClean="0"/>
              <a:t> </a:t>
            </a:r>
            <a:r>
              <a:rPr lang="en-US" altLang="ja-JP" dirty="0" smtClean="0"/>
              <a:t>(put</a:t>
            </a:r>
            <a:r>
              <a:rPr lang="ja-JP" altLang="en-US" dirty="0" smtClean="0"/>
              <a:t> </a:t>
            </a:r>
            <a:r>
              <a:rPr lang="en-US" altLang="ja-JP" dirty="0" smtClean="0"/>
              <a:t>s</a:t>
            </a:r>
            <a:r>
              <a:rPr lang="ja-JP" altLang="en-US" dirty="0" smtClean="0"/>
              <a:t> </a:t>
            </a:r>
            <a:r>
              <a:rPr lang="en-US" altLang="ja-JP" dirty="0" smtClean="0"/>
              <a:t>v)</a:t>
            </a:r>
            <a:r>
              <a:rPr lang="ja-JP" altLang="en-US" dirty="0" smtClean="0"/>
              <a:t> </a:t>
            </a:r>
            <a:r>
              <a:rPr lang="en-US" altLang="ja-JP" dirty="0" smtClean="0"/>
              <a:t>v</a:t>
            </a:r>
            <a:r>
              <a:rPr lang="ja-JP" altLang="en-US" dirty="0" smtClean="0"/>
              <a:t> </a:t>
            </a:r>
            <a:r>
              <a:rPr lang="en-US" altLang="ja-JP" dirty="0" smtClean="0"/>
              <a:t>=</a:t>
            </a:r>
            <a:r>
              <a:rPr lang="ja-JP" altLang="en-US" dirty="0" smtClean="0"/>
              <a:t> </a:t>
            </a:r>
            <a:r>
              <a:rPr lang="en-US" altLang="ja-JP" dirty="0" smtClean="0"/>
              <a:t>put</a:t>
            </a:r>
            <a:r>
              <a:rPr lang="ja-JP" altLang="en-US" dirty="0" smtClean="0"/>
              <a:t> </a:t>
            </a:r>
            <a:r>
              <a:rPr lang="en-US" altLang="ja-JP" dirty="0" smtClean="0"/>
              <a:t>s</a:t>
            </a:r>
            <a:r>
              <a:rPr lang="ja-JP" altLang="en-US" dirty="0" smtClean="0"/>
              <a:t> </a:t>
            </a:r>
            <a:r>
              <a:rPr lang="en-US" altLang="ja-JP" dirty="0" smtClean="0"/>
              <a:t>v</a:t>
            </a:r>
            <a:r>
              <a:rPr lang="de-DE" altLang="ja-JP" dirty="0" smtClean="0"/>
              <a:t> </a:t>
            </a:r>
            <a:r>
              <a:rPr lang="de-DE" altLang="ja-JP" dirty="0"/>
              <a:t>}</a:t>
            </a:r>
          </a:p>
          <a:p>
            <a:pPr marL="0" indent="0">
              <a:buNone/>
            </a:pPr>
            <a:r>
              <a:rPr lang="de-DE" altLang="ja-JP" dirty="0"/>
              <a:t>    </a:t>
            </a:r>
            <a:r>
              <a:rPr lang="de-DE" altLang="ja-JP" dirty="0" err="1"/>
              <a:t>put</a:t>
            </a:r>
            <a:r>
              <a:rPr lang="de-DE" altLang="ja-JP" dirty="0"/>
              <a:t> </a:t>
            </a:r>
            <a:r>
              <a:rPr lang="de-DE" altLang="ja-JP" dirty="0" smtClean="0"/>
              <a:t>s</a:t>
            </a:r>
            <a:r>
              <a:rPr lang="en-US" altLang="ja-JP" dirty="0" smtClean="0"/>
              <a:t>’ </a:t>
            </a:r>
            <a:r>
              <a:rPr lang="de-DE" altLang="ja-JP" dirty="0" smtClean="0"/>
              <a:t>v </a:t>
            </a:r>
            <a:r>
              <a:rPr lang="de-DE" altLang="ja-JP" dirty="0"/>
              <a:t>= </a:t>
            </a:r>
            <a:r>
              <a:rPr lang="de-DE" altLang="ja-JP" dirty="0" err="1"/>
              <a:t>put</a:t>
            </a:r>
            <a:r>
              <a:rPr lang="de-DE" altLang="ja-JP" dirty="0"/>
              <a:t> s v</a:t>
            </a:r>
          </a:p>
          <a:p>
            <a:pPr marL="0" indent="0">
              <a:buNone/>
            </a:pPr>
            <a:r>
              <a:rPr lang="de-DE" altLang="ja-JP" dirty="0"/>
              <a:t>==   { Assumtion: </a:t>
            </a:r>
            <a:r>
              <a:rPr lang="de-DE" altLang="ja-JP" dirty="0" err="1"/>
              <a:t>put</a:t>
            </a:r>
            <a:r>
              <a:rPr lang="de-DE" altLang="ja-JP" dirty="0"/>
              <a:t> </a:t>
            </a:r>
            <a:r>
              <a:rPr lang="de-DE" altLang="ja-JP" dirty="0" smtClean="0"/>
              <a:t>s</a:t>
            </a:r>
            <a:r>
              <a:rPr lang="en-US" altLang="ja-JP" dirty="0"/>
              <a:t>’</a:t>
            </a:r>
            <a:r>
              <a:rPr lang="de-DE" altLang="ja-JP" dirty="0" smtClean="0"/>
              <a:t> </a:t>
            </a:r>
            <a:r>
              <a:rPr lang="de-DE" altLang="ja-JP" dirty="0"/>
              <a:t>v = s }</a:t>
            </a:r>
          </a:p>
          <a:p>
            <a:pPr marL="0" indent="0">
              <a:buNone/>
            </a:pPr>
            <a:r>
              <a:rPr lang="de-DE" altLang="ja-JP" dirty="0"/>
              <a:t>    s = </a:t>
            </a:r>
            <a:r>
              <a:rPr lang="de-DE" altLang="ja-JP" dirty="0" err="1"/>
              <a:t>put</a:t>
            </a:r>
            <a:r>
              <a:rPr lang="de-DE" altLang="ja-JP" dirty="0"/>
              <a:t> s v</a:t>
            </a:r>
            <a:endParaRPr lang="en-US" altLang="ja-JP" dirty="0"/>
          </a:p>
          <a:p>
            <a:pPr marL="0" indent="0">
              <a:buFontTx/>
              <a:buNone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950985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Well-behaved “put”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799" y="1295400"/>
            <a:ext cx="7862145" cy="1269504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Definition</a:t>
            </a:r>
            <a:r>
              <a:rPr lang="en-US" altLang="ja-JP" dirty="0" smtClean="0"/>
              <a:t>: </a:t>
            </a:r>
            <a:r>
              <a:rPr lang="en-US" altLang="ja-JP" dirty="0"/>
              <a:t>A </a:t>
            </a:r>
            <a:r>
              <a:rPr lang="en-US" altLang="ja-JP" dirty="0" smtClean="0"/>
              <a:t>“put” </a:t>
            </a:r>
            <a:r>
              <a:rPr lang="en-US" altLang="ja-JP" dirty="0"/>
              <a:t>function is said to be </a:t>
            </a:r>
            <a:r>
              <a:rPr lang="en-US" altLang="ja-JP" dirty="0">
                <a:solidFill>
                  <a:srgbClr val="3333CC"/>
                </a:solidFill>
              </a:rPr>
              <a:t>well-behaved</a:t>
            </a:r>
            <a:r>
              <a:rPr lang="en-US" altLang="ja-JP" dirty="0"/>
              <a:t>, if there exists a (</a:t>
            </a:r>
            <a:r>
              <a:rPr lang="en-US" altLang="ja-JP" dirty="0" smtClean="0"/>
              <a:t>unique) “get” function such </a:t>
            </a:r>
            <a:r>
              <a:rPr lang="en-US" altLang="ja-JP" dirty="0"/>
              <a:t>that </a:t>
            </a:r>
            <a:r>
              <a:rPr lang="en-US" altLang="ja-JP" dirty="0" err="1"/>
              <a:t>GetPut</a:t>
            </a:r>
            <a:r>
              <a:rPr lang="en-US" altLang="ja-JP" dirty="0"/>
              <a:t> and </a:t>
            </a:r>
            <a:r>
              <a:rPr lang="en-US" altLang="ja-JP" dirty="0" err="1"/>
              <a:t>PutGet</a:t>
            </a:r>
            <a:r>
              <a:rPr lang="en-US" altLang="ja-JP" dirty="0"/>
              <a:t> hold.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18</a:t>
            </a:fld>
            <a:endParaRPr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85800" y="3025413"/>
            <a:ext cx="8062664" cy="1938992"/>
          </a:xfrm>
          <a:prstGeom prst="rect">
            <a:avLst/>
          </a:prstGeom>
          <a:noFill/>
          <a:ln>
            <a:solidFill>
              <a:srgbClr val="CCCC99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 smtClean="0"/>
              <a:t>Exercise</a:t>
            </a:r>
          </a:p>
          <a:p>
            <a:r>
              <a:rPr kumimoji="1" lang="en-US" altLang="ja-JP" sz="2400" dirty="0" smtClean="0"/>
              <a:t>Which</a:t>
            </a:r>
            <a:r>
              <a:rPr kumimoji="1" lang="ja-JP" altLang="en-US" sz="2400" dirty="0" smtClean="0"/>
              <a:t> </a:t>
            </a:r>
            <a:r>
              <a:rPr kumimoji="1" lang="en-US" altLang="ja-JP" sz="2400" dirty="0" smtClean="0"/>
              <a:t>of</a:t>
            </a:r>
            <a:r>
              <a:rPr kumimoji="1" lang="ja-JP" altLang="en-US" sz="2400" dirty="0" smtClean="0"/>
              <a:t> </a:t>
            </a:r>
            <a:r>
              <a:rPr kumimoji="1" lang="en-US" altLang="ja-JP" sz="2400" dirty="0" smtClean="0"/>
              <a:t>the</a:t>
            </a:r>
            <a:r>
              <a:rPr kumimoji="1" lang="ja-JP" altLang="en-US" sz="2400" dirty="0" smtClean="0"/>
              <a:t> </a:t>
            </a:r>
            <a:r>
              <a:rPr kumimoji="1" lang="en-US" altLang="ja-JP" sz="2400" dirty="0" smtClean="0"/>
              <a:t>following </a:t>
            </a:r>
            <a:r>
              <a:rPr kumimoji="1" lang="en-US" altLang="ja-JP" sz="2400" dirty="0" smtClean="0"/>
              <a:t>put</a:t>
            </a:r>
            <a:r>
              <a:rPr kumimoji="1" lang="en-US" altLang="ja-JP" sz="2400" dirty="0" smtClean="0"/>
              <a:t>s</a:t>
            </a:r>
            <a:r>
              <a:rPr kumimoji="1" lang="ja-JP" altLang="en-US" sz="2400" dirty="0" smtClean="0"/>
              <a:t> </a:t>
            </a:r>
            <a:r>
              <a:rPr lang="en-US" altLang="ja-JP" sz="2400" dirty="0" smtClean="0"/>
              <a:t>are</a:t>
            </a:r>
            <a:r>
              <a:rPr kumimoji="1" lang="en-US" altLang="ja-JP" sz="2400" dirty="0" smtClean="0"/>
              <a:t> </a:t>
            </a:r>
            <a:r>
              <a:rPr kumimoji="1" lang="en-US" altLang="ja-JP" sz="2400" dirty="0" smtClean="0"/>
              <a:t>well-behaved?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p</a:t>
            </a:r>
            <a:r>
              <a:rPr kumimoji="1" lang="en-US" altLang="ja-JP" sz="2400" dirty="0" smtClean="0"/>
              <a:t>ut1 s v = s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put2 s v = v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ja-JP" sz="2400" dirty="0" smtClean="0"/>
              <a:t> put2 s v = v+1 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415687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Well-behaved “put”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00723" y="1412776"/>
            <a:ext cx="7844326" cy="270966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</a:t>
            </a:r>
          </a:p>
          <a:p>
            <a:pPr marL="0" indent="0">
              <a:buNone/>
            </a:pPr>
            <a:r>
              <a:rPr lang="ja-JP" altLang="ja-JP" dirty="0"/>
              <a:t>p</a:t>
            </a:r>
            <a:r>
              <a:rPr lang="en-US" altLang="ja-JP" dirty="0" err="1" smtClean="0"/>
              <a:t>ut</a:t>
            </a:r>
            <a:r>
              <a:rPr lang="en-US" altLang="ja-JP" dirty="0" smtClean="0"/>
              <a:t> is well-behaved, </a:t>
            </a:r>
            <a:r>
              <a:rPr lang="en-US" altLang="ja-JP" sz="2800" b="1" dirty="0" err="1" smtClean="0"/>
              <a:t>iff</a:t>
            </a:r>
            <a:endParaRPr lang="en-US" altLang="ja-JP" sz="2800" b="1" dirty="0"/>
          </a:p>
          <a:p>
            <a:pPr marL="457200" indent="-457200">
              <a:buFont typeface="+mj-lt"/>
              <a:buAutoNum type="arabicPeriod"/>
            </a:pPr>
            <a:r>
              <a:rPr lang="en-US" altLang="ja-JP" dirty="0" smtClean="0"/>
              <a:t>View-deterministic</a:t>
            </a:r>
          </a:p>
          <a:p>
            <a:pPr marL="0" indent="0">
              <a:buNone/>
            </a:pPr>
            <a:r>
              <a:rPr lang="en-US" altLang="ja-JP" dirty="0" smtClean="0"/>
              <a:t>    </a:t>
            </a:r>
            <a:r>
              <a:rPr lang="en-US" altLang="ja-JP" dirty="0" smtClean="0">
                <a:solidFill>
                  <a:srgbClr val="FF6600"/>
                </a:solidFill>
              </a:rPr>
              <a:t>put s1 v1 = put s2 v2 </a:t>
            </a:r>
            <a:r>
              <a:rPr lang="en-US" altLang="ja-JP" dirty="0" smtClean="0">
                <a:solidFill>
                  <a:srgbClr val="FF6600"/>
                </a:solidFill>
                <a:sym typeface="Wingdings"/>
              </a:rPr>
              <a:t> v1 = v2</a:t>
            </a:r>
            <a:endParaRPr lang="en-US" altLang="ja-JP" dirty="0">
              <a:solidFill>
                <a:srgbClr val="FF6600"/>
              </a:solidFill>
            </a:endParaRPr>
          </a:p>
          <a:p>
            <a:pPr marL="457200" indent="-457200">
              <a:buAutoNum type="arabicPeriod" startAt="2"/>
            </a:pPr>
            <a:r>
              <a:rPr lang="en-US" altLang="ja-JP" dirty="0" smtClean="0"/>
              <a:t>View-stable</a:t>
            </a:r>
          </a:p>
          <a:p>
            <a:pPr marL="0" indent="0">
              <a:buNone/>
            </a:pPr>
            <a:r>
              <a:rPr lang="en-US" altLang="ja-JP" dirty="0"/>
              <a:t> </a:t>
            </a:r>
            <a:r>
              <a:rPr lang="en-US" altLang="ja-JP" dirty="0" smtClean="0"/>
              <a:t>   for any s, there exists a v, such that </a:t>
            </a:r>
            <a:r>
              <a:rPr lang="en-US" altLang="ja-JP" dirty="0" smtClean="0">
                <a:solidFill>
                  <a:srgbClr val="FF6600"/>
                </a:solidFill>
              </a:rPr>
              <a:t>put s v = s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19</a:t>
            </a:fld>
            <a:endParaRPr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66000" y="4919944"/>
            <a:ext cx="787904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 smtClean="0"/>
              <a:t>Sebastian Fischer, Zhenjiang Hu, Hugo Pacheco, </a:t>
            </a:r>
            <a:r>
              <a:rPr lang="en-US" altLang="ja-JP" b="1" dirty="0"/>
              <a:t>Pearl: A </a:t>
            </a:r>
            <a:r>
              <a:rPr kumimoji="1" lang="en-US" altLang="ja-JP" b="1" dirty="0" smtClean="0"/>
              <a:t>Clear Picture of Lenses</a:t>
            </a:r>
            <a:r>
              <a:rPr kumimoji="1" lang="en-US" altLang="ja-JP" dirty="0" smtClean="0"/>
              <a:t>, MPC 2015.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3175265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20</a:t>
            </a:fld>
            <a:endParaRPr lang="ja-JP" altLang="en-US"/>
          </a:p>
        </p:txBody>
      </p:sp>
      <p:sp>
        <p:nvSpPr>
          <p:cNvPr id="13" name="タイトル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6211888" cy="511175"/>
          </a:xfrm>
        </p:spPr>
        <p:txBody>
          <a:bodyPr/>
          <a:lstStyle/>
          <a:p>
            <a:r>
              <a:rPr kumimoji="1" lang="en-US" altLang="ja-JP" dirty="0" smtClean="0"/>
              <a:t>Validity Check of “Put”</a:t>
            </a:r>
            <a:endParaRPr kumimoji="1" lang="ja-JP" altLang="en-US" dirty="0"/>
          </a:p>
        </p:txBody>
      </p:sp>
      <p:sp>
        <p:nvSpPr>
          <p:cNvPr id="14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11560" y="1412776"/>
            <a:ext cx="7759710" cy="122413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Theorem</a:t>
            </a:r>
            <a:r>
              <a:rPr lang="en-US" altLang="ja-JP" dirty="0" smtClean="0"/>
              <a:t>: </a:t>
            </a:r>
          </a:p>
          <a:p>
            <a:pPr marL="0" indent="0">
              <a:buNone/>
            </a:pPr>
            <a:r>
              <a:rPr lang="en-US" altLang="ja-JP" sz="2000" dirty="0" smtClean="0"/>
              <a:t>Well-</a:t>
            </a:r>
            <a:r>
              <a:rPr lang="en-US" altLang="ja-JP" sz="2000" dirty="0" err="1" smtClean="0"/>
              <a:t>behavedness</a:t>
            </a:r>
            <a:r>
              <a:rPr lang="en-US" altLang="ja-JP" sz="2000" dirty="0" smtClean="0"/>
              <a:t> of a put defined in treeless languages is decidable. </a:t>
            </a:r>
            <a:endParaRPr lang="en-US" altLang="ja-JP" sz="2000" dirty="0" smtClean="0">
              <a:solidFill>
                <a:srgbClr val="FF6600"/>
              </a:solidFill>
            </a:endParaRPr>
          </a:p>
        </p:txBody>
      </p:sp>
      <p:grpSp>
        <p:nvGrpSpPr>
          <p:cNvPr id="15" name="図形グループ 14"/>
          <p:cNvGrpSpPr/>
          <p:nvPr/>
        </p:nvGrpSpPr>
        <p:grpSpPr>
          <a:xfrm>
            <a:off x="594066" y="2780928"/>
            <a:ext cx="7759710" cy="2016224"/>
            <a:chOff x="628714" y="2996952"/>
            <a:chExt cx="8263766" cy="2448272"/>
          </a:xfrm>
        </p:grpSpPr>
        <p:sp>
          <p:nvSpPr>
            <p:cNvPr id="16" name="コンテンツ プレースホルダー 2"/>
            <p:cNvSpPr txBox="1">
              <a:spLocks/>
            </p:cNvSpPr>
            <p:nvPr/>
          </p:nvSpPr>
          <p:spPr bwMode="auto">
            <a:xfrm>
              <a:off x="628714" y="3789040"/>
              <a:ext cx="8263766" cy="1656184"/>
            </a:xfrm>
            <a:prstGeom prst="rect">
              <a:avLst/>
            </a:prstGeom>
            <a:ln w="25400" cap="flat" cmpd="sng" algn="ctr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kumimoji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kumimoji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kumimoji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kumimoji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kumimoji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Tx/>
                <a:buNone/>
              </a:pPr>
              <a:r>
                <a:rPr lang="en-US" altLang="ja-JP" dirty="0" smtClean="0">
                  <a:solidFill>
                    <a:schemeClr val="accent2"/>
                  </a:solidFill>
                </a:rPr>
                <a:t>Validation Algorithm</a:t>
              </a:r>
              <a:r>
                <a:rPr lang="en-US" altLang="ja-JP" dirty="0" smtClean="0"/>
                <a:t>: </a:t>
              </a:r>
            </a:p>
            <a:p>
              <a:pPr marL="0" indent="0">
                <a:buNone/>
              </a:pPr>
              <a:r>
                <a:rPr lang="en-US" altLang="ja-JP" sz="2000" dirty="0" smtClean="0"/>
                <a:t>(Soundness): A validated put is well-behaved.</a:t>
              </a:r>
            </a:p>
            <a:p>
              <a:pPr marL="0" indent="0">
                <a:buNone/>
              </a:pPr>
              <a:r>
                <a:rPr lang="en-US" altLang="ja-JP" sz="2000" dirty="0" smtClean="0"/>
                <a:t>(Completeness): Any well-behaved put can be validated.</a:t>
              </a:r>
              <a:endParaRPr lang="en-US" altLang="ja-JP" sz="2000" dirty="0" smtClean="0">
                <a:solidFill>
                  <a:srgbClr val="FF6600"/>
                </a:solidFill>
              </a:endParaRPr>
            </a:p>
          </p:txBody>
        </p:sp>
        <p:sp>
          <p:nvSpPr>
            <p:cNvPr id="17" name="上矢印 16"/>
            <p:cNvSpPr/>
            <p:nvPr/>
          </p:nvSpPr>
          <p:spPr bwMode="auto">
            <a:xfrm>
              <a:off x="4462989" y="2996952"/>
              <a:ext cx="792088" cy="576064"/>
            </a:xfrm>
            <a:prstGeom prst="upArrow">
              <a:avLst/>
            </a:prstGeom>
            <a:solidFill>
              <a:srgbClr val="3333CC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111" charset="0"/>
                <a:ea typeface="ＭＳ Ｐゴシック" pitchFamily="-111" charset="-128"/>
                <a:cs typeface="ＭＳ Ｐゴシック" pitchFamily="-111" charset="-128"/>
              </a:endParaRPr>
            </a:p>
          </p:txBody>
        </p:sp>
      </p:grpSp>
      <p:sp>
        <p:nvSpPr>
          <p:cNvPr id="18" name="テキスト ボックス 17"/>
          <p:cNvSpPr txBox="1"/>
          <p:nvPr/>
        </p:nvSpPr>
        <p:spPr>
          <a:xfrm>
            <a:off x="601216" y="5157192"/>
            <a:ext cx="7770054" cy="584776"/>
          </a:xfrm>
          <a:prstGeom prst="rect">
            <a:avLst/>
          </a:prstGeom>
          <a:noFill/>
          <a:ln>
            <a:solidFill>
              <a:srgbClr val="31B6F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600" u="sng" dirty="0" smtClean="0"/>
              <a:t>Zhenjiang Hu, </a:t>
            </a:r>
            <a:r>
              <a:rPr lang="en-US" altLang="ja-JP" sz="1600" dirty="0" smtClean="0"/>
              <a:t>Hugo Pacheco, </a:t>
            </a:r>
            <a:r>
              <a:rPr lang="en-US" altLang="ja-JP" sz="1600" dirty="0"/>
              <a:t>Sebastian </a:t>
            </a:r>
            <a:r>
              <a:rPr lang="en-US" altLang="ja-JP" sz="1600" dirty="0" smtClean="0"/>
              <a:t>Fischer, </a:t>
            </a:r>
            <a:r>
              <a:rPr lang="en-US" altLang="ja-JP" sz="1600" b="1" dirty="0" smtClean="0"/>
              <a:t>Validity </a:t>
            </a:r>
            <a:r>
              <a:rPr lang="en-US" altLang="ja-JP" sz="1600" b="1" dirty="0"/>
              <a:t>V</a:t>
            </a:r>
            <a:r>
              <a:rPr lang="en-US" altLang="ja-JP" sz="1600" b="1" dirty="0" smtClean="0"/>
              <a:t>erification of </a:t>
            </a:r>
            <a:r>
              <a:rPr lang="en-US" altLang="ja-JP" sz="1600" b="1" dirty="0" err="1" smtClean="0"/>
              <a:t>Putback</a:t>
            </a:r>
            <a:r>
              <a:rPr lang="en-US" altLang="ja-JP" sz="1600" b="1" dirty="0" smtClean="0"/>
              <a:t> Transformations in Treeless Languages in Bidirectional Programming</a:t>
            </a:r>
            <a:r>
              <a:rPr lang="en-US" altLang="ja-JP" sz="1600" dirty="0" smtClean="0"/>
              <a:t>, FM 2014</a:t>
            </a:r>
            <a:r>
              <a:rPr lang="en-US" altLang="ja-JP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33839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err="1"/>
              <a:t>Putback</a:t>
            </a:r>
            <a:r>
              <a:rPr lang="en-US" altLang="ja-JP" dirty="0" smtClean="0"/>
              <a:t>-based </a:t>
            </a:r>
            <a:r>
              <a:rPr lang="en-US" altLang="ja-JP" dirty="0"/>
              <a:t>Bidirectional </a:t>
            </a:r>
            <a:r>
              <a:rPr kumimoji="1" lang="en-US" altLang="ja-JP" dirty="0" smtClean="0"/>
              <a:t>Programming in </a:t>
            </a:r>
            <a:r>
              <a:rPr kumimoji="1" lang="en-US" altLang="ja-JP" dirty="0" err="1" smtClean="0"/>
              <a:t>BiGUL</a:t>
            </a:r>
            <a:endParaRPr kumimoji="1" lang="ja-JP" altLang="en-US" dirty="0"/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872808" cy="1752600"/>
          </a:xfrm>
        </p:spPr>
        <p:txBody>
          <a:bodyPr/>
          <a:lstStyle/>
          <a:p>
            <a:pPr marL="342900" indent="-342900" algn="l">
              <a:buFont typeface="Arial"/>
              <a:buChar char="•"/>
            </a:pPr>
            <a:r>
              <a:rPr kumimoji="1" lang="en-US" altLang="ja-JP" sz="2000" dirty="0" smtClean="0"/>
              <a:t>Full</a:t>
            </a:r>
            <a:r>
              <a:rPr kumimoji="1" lang="ja-JP" altLang="en-US" sz="2000" dirty="0" smtClean="0"/>
              <a:t> </a:t>
            </a:r>
            <a:r>
              <a:rPr lang="en-US" altLang="ja-JP" sz="2000" dirty="0"/>
              <a:t>c</a:t>
            </a:r>
            <a:r>
              <a:rPr kumimoji="1" lang="en-US" altLang="ja-JP" sz="2000" dirty="0" smtClean="0"/>
              <a:t>ontrol</a:t>
            </a:r>
            <a:r>
              <a:rPr kumimoji="1" lang="ja-JP" altLang="en-US" sz="2000" dirty="0" smtClean="0"/>
              <a:t> </a:t>
            </a:r>
            <a:r>
              <a:rPr kumimoji="1" lang="en-US" altLang="ja-JP" sz="2000" dirty="0" smtClean="0"/>
              <a:t>of</a:t>
            </a:r>
            <a:r>
              <a:rPr kumimoji="1" lang="ja-JP" altLang="en-US" sz="2000" dirty="0" smtClean="0"/>
              <a:t> </a:t>
            </a:r>
            <a:r>
              <a:rPr lang="en-US" altLang="ja-JP" sz="2000" dirty="0"/>
              <a:t>b</a:t>
            </a:r>
            <a:r>
              <a:rPr kumimoji="1" lang="en-US" altLang="ja-JP" sz="2000" dirty="0" smtClean="0"/>
              <a:t>idirectional</a:t>
            </a:r>
            <a:r>
              <a:rPr kumimoji="1" lang="ja-JP" altLang="en-US" sz="2000" dirty="0" smtClean="0"/>
              <a:t> </a:t>
            </a:r>
            <a:r>
              <a:rPr lang="en-US" altLang="ja-JP" sz="2000" dirty="0"/>
              <a:t>b</a:t>
            </a:r>
            <a:r>
              <a:rPr kumimoji="1" lang="en-US" altLang="ja-JP" sz="2000" dirty="0" smtClean="0"/>
              <a:t>ehavior</a:t>
            </a:r>
            <a:endParaRPr kumimoji="1" lang="en-US" altLang="ja-JP" sz="2000" dirty="0" smtClean="0"/>
          </a:p>
          <a:p>
            <a:pPr marL="342900" indent="-342900" algn="l">
              <a:buFont typeface="Arial"/>
              <a:buChar char="•"/>
            </a:pPr>
            <a:endParaRPr kumimoji="1" lang="en-US" altLang="ja-JP" sz="2000" dirty="0" smtClean="0"/>
          </a:p>
          <a:p>
            <a:pPr marL="342900" indent="-342900" algn="l">
              <a:buFont typeface="Arial"/>
              <a:buChar char="•"/>
            </a:pPr>
            <a:r>
              <a:rPr lang="en-US" altLang="ja-JP" sz="2000" dirty="0" smtClean="0"/>
              <a:t>Put</a:t>
            </a:r>
            <a:r>
              <a:rPr lang="ja-JP" altLang="en-US" sz="2000" dirty="0" smtClean="0"/>
              <a:t> </a:t>
            </a:r>
            <a:r>
              <a:rPr lang="ja-JP" altLang="ja-JP" sz="2000" dirty="0" smtClean="0"/>
              <a:t>i</a:t>
            </a:r>
            <a:r>
              <a:rPr lang="en-US" altLang="ja-JP" sz="2000" dirty="0" smtClean="0"/>
              <a:t>s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not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that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difficult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to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write</a:t>
            </a:r>
            <a:endParaRPr kumimoji="1" lang="ja-JP" altLang="en-US" sz="20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642254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http</a:t>
            </a:r>
            <a:r>
              <a:rPr lang="en-US" altLang="ja-JP" dirty="0"/>
              <a:t>://</a:t>
            </a:r>
            <a:r>
              <a:rPr lang="en-US" altLang="ja-JP" dirty="0" err="1"/>
              <a:t>www.prg.nii.ac.jp</a:t>
            </a:r>
            <a:r>
              <a:rPr lang="en-US" altLang="ja-JP" dirty="0"/>
              <a:t>/</a:t>
            </a:r>
            <a:r>
              <a:rPr lang="en-US" altLang="ja-JP" dirty="0" err="1"/>
              <a:t>bx</a:t>
            </a:r>
            <a:r>
              <a:rPr lang="en-US" altLang="ja-JP" dirty="0"/>
              <a:t>/</a:t>
            </a:r>
            <a:endParaRPr kumimoji="1" lang="ja-JP" altLang="en-US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/>
          <a:srcRect t="3609" b="3609"/>
          <a:stretch>
            <a:fillRect/>
          </a:stretch>
        </p:blipFill>
        <p:spPr/>
      </p:pic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822790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Installing </a:t>
            </a:r>
            <a:r>
              <a:rPr kumimoji="1" lang="en-US" altLang="ja-JP" dirty="0" err="1" smtClean="0"/>
              <a:t>BiGUL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1. Get the Glasgow Haskell Compiler (GHC) version </a:t>
            </a:r>
            <a:r>
              <a:rPr lang="en-US" altLang="ja-JP" dirty="0">
                <a:solidFill>
                  <a:srgbClr val="FF0000"/>
                </a:solidFill>
              </a:rPr>
              <a:t>7.10.3</a:t>
            </a:r>
            <a:r>
              <a:rPr lang="en-US" altLang="ja-JP" dirty="0"/>
              <a:t>. The </a:t>
            </a:r>
            <a:r>
              <a:rPr lang="en-US" altLang="ja-JP" dirty="0" smtClean="0"/>
              <a:t>easiest way </a:t>
            </a:r>
            <a:r>
              <a:rPr lang="en-US" altLang="ja-JP" dirty="0"/>
              <a:t>is to install the Haskell Platform</a:t>
            </a:r>
            <a:r>
              <a:rPr lang="en-US" altLang="ja-JP" dirty="0" smtClean="0"/>
              <a:t>: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 smtClean="0"/>
              <a:t>      </a:t>
            </a:r>
            <a:r>
              <a:rPr lang="pl-PL" altLang="ja-JP" dirty="0" smtClean="0"/>
              <a:t> </a:t>
            </a:r>
            <a:r>
              <a:rPr lang="pl-PL" altLang="ja-JP" dirty="0"/>
              <a:t> </a:t>
            </a:r>
            <a:r>
              <a:rPr lang="pl-PL" altLang="ja-JP" u="sng" dirty="0">
                <a:hlinkClick r:id="rId2"/>
              </a:rPr>
              <a:t>https://www.haskell.org/platform</a:t>
            </a:r>
            <a:r>
              <a:rPr lang="pl-PL" altLang="ja-JP" u="sng" dirty="0" smtClean="0">
                <a:hlinkClick r:id="rId2"/>
              </a:rPr>
              <a:t>/</a:t>
            </a:r>
            <a:endParaRPr lang="pl-PL" altLang="ja-JP" u="sng" dirty="0" smtClean="0"/>
          </a:p>
          <a:p>
            <a:pPr marL="0" indent="0">
              <a:buNone/>
            </a:pPr>
            <a:endParaRPr kumimoji="1" lang="pl-PL" altLang="ja-JP" u="sng" dirty="0"/>
          </a:p>
          <a:p>
            <a:r>
              <a:rPr lang="en-US" altLang="ja-JP" dirty="0"/>
              <a:t>Use Haskell's default build system "cabal" to install </a:t>
            </a:r>
            <a:r>
              <a:rPr lang="en-US" altLang="ja-JP" dirty="0" err="1"/>
              <a:t>BiGUL</a:t>
            </a:r>
            <a:r>
              <a:rPr lang="en-US" altLang="ja-JP" dirty="0"/>
              <a:t> </a:t>
            </a:r>
            <a:r>
              <a:rPr lang="en-US" altLang="ja-JP" dirty="0" smtClean="0"/>
              <a:t>1.0 (</a:t>
            </a:r>
            <a:r>
              <a:rPr lang="en-US" altLang="ja-JP" dirty="0"/>
              <a:t>as </a:t>
            </a:r>
            <a:r>
              <a:rPr lang="en-US" altLang="ja-JP" dirty="0" smtClean="0"/>
              <a:t>a library</a:t>
            </a:r>
            <a:r>
              <a:rPr lang="en-US" altLang="ja-JP" dirty="0"/>
              <a:t>). Start your terminal and run</a:t>
            </a:r>
          </a:p>
          <a:p>
            <a:pPr marL="0" indent="0">
              <a:buNone/>
            </a:pPr>
            <a:r>
              <a:rPr lang="pl-PL" altLang="ja-JP" dirty="0" smtClean="0"/>
              <a:t>    &gt; </a:t>
            </a:r>
            <a:r>
              <a:rPr lang="pl-PL" altLang="ja-JP" dirty="0"/>
              <a:t> </a:t>
            </a:r>
            <a:r>
              <a:rPr lang="pl-PL" altLang="ja-JP" dirty="0" err="1" smtClean="0"/>
              <a:t>cabal</a:t>
            </a:r>
            <a:r>
              <a:rPr lang="pl-PL" altLang="ja-JP" dirty="0" smtClean="0"/>
              <a:t> </a:t>
            </a:r>
            <a:r>
              <a:rPr lang="pl-PL" altLang="ja-JP" dirty="0" err="1" smtClean="0"/>
              <a:t>update</a:t>
            </a:r>
            <a:endParaRPr lang="pl-PL" altLang="ja-JP" dirty="0"/>
          </a:p>
          <a:p>
            <a:pPr marL="0" indent="0">
              <a:buNone/>
            </a:pPr>
            <a:r>
              <a:rPr lang="pl-PL" altLang="ja-JP" dirty="0"/>
              <a:t> </a:t>
            </a:r>
            <a:r>
              <a:rPr lang="pl-PL" altLang="ja-JP" dirty="0" smtClean="0"/>
              <a:t>   &gt; </a:t>
            </a:r>
            <a:r>
              <a:rPr lang="pl-PL" altLang="ja-JP" dirty="0"/>
              <a:t> </a:t>
            </a:r>
            <a:r>
              <a:rPr lang="pl-PL" altLang="ja-JP" dirty="0" err="1" smtClean="0"/>
              <a:t>cabal</a:t>
            </a:r>
            <a:r>
              <a:rPr lang="pl-PL" altLang="ja-JP" dirty="0" smtClean="0"/>
              <a:t> </a:t>
            </a:r>
            <a:r>
              <a:rPr lang="pl-PL" altLang="ja-JP" dirty="0" err="1"/>
              <a:t>install</a:t>
            </a:r>
            <a:r>
              <a:rPr lang="pl-PL" altLang="ja-JP" dirty="0"/>
              <a:t> </a:t>
            </a:r>
            <a:r>
              <a:rPr lang="pl-PL" altLang="ja-JP" dirty="0" err="1"/>
              <a:t>BiGUL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61960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Test.hs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24</a:t>
            </a:fld>
            <a:endParaRPr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511300"/>
            <a:ext cx="83312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372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6622504" cy="511175"/>
          </a:xfrm>
        </p:spPr>
        <p:txBody>
          <a:bodyPr/>
          <a:lstStyle/>
          <a:p>
            <a:r>
              <a:rPr kumimoji="1" lang="en-US" altLang="ja-JP" dirty="0" smtClean="0"/>
              <a:t>Put and Its Bidirectional Interpretation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en-US" altLang="ja-JP" dirty="0" smtClean="0"/>
              <a:t>A </a:t>
            </a:r>
            <a:r>
              <a:rPr lang="en-US" altLang="ja-JP" dirty="0" err="1" smtClean="0"/>
              <a:t>putback</a:t>
            </a:r>
            <a:r>
              <a:rPr lang="en-US" altLang="ja-JP" dirty="0" smtClean="0"/>
              <a:t> function:</a:t>
            </a:r>
          </a:p>
          <a:p>
            <a:pPr marL="0" indent="0">
              <a:buNone/>
            </a:pPr>
            <a:r>
              <a:rPr lang="en-US" altLang="ja-JP" dirty="0" smtClean="0"/>
              <a:t>        </a:t>
            </a:r>
            <a:r>
              <a:rPr lang="en-US" altLang="ja-JP" sz="3200" dirty="0" err="1" smtClean="0"/>
              <a:t>px</a:t>
            </a:r>
            <a:r>
              <a:rPr lang="en-US" altLang="ja-JP" sz="3200" dirty="0" smtClean="0"/>
              <a:t> :: </a:t>
            </a:r>
            <a:r>
              <a:rPr lang="en-US" altLang="ja-JP" sz="3200" dirty="0" err="1" smtClean="0">
                <a:solidFill>
                  <a:srgbClr val="FF0000"/>
                </a:solidFill>
              </a:rPr>
              <a:t>BiGUL</a:t>
            </a:r>
            <a:r>
              <a:rPr lang="en-US" altLang="ja-JP" sz="3200" dirty="0" smtClean="0"/>
              <a:t> s v</a:t>
            </a:r>
          </a:p>
          <a:p>
            <a:pPr marL="0" indent="0">
              <a:buNone/>
            </a:pPr>
            <a:r>
              <a:rPr lang="en-US" altLang="ja-JP" dirty="0" err="1" smtClean="0"/>
              <a:t>d</a:t>
            </a:r>
            <a:r>
              <a:rPr kumimoji="1" lang="en-US" altLang="ja-JP" dirty="0" err="1" smtClean="0"/>
              <a:t>esrcibes</a:t>
            </a:r>
            <a:r>
              <a:rPr kumimoji="1" lang="en-US" altLang="ja-JP" dirty="0" smtClean="0"/>
              <a:t> how to use </a:t>
            </a:r>
            <a:r>
              <a:rPr lang="en-US" altLang="ja-JP" dirty="0" smtClean="0"/>
              <a:t>the view to update the source.</a:t>
            </a:r>
          </a:p>
          <a:p>
            <a:pPr marL="0" indent="0">
              <a:buNone/>
            </a:pPr>
            <a:endParaRPr lang="en-US" altLang="ja-JP" dirty="0" smtClean="0"/>
          </a:p>
          <a:p>
            <a:r>
              <a:rPr lang="en-US" altLang="ja-JP" dirty="0" smtClean="0"/>
              <a:t>Bidirectional Interpretation:</a:t>
            </a:r>
          </a:p>
          <a:p>
            <a:pPr marL="457200" lvl="1" indent="0">
              <a:buNone/>
            </a:pPr>
            <a:r>
              <a:rPr lang="en-US" altLang="ja-JP" sz="3200" dirty="0" smtClean="0">
                <a:solidFill>
                  <a:srgbClr val="FF0000"/>
                </a:solidFill>
              </a:rPr>
              <a:t>get</a:t>
            </a:r>
            <a:r>
              <a:rPr lang="en-US" altLang="ja-JP" sz="3200" dirty="0" smtClean="0"/>
              <a:t> </a:t>
            </a:r>
            <a:r>
              <a:rPr lang="en-US" altLang="ja-JP" sz="3200" dirty="0" err="1" smtClean="0"/>
              <a:t>px</a:t>
            </a:r>
            <a:r>
              <a:rPr lang="en-US" altLang="ja-JP" sz="3200" dirty="0" smtClean="0"/>
              <a:t> :: s </a:t>
            </a:r>
            <a:r>
              <a:rPr lang="en-US" altLang="ja-JP" sz="3200" dirty="0" smtClean="0">
                <a:sym typeface="Wingdings"/>
              </a:rPr>
              <a:t> </a:t>
            </a:r>
            <a:r>
              <a:rPr lang="en-US" altLang="ja-JP" sz="3200" dirty="0" smtClean="0">
                <a:solidFill>
                  <a:schemeClr val="accent2">
                    <a:lumMod val="75000"/>
                  </a:schemeClr>
                </a:solidFill>
                <a:sym typeface="Wingdings"/>
              </a:rPr>
              <a:t>Maybe</a:t>
            </a:r>
            <a:r>
              <a:rPr lang="en-US" altLang="ja-JP" sz="3200" dirty="0" smtClean="0">
                <a:sym typeface="Wingdings"/>
              </a:rPr>
              <a:t> v</a:t>
            </a:r>
          </a:p>
          <a:p>
            <a:pPr marL="457200" lvl="1" indent="0">
              <a:buNone/>
            </a:pPr>
            <a:r>
              <a:rPr kumimoji="1" lang="en-US" altLang="ja-JP" sz="3200" dirty="0" smtClean="0">
                <a:solidFill>
                  <a:srgbClr val="FF0000"/>
                </a:solidFill>
                <a:sym typeface="Wingdings"/>
              </a:rPr>
              <a:t>put</a:t>
            </a:r>
            <a:r>
              <a:rPr kumimoji="1" lang="en-US" altLang="ja-JP" sz="3200" dirty="0" smtClean="0">
                <a:sym typeface="Wingdings"/>
              </a:rPr>
              <a:t> </a:t>
            </a:r>
            <a:r>
              <a:rPr kumimoji="1" lang="en-US" altLang="ja-JP" sz="3200" dirty="0" err="1" smtClean="0">
                <a:sym typeface="Wingdings"/>
              </a:rPr>
              <a:t>px</a:t>
            </a:r>
            <a:r>
              <a:rPr kumimoji="1" lang="en-US" altLang="ja-JP" sz="3200" dirty="0" smtClean="0">
                <a:sym typeface="Wingdings"/>
              </a:rPr>
              <a:t> :: s  v  </a:t>
            </a:r>
            <a:r>
              <a:rPr kumimoji="1" lang="en-US" altLang="ja-JP" sz="3200" dirty="0" smtClean="0">
                <a:solidFill>
                  <a:srgbClr val="262699"/>
                </a:solidFill>
                <a:sym typeface="Wingdings"/>
              </a:rPr>
              <a:t>Maybe</a:t>
            </a:r>
            <a:r>
              <a:rPr kumimoji="1" lang="en-US" altLang="ja-JP" sz="3200" dirty="0" smtClean="0">
                <a:sym typeface="Wingdings"/>
              </a:rPr>
              <a:t> s</a:t>
            </a:r>
            <a:endParaRPr kumimoji="1" lang="ja-JP" altLang="en-US" sz="32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228153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26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33463" y="1628800"/>
            <a:ext cx="6922913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-- hello: _ &lt;-&gt; Hello!</a:t>
            </a:r>
          </a:p>
          <a:p>
            <a:r>
              <a:rPr lang="en-US" altLang="ja-JP" sz="2000" dirty="0"/>
              <a:t>hello :: Show a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a String</a:t>
            </a:r>
          </a:p>
          <a:p>
            <a:r>
              <a:rPr lang="en-US" altLang="ja-JP" sz="2000" dirty="0"/>
              <a:t>hello = Skip (\_ -&gt; "Hello!")</a:t>
            </a:r>
            <a:endParaRPr kumimoji="1"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33463" y="3140968"/>
            <a:ext cx="6922913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*Main&gt; get hello 1</a:t>
            </a:r>
          </a:p>
          <a:p>
            <a:r>
              <a:rPr lang="en-US" altLang="ja-JP" dirty="0"/>
              <a:t>Just "Hello</a:t>
            </a:r>
            <a:r>
              <a:rPr lang="en-US" altLang="ja-JP" dirty="0" smtClean="0"/>
              <a:t>!”</a:t>
            </a:r>
          </a:p>
          <a:p>
            <a:endParaRPr lang="en-US" altLang="ja-JP" dirty="0"/>
          </a:p>
          <a:p>
            <a:r>
              <a:rPr lang="en-US" altLang="ja-JP" dirty="0"/>
              <a:t>*Main&gt; get hello 2</a:t>
            </a:r>
          </a:p>
          <a:p>
            <a:r>
              <a:rPr lang="en-US" altLang="ja-JP" dirty="0"/>
              <a:t>Just "Hello</a:t>
            </a:r>
            <a:r>
              <a:rPr lang="en-US" altLang="ja-JP" dirty="0" smtClean="0"/>
              <a:t>!”</a:t>
            </a:r>
          </a:p>
          <a:p>
            <a:endParaRPr lang="en-US" altLang="ja-JP" dirty="0"/>
          </a:p>
          <a:p>
            <a:r>
              <a:rPr lang="en-US" altLang="ja-JP" dirty="0"/>
              <a:t>*Main&gt; put hello 2 "Hello!"</a:t>
            </a:r>
          </a:p>
          <a:p>
            <a:r>
              <a:rPr lang="en-US" altLang="ja-JP" dirty="0"/>
              <a:t>Just 2</a:t>
            </a:r>
          </a:p>
          <a:p>
            <a:endParaRPr lang="en-US" altLang="ja-JP" dirty="0" smtClean="0"/>
          </a:p>
          <a:p>
            <a:r>
              <a:rPr lang="en-US" altLang="ja-JP" dirty="0" smtClean="0"/>
              <a:t>*</a:t>
            </a:r>
            <a:r>
              <a:rPr lang="en-US" altLang="ja-JP" dirty="0"/>
              <a:t>Main&gt; put hello 2 "Hello!!!"</a:t>
            </a:r>
          </a:p>
          <a:p>
            <a:r>
              <a:rPr lang="en-US" altLang="ja-JP" dirty="0" smtClean="0"/>
              <a:t>Nothing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892485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A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Quick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Tour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of</a:t>
            </a:r>
            <a:r>
              <a:rPr kumimoji="1" lang="ja-JP" altLang="en-US" dirty="0" smtClean="0"/>
              <a:t> </a:t>
            </a:r>
            <a:r>
              <a:rPr kumimoji="1" lang="en-US" altLang="ja-JP" dirty="0" err="1" smtClean="0"/>
              <a:t>BiGUL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ja-JP" dirty="0" smtClean="0"/>
              <a:t>Skip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dirty="0" smtClean="0"/>
              <a:t>Replace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ja-JP" dirty="0" smtClean="0"/>
              <a:t>Product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dirty="0" smtClean="0"/>
              <a:t>Source/View </a:t>
            </a:r>
            <a:r>
              <a:rPr lang="en-US" altLang="ja-JP" dirty="0" err="1" smtClean="0"/>
              <a:t>Rearragement</a:t>
            </a:r>
            <a:endParaRPr lang="en-US" altLang="ja-JP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ja-JP" dirty="0" smtClean="0"/>
              <a:t>Case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335927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1.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Skip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28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907704" y="1681644"/>
            <a:ext cx="4989984" cy="5232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Skip :: (s </a:t>
            </a:r>
            <a:r>
              <a:rPr kumimoji="1" lang="en-US" altLang="ja-JP" sz="2800" dirty="0" smtClean="0">
                <a:sym typeface="Wingdings"/>
              </a:rPr>
              <a:t> v)  </a:t>
            </a:r>
            <a:r>
              <a:rPr kumimoji="1" lang="en-US" altLang="ja-JP" sz="2800" dirty="0" err="1" smtClean="0">
                <a:sym typeface="Wingdings"/>
              </a:rPr>
              <a:t>BiGUL</a:t>
            </a:r>
            <a:r>
              <a:rPr kumimoji="1" lang="en-US" altLang="ja-JP" sz="2800" dirty="0" smtClean="0">
                <a:sym typeface="Wingdings"/>
              </a:rPr>
              <a:t> s v</a:t>
            </a:r>
            <a:endParaRPr kumimoji="1"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1605207" y="2564904"/>
            <a:ext cx="6120680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*Main&gt; put (Skip square) 10 100</a:t>
            </a:r>
          </a:p>
          <a:p>
            <a:r>
              <a:rPr lang="en-US" altLang="ja-JP" dirty="0"/>
              <a:t>Just </a:t>
            </a:r>
            <a:r>
              <a:rPr lang="en-US" altLang="ja-JP" dirty="0" smtClean="0"/>
              <a:t>10</a:t>
            </a:r>
          </a:p>
          <a:p>
            <a:endParaRPr lang="en-US" altLang="ja-JP" dirty="0"/>
          </a:p>
          <a:p>
            <a:r>
              <a:rPr lang="en-US" altLang="ja-JP" dirty="0"/>
              <a:t>*Main&gt; put (Skip square) 10 250</a:t>
            </a:r>
          </a:p>
          <a:p>
            <a:r>
              <a:rPr lang="en-US" altLang="ja-JP" dirty="0" smtClean="0"/>
              <a:t>Nothing</a:t>
            </a:r>
          </a:p>
          <a:p>
            <a:endParaRPr lang="en-US" altLang="ja-JP" dirty="0"/>
          </a:p>
          <a:p>
            <a:r>
              <a:rPr lang="en-US" altLang="ja-JP" dirty="0"/>
              <a:t>*Main&gt; get (Skip square) 5</a:t>
            </a:r>
          </a:p>
          <a:p>
            <a:r>
              <a:rPr lang="en-US" altLang="ja-JP" dirty="0"/>
              <a:t>Just </a:t>
            </a:r>
            <a:r>
              <a:rPr lang="en-US" altLang="ja-JP" dirty="0" smtClean="0"/>
              <a:t>25</a:t>
            </a:r>
            <a:endParaRPr lang="en-US" altLang="ja-JP" dirty="0"/>
          </a:p>
        </p:txBody>
      </p:sp>
      <p:sp>
        <p:nvSpPr>
          <p:cNvPr id="7" name="正方形/長方形 6"/>
          <p:cNvSpPr/>
          <p:nvPr/>
        </p:nvSpPr>
        <p:spPr>
          <a:xfrm>
            <a:off x="1331640" y="1084674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000" dirty="0" smtClean="0"/>
              <a:t>Disallow any change on the view</a:t>
            </a:r>
            <a:endParaRPr lang="ja-JP" altLang="en-US" sz="2000" dirty="0"/>
          </a:p>
        </p:txBody>
      </p:sp>
      <p:sp>
        <p:nvSpPr>
          <p:cNvPr id="8" name="正方形/長方形 7"/>
          <p:cNvSpPr/>
          <p:nvPr/>
        </p:nvSpPr>
        <p:spPr>
          <a:xfrm>
            <a:off x="2276489" y="5230941"/>
            <a:ext cx="4572000" cy="646331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>
            <a:spAutoFit/>
          </a:bodyPr>
          <a:lstStyle/>
          <a:p>
            <a:r>
              <a:rPr lang="en-US" altLang="ja-JP" dirty="0"/>
              <a:t>skip1 :: </a:t>
            </a:r>
            <a:r>
              <a:rPr lang="en-US" altLang="ja-JP" dirty="0" err="1"/>
              <a:t>BiGUL</a:t>
            </a:r>
            <a:r>
              <a:rPr lang="en-US" altLang="ja-JP" dirty="0"/>
              <a:t> s ()</a:t>
            </a:r>
          </a:p>
          <a:p>
            <a:r>
              <a:rPr lang="en-US" altLang="ja-JP" dirty="0"/>
              <a:t>skip1 = Skip (</a:t>
            </a:r>
            <a:r>
              <a:rPr lang="en-US" altLang="ja-JP" dirty="0" err="1"/>
              <a:t>const</a:t>
            </a:r>
            <a:r>
              <a:rPr lang="en-US" altLang="ja-JP" dirty="0"/>
              <a:t> ())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16298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 smtClean="0"/>
              <a:t>.</a:t>
            </a:r>
            <a:r>
              <a:rPr kumimoji="1" lang="ja-JP" altLang="en-US" dirty="0" smtClean="0"/>
              <a:t> </a:t>
            </a:r>
            <a:r>
              <a:rPr lang="en-US" altLang="ja-JP" dirty="0" smtClean="0"/>
              <a:t>Replace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29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907704" y="1772816"/>
            <a:ext cx="4989984" cy="5232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>
                <a:sym typeface="Wingdings"/>
              </a:rPr>
              <a:t>Replace :: </a:t>
            </a:r>
            <a:r>
              <a:rPr kumimoji="1" lang="en-US" altLang="ja-JP" sz="2800" dirty="0" err="1" smtClean="0">
                <a:sym typeface="Wingdings"/>
              </a:rPr>
              <a:t>BiGUL</a:t>
            </a:r>
            <a:r>
              <a:rPr kumimoji="1" lang="en-US" altLang="ja-JP" sz="2800" dirty="0" smtClean="0">
                <a:sym typeface="Wingdings"/>
              </a:rPr>
              <a:t> s s</a:t>
            </a:r>
            <a:endParaRPr kumimoji="1"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1547664" y="2852936"/>
            <a:ext cx="6120680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*Main&gt; put Replace 1 100</a:t>
            </a:r>
          </a:p>
          <a:p>
            <a:r>
              <a:rPr lang="en-US" altLang="ja-JP" dirty="0"/>
              <a:t>Just </a:t>
            </a:r>
            <a:r>
              <a:rPr lang="en-US" altLang="ja-JP" dirty="0" smtClean="0"/>
              <a:t>100</a:t>
            </a:r>
          </a:p>
          <a:p>
            <a:endParaRPr lang="en-US" altLang="ja-JP" dirty="0" smtClean="0"/>
          </a:p>
          <a:p>
            <a:r>
              <a:rPr lang="en-US" altLang="ja-JP" dirty="0"/>
              <a:t>*Main&gt; put Replace (1,1) (100,200)</a:t>
            </a:r>
          </a:p>
          <a:p>
            <a:r>
              <a:rPr lang="is-IS" altLang="ja-JP" dirty="0"/>
              <a:t>Just (100,200</a:t>
            </a:r>
            <a:r>
              <a:rPr lang="is-IS" altLang="ja-JP" dirty="0" smtClean="0"/>
              <a:t>)</a:t>
            </a:r>
            <a:endParaRPr lang="en-US" altLang="ja-JP" dirty="0"/>
          </a:p>
        </p:txBody>
      </p:sp>
      <p:sp>
        <p:nvSpPr>
          <p:cNvPr id="3" name="正方形/長方形 2"/>
          <p:cNvSpPr/>
          <p:nvPr/>
        </p:nvSpPr>
        <p:spPr>
          <a:xfrm>
            <a:off x="1038451" y="1156682"/>
            <a:ext cx="55822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000" dirty="0"/>
              <a:t>U</a:t>
            </a:r>
            <a:r>
              <a:rPr lang="en-US" altLang="ja-JP" sz="2000" dirty="0" smtClean="0"/>
              <a:t>se </a:t>
            </a:r>
            <a:r>
              <a:rPr lang="en-US" altLang="ja-JP" sz="2000" dirty="0"/>
              <a:t>the view to completely replace the source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74702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3</a:t>
            </a:r>
            <a:r>
              <a:rPr kumimoji="1" lang="en-US" altLang="ja-JP" dirty="0" smtClean="0"/>
              <a:t>.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Prod: Production of two puts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30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547664" y="1484784"/>
            <a:ext cx="5818183" cy="95410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ym typeface="Wingdings"/>
              </a:rPr>
              <a:t>Prod :: </a:t>
            </a:r>
            <a:r>
              <a:rPr lang="en-US" altLang="ja-JP" sz="2800" dirty="0" err="1">
                <a:sym typeface="Wingdings"/>
              </a:rPr>
              <a:t>BiGUL</a:t>
            </a:r>
            <a:r>
              <a:rPr lang="en-US" altLang="ja-JP" sz="2800" dirty="0">
                <a:sym typeface="Wingdings"/>
              </a:rPr>
              <a:t> s1 v1 </a:t>
            </a:r>
            <a:r>
              <a:rPr lang="en-US" altLang="ja-JP" sz="2800" dirty="0" smtClean="0">
                <a:sym typeface="Wingdings"/>
              </a:rPr>
              <a:t> </a:t>
            </a:r>
            <a:r>
              <a:rPr lang="en-US" altLang="ja-JP" sz="2800" dirty="0" err="1">
                <a:sym typeface="Wingdings"/>
              </a:rPr>
              <a:t>BiGUL</a:t>
            </a:r>
            <a:r>
              <a:rPr lang="en-US" altLang="ja-JP" sz="2800" dirty="0">
                <a:sym typeface="Wingdings"/>
              </a:rPr>
              <a:t> s2 v2 </a:t>
            </a:r>
            <a:r>
              <a:rPr lang="en-US" altLang="ja-JP" sz="2800" dirty="0" smtClean="0">
                <a:sym typeface="Wingdings"/>
              </a:rPr>
              <a:t>  </a:t>
            </a:r>
          </a:p>
          <a:p>
            <a:r>
              <a:rPr lang="en-US" altLang="ja-JP" sz="2800" dirty="0">
                <a:sym typeface="Wingdings"/>
              </a:rPr>
              <a:t> </a:t>
            </a:r>
            <a:r>
              <a:rPr lang="en-US" altLang="ja-JP" sz="2800" dirty="0" smtClean="0">
                <a:sym typeface="Wingdings"/>
              </a:rPr>
              <a:t>         </a:t>
            </a:r>
            <a:r>
              <a:rPr lang="en-US" altLang="ja-JP" sz="2800" dirty="0" err="1" smtClean="0">
                <a:sym typeface="Wingdings"/>
              </a:rPr>
              <a:t>BiGUL</a:t>
            </a:r>
            <a:r>
              <a:rPr lang="en-US" altLang="ja-JP" sz="2800" dirty="0" smtClean="0">
                <a:sym typeface="Wingdings"/>
              </a:rPr>
              <a:t> </a:t>
            </a:r>
            <a:r>
              <a:rPr lang="en-US" altLang="ja-JP" sz="2800" dirty="0">
                <a:sym typeface="Wingdings"/>
              </a:rPr>
              <a:t>(s1,s2) (v1,v2)</a:t>
            </a:r>
            <a:endParaRPr kumimoji="1"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1105471" y="3103800"/>
            <a:ext cx="7498977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*Main&gt; put (skip1 `Prod` Replace) (5,1) ((),100)</a:t>
            </a:r>
          </a:p>
          <a:p>
            <a:r>
              <a:rPr lang="en-US" altLang="ja-JP" dirty="0"/>
              <a:t>Just (5,100</a:t>
            </a:r>
            <a:r>
              <a:rPr lang="en-US" altLang="ja-JP" dirty="0" smtClean="0"/>
              <a:t>)</a:t>
            </a:r>
          </a:p>
          <a:p>
            <a:endParaRPr lang="en-US" altLang="ja-JP" dirty="0"/>
          </a:p>
          <a:p>
            <a:r>
              <a:rPr lang="en-US" altLang="ja-JP" dirty="0"/>
              <a:t>*Main&gt; put ((skip1 ‘Prod‘ Replace) ‘Prod‘ Replace) ((5,1),2) (((),100),200) </a:t>
            </a:r>
            <a:endParaRPr lang="en-US" altLang="ja-JP" dirty="0" smtClean="0"/>
          </a:p>
          <a:p>
            <a:r>
              <a:rPr lang="en-US" altLang="ja-JP" dirty="0" smtClean="0"/>
              <a:t>Just </a:t>
            </a:r>
            <a:r>
              <a:rPr lang="en-US" altLang="ja-JP" dirty="0"/>
              <a:t>((5,100),200) </a:t>
            </a:r>
          </a:p>
        </p:txBody>
      </p:sp>
    </p:spTree>
    <p:extLst>
      <p:ext uri="{BB962C8B-B14F-4D97-AF65-F5344CB8AC3E}">
        <p14:creationId xmlns:p14="http://schemas.microsoft.com/office/powerpoint/2010/main" val="41074674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4. Source/View Rearrangements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31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927644" y="1182524"/>
            <a:ext cx="738877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Rearrange the source/view </a:t>
            </a:r>
            <a:r>
              <a:rPr lang="en-US" altLang="ja-JP" sz="2000" dirty="0"/>
              <a:t>through a </a:t>
            </a:r>
            <a:r>
              <a:rPr lang="en-US" altLang="ja-JP" sz="2000" dirty="0">
                <a:solidFill>
                  <a:srgbClr val="FF0000"/>
                </a:solidFill>
              </a:rPr>
              <a:t>natural transformation </a:t>
            </a:r>
            <a:r>
              <a:rPr lang="en-US" altLang="ja-JP" sz="2000" dirty="0"/>
              <a:t>tau to </a:t>
            </a:r>
            <a:r>
              <a:rPr lang="en-US" altLang="ja-JP" dirty="0"/>
              <a:t>make </a:t>
            </a:r>
            <a:r>
              <a:rPr lang="en-US" altLang="ja-JP" dirty="0" smtClean="0"/>
              <a:t>the </a:t>
            </a:r>
            <a:r>
              <a:rPr lang="en-US" altLang="ja-JP" dirty="0"/>
              <a:t>view and the source have the same structure.</a:t>
            </a:r>
            <a:endParaRPr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85800" y="2093947"/>
            <a:ext cx="8206680" cy="120032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>
                <a:sym typeface="Wingdings"/>
              </a:rPr>
              <a:t>$</a:t>
            </a:r>
            <a:r>
              <a:rPr lang="en-US" altLang="ja-JP" sz="2400" dirty="0">
                <a:sym typeface="Wingdings"/>
              </a:rPr>
              <a:t>(</a:t>
            </a:r>
            <a:r>
              <a:rPr lang="en-US" altLang="ja-JP" sz="2400" dirty="0" err="1">
                <a:sym typeface="Wingdings"/>
              </a:rPr>
              <a:t>rearrS</a:t>
            </a:r>
            <a:r>
              <a:rPr lang="en-US" altLang="ja-JP" sz="2400" dirty="0">
                <a:sym typeface="Wingdings"/>
              </a:rPr>
              <a:t> [| tau :: s1 -&gt; s2 |]) :: </a:t>
            </a:r>
            <a:r>
              <a:rPr lang="en-US" altLang="ja-JP" sz="2400" dirty="0" err="1">
                <a:sym typeface="Wingdings"/>
              </a:rPr>
              <a:t>BiGUL</a:t>
            </a:r>
            <a:r>
              <a:rPr lang="en-US" altLang="ja-JP" sz="2400" dirty="0">
                <a:sym typeface="Wingdings"/>
              </a:rPr>
              <a:t> s2 v -&gt; </a:t>
            </a:r>
            <a:r>
              <a:rPr lang="en-US" altLang="ja-JP" sz="2400" dirty="0" err="1">
                <a:sym typeface="Wingdings"/>
              </a:rPr>
              <a:t>BiGUL</a:t>
            </a:r>
            <a:r>
              <a:rPr lang="en-US" altLang="ja-JP" sz="2400" dirty="0">
                <a:sym typeface="Wingdings"/>
              </a:rPr>
              <a:t> s1 </a:t>
            </a:r>
            <a:r>
              <a:rPr lang="en-US" altLang="ja-JP" sz="2400" dirty="0" smtClean="0">
                <a:sym typeface="Wingdings"/>
              </a:rPr>
              <a:t>v</a:t>
            </a:r>
          </a:p>
          <a:p>
            <a:endParaRPr lang="en-US" altLang="ja-JP" sz="2400" dirty="0">
              <a:sym typeface="Wingdings"/>
            </a:endParaRPr>
          </a:p>
          <a:p>
            <a:r>
              <a:rPr lang="en-US" altLang="ja-JP" sz="2400" dirty="0" smtClean="0">
                <a:sym typeface="Wingdings"/>
              </a:rPr>
              <a:t>$</a:t>
            </a:r>
            <a:r>
              <a:rPr lang="en-US" altLang="ja-JP" sz="2400" dirty="0">
                <a:sym typeface="Wingdings"/>
              </a:rPr>
              <a:t>(</a:t>
            </a:r>
            <a:r>
              <a:rPr lang="en-US" altLang="ja-JP" sz="2400" dirty="0" err="1">
                <a:sym typeface="Wingdings"/>
              </a:rPr>
              <a:t>rearrV</a:t>
            </a:r>
            <a:r>
              <a:rPr lang="en-US" altLang="ja-JP" sz="2400" dirty="0">
                <a:sym typeface="Wingdings"/>
              </a:rPr>
              <a:t> [| tau :: v1 -&gt; v2 |]) :: </a:t>
            </a:r>
            <a:r>
              <a:rPr lang="en-US" altLang="ja-JP" sz="2400" dirty="0" err="1">
                <a:sym typeface="Wingdings"/>
              </a:rPr>
              <a:t>BiGUL</a:t>
            </a:r>
            <a:r>
              <a:rPr lang="en-US" altLang="ja-JP" sz="2400" dirty="0">
                <a:sym typeface="Wingdings"/>
              </a:rPr>
              <a:t> s v2 -&gt; </a:t>
            </a:r>
            <a:r>
              <a:rPr lang="en-US" altLang="ja-JP" sz="2400" dirty="0" err="1">
                <a:sym typeface="Wingdings"/>
              </a:rPr>
              <a:t>BiGUL</a:t>
            </a:r>
            <a:r>
              <a:rPr lang="en-US" altLang="ja-JP" sz="2400" dirty="0">
                <a:sym typeface="Wingdings"/>
              </a:rPr>
              <a:t> s v1 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48073" y="3802687"/>
            <a:ext cx="8244407" cy="1754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putPairOverNPair</a:t>
            </a:r>
            <a:r>
              <a:rPr lang="en-US" altLang="ja-JP" dirty="0"/>
              <a:t> :: (Show s1, Show s2) =&gt; </a:t>
            </a:r>
            <a:r>
              <a:rPr lang="en-US" altLang="ja-JP" dirty="0" err="1"/>
              <a:t>BiGUL</a:t>
            </a:r>
            <a:r>
              <a:rPr lang="en-US" altLang="ja-JP" dirty="0"/>
              <a:t> ((s0,s1),s2) (s1,s2)</a:t>
            </a:r>
          </a:p>
          <a:p>
            <a:r>
              <a:rPr lang="en-US" altLang="ja-JP" dirty="0" err="1"/>
              <a:t>putPairOverNPair</a:t>
            </a:r>
            <a:r>
              <a:rPr lang="en-US" altLang="ja-JP" dirty="0"/>
              <a:t> = $(</a:t>
            </a:r>
            <a:r>
              <a:rPr lang="en-US" altLang="ja-JP" dirty="0" err="1"/>
              <a:t>rearrS</a:t>
            </a:r>
            <a:r>
              <a:rPr lang="en-US" altLang="ja-JP" dirty="0"/>
              <a:t> [| </a:t>
            </a:r>
            <a:r>
              <a:rPr lang="en-US" altLang="ja-JP" dirty="0">
                <a:solidFill>
                  <a:srgbClr val="FF0000"/>
                </a:solidFill>
              </a:rPr>
              <a:t>\((s0,s1),s2) -&gt; (s1,s2</a:t>
            </a:r>
            <a:r>
              <a:rPr lang="en-US" altLang="ja-JP" dirty="0"/>
              <a:t>) |]) </a:t>
            </a:r>
            <a:r>
              <a:rPr lang="en-US" altLang="ja-JP" dirty="0" smtClean="0"/>
              <a:t>Replace</a:t>
            </a:r>
          </a:p>
          <a:p>
            <a:endParaRPr lang="en-US" altLang="ja-JP" dirty="0"/>
          </a:p>
          <a:p>
            <a:r>
              <a:rPr lang="en-US" altLang="ja-JP" dirty="0" err="1"/>
              <a:t>putPairOverNPair</a:t>
            </a:r>
            <a:r>
              <a:rPr lang="en-US" altLang="ja-JP" dirty="0"/>
              <a:t>' :: (Show s0, Show s1, Show s2) =&gt; </a:t>
            </a:r>
            <a:r>
              <a:rPr lang="en-US" altLang="ja-JP" dirty="0" err="1"/>
              <a:t>BiGUL</a:t>
            </a:r>
            <a:r>
              <a:rPr lang="en-US" altLang="ja-JP" dirty="0"/>
              <a:t> ((s0,s1),s2) (s1,s2)</a:t>
            </a:r>
          </a:p>
          <a:p>
            <a:r>
              <a:rPr lang="en-US" altLang="ja-JP" dirty="0" err="1"/>
              <a:t>putPairOverNPair</a:t>
            </a:r>
            <a:r>
              <a:rPr lang="en-US" altLang="ja-JP" dirty="0"/>
              <a:t>' =  $(</a:t>
            </a:r>
            <a:r>
              <a:rPr lang="en-US" altLang="ja-JP" dirty="0" err="1"/>
              <a:t>rearrV</a:t>
            </a:r>
            <a:r>
              <a:rPr lang="en-US" altLang="ja-JP" dirty="0"/>
              <a:t> [</a:t>
            </a:r>
            <a:r>
              <a:rPr lang="en-US" altLang="ja-JP" dirty="0">
                <a:solidFill>
                  <a:srgbClr val="FF0000"/>
                </a:solidFill>
              </a:rPr>
              <a:t>| \(v1,v2) -&gt; (((),v1),v2</a:t>
            </a:r>
            <a:r>
              <a:rPr lang="en-US" altLang="ja-JP" dirty="0"/>
              <a:t>) |]) $</a:t>
            </a:r>
          </a:p>
          <a:p>
            <a:r>
              <a:rPr lang="en-US" altLang="ja-JP" dirty="0"/>
              <a:t>                      </a:t>
            </a:r>
            <a:r>
              <a:rPr lang="en-US" altLang="ja-JP" dirty="0" smtClean="0"/>
              <a:t>       </a:t>
            </a:r>
            <a:r>
              <a:rPr lang="en-US" altLang="ja-JP" dirty="0"/>
              <a:t>(skip1 `Prod` Replace) `Prod` </a:t>
            </a:r>
            <a:r>
              <a:rPr lang="en-US" altLang="ja-JP" dirty="0" smtClean="0"/>
              <a:t>Replace</a:t>
            </a:r>
          </a:p>
        </p:txBody>
      </p:sp>
    </p:spTree>
    <p:extLst>
      <p:ext uri="{BB962C8B-B14F-4D97-AF65-F5344CB8AC3E}">
        <p14:creationId xmlns:p14="http://schemas.microsoft.com/office/powerpoint/2010/main" val="16544845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95400"/>
            <a:ext cx="7632700" cy="621432"/>
          </a:xfrm>
        </p:spPr>
        <p:txBody>
          <a:bodyPr/>
          <a:lstStyle/>
          <a:p>
            <a:pPr marL="0" indent="0">
              <a:buNone/>
            </a:pPr>
            <a:r>
              <a:rPr lang="ja-JP" altLang="ja-JP" dirty="0" smtClean="0"/>
              <a:t>A</a:t>
            </a:r>
            <a:r>
              <a:rPr lang="ja-JP" altLang="en-US" dirty="0" smtClean="0"/>
              <a:t> </a:t>
            </a:r>
            <a:r>
              <a:rPr lang="en-US" altLang="ja-JP" dirty="0" smtClean="0"/>
              <a:t>syntactic</a:t>
            </a:r>
            <a:r>
              <a:rPr lang="ja-JP" altLang="en-US" dirty="0" smtClean="0"/>
              <a:t> </a:t>
            </a:r>
            <a:r>
              <a:rPr lang="en-US" altLang="ja-JP" dirty="0" smtClean="0"/>
              <a:t>sugar:</a:t>
            </a:r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/>
              <a:t> </a:t>
            </a:r>
            <a:r>
              <a:rPr lang="en-US" altLang="ja-JP" dirty="0" smtClean="0"/>
              <a:t>  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32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20981" y="2132856"/>
            <a:ext cx="6347363" cy="138499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$(update [p| source-pattern |] </a:t>
            </a:r>
          </a:p>
          <a:p>
            <a:r>
              <a:rPr lang="en-US" altLang="ja-JP" sz="2800" dirty="0"/>
              <a:t>          </a:t>
            </a:r>
            <a:r>
              <a:rPr lang="en-US" altLang="ja-JP" sz="2800" dirty="0" smtClean="0"/>
              <a:t> </a:t>
            </a:r>
            <a:r>
              <a:rPr lang="en-US" altLang="ja-JP" sz="2800" dirty="0"/>
              <a:t>[p| view-pattern |] </a:t>
            </a:r>
          </a:p>
          <a:p>
            <a:r>
              <a:rPr lang="en-US" altLang="ja-JP" sz="2800" dirty="0"/>
              <a:t>          </a:t>
            </a:r>
            <a:r>
              <a:rPr lang="en-US" altLang="ja-JP" sz="2800" dirty="0" smtClean="0"/>
              <a:t> </a:t>
            </a:r>
            <a:r>
              <a:rPr lang="en-US" altLang="ja-JP" sz="2800" dirty="0"/>
              <a:t>[d| updating-strategy |])</a:t>
            </a:r>
            <a:endParaRPr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685800" y="4074869"/>
            <a:ext cx="7990656" cy="1323439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err="1" smtClean="0"/>
              <a:t>putPairOverNPair</a:t>
            </a:r>
            <a:r>
              <a:rPr lang="en-US" altLang="ja-JP" sz="2000" dirty="0" smtClean="0"/>
              <a:t>’’ </a:t>
            </a:r>
            <a:r>
              <a:rPr lang="en-US" altLang="ja-JP" sz="2000" dirty="0"/>
              <a:t>:: (Show s1, Show s2)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((s0,s1),s2) (s1,s2)</a:t>
            </a:r>
          </a:p>
          <a:p>
            <a:r>
              <a:rPr lang="en-US" altLang="ja-JP" sz="2000" dirty="0" err="1" smtClean="0"/>
              <a:t>putPairOverNPair</a:t>
            </a:r>
            <a:r>
              <a:rPr lang="en-US" altLang="ja-JP" sz="2000" dirty="0" smtClean="0"/>
              <a:t>’’ </a:t>
            </a:r>
            <a:r>
              <a:rPr lang="en-US" altLang="ja-JP" sz="2000" dirty="0"/>
              <a:t>= $</a:t>
            </a:r>
            <a:r>
              <a:rPr lang="en-US" altLang="ja-JP" sz="2000" dirty="0" smtClean="0"/>
              <a:t>(update [p| ((_,s1),s2) |] </a:t>
            </a:r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                                 [p| (s1,s2) |]</a:t>
            </a:r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                                 [d| s1 = Replace; s2 = Replace |])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6270345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33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49937" y="1640994"/>
            <a:ext cx="7122463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Exercise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Define </a:t>
            </a:r>
            <a:r>
              <a:rPr lang="en-US" altLang="ja-JP" sz="2000" dirty="0" err="1" smtClean="0"/>
              <a:t>pHead</a:t>
            </a:r>
            <a:r>
              <a:rPr lang="en-US" altLang="ja-JP" sz="2000" dirty="0" smtClean="0"/>
              <a:t> to use the view to replace to first element of </a:t>
            </a:r>
          </a:p>
          <a:p>
            <a:r>
              <a:rPr lang="en-US" altLang="ja-JP" sz="2000" dirty="0" smtClean="0"/>
              <a:t>the source list.</a:t>
            </a:r>
          </a:p>
          <a:p>
            <a:r>
              <a:rPr lang="en-US" altLang="ja-JP" sz="2000" dirty="0" smtClean="0"/>
              <a:t>                           </a:t>
            </a:r>
            <a:r>
              <a:rPr lang="en-US" altLang="ja-JP" sz="2000" dirty="0" err="1" smtClean="0"/>
              <a:t>pHead</a:t>
            </a:r>
            <a:r>
              <a:rPr lang="en-US" altLang="ja-JP" sz="2000" dirty="0" smtClean="0"/>
              <a:t> :: </a:t>
            </a:r>
            <a:r>
              <a:rPr lang="en-US" altLang="ja-JP" sz="2000" dirty="0" err="1" smtClean="0"/>
              <a:t>BiGUL</a:t>
            </a:r>
            <a:r>
              <a:rPr lang="en-US" altLang="ja-JP" sz="2000" dirty="0" smtClean="0"/>
              <a:t> [s] s</a:t>
            </a:r>
            <a:endParaRPr kumimoji="1"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49937" y="3441194"/>
            <a:ext cx="6618407" cy="707886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/>
              <a:t>pHead</a:t>
            </a:r>
            <a:r>
              <a:rPr lang="en-US" altLang="ja-JP" sz="2000" dirty="0"/>
              <a:t> :: Show s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[s] s</a:t>
            </a:r>
          </a:p>
          <a:p>
            <a:r>
              <a:rPr lang="en-US" altLang="ja-JP" sz="2000" dirty="0" err="1"/>
              <a:t>pHead</a:t>
            </a:r>
            <a:r>
              <a:rPr lang="en-US" altLang="ja-JP" sz="2000" dirty="0"/>
              <a:t> =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\(s:_) -&gt; s |]) Replace</a:t>
            </a:r>
            <a:endParaRPr kumimoji="1" lang="ja-JP" altLang="en-US" sz="20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993656" y="4593322"/>
            <a:ext cx="6618407" cy="707886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/>
              <a:t>pHead</a:t>
            </a:r>
            <a:r>
              <a:rPr lang="en-US" altLang="ja-JP" sz="2000" dirty="0"/>
              <a:t> :: Show s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[s] s</a:t>
            </a:r>
          </a:p>
          <a:p>
            <a:r>
              <a:rPr lang="en-US" altLang="ja-JP" sz="2000" dirty="0" err="1"/>
              <a:t>pHead</a:t>
            </a:r>
            <a:r>
              <a:rPr lang="en-US" altLang="ja-JP" sz="2000" dirty="0"/>
              <a:t> = $</a:t>
            </a:r>
            <a:r>
              <a:rPr lang="en-US" altLang="ja-JP" sz="2000" dirty="0" smtClean="0"/>
              <a:t>(update [p| s:_ |] [| s |] [d| s = Replace |]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522307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34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58185" y="1340768"/>
            <a:ext cx="743023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Exercise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Define </a:t>
            </a:r>
            <a:r>
              <a:rPr lang="en-US" altLang="ja-JP" sz="2000" dirty="0" err="1" smtClean="0"/>
              <a:t>pNth</a:t>
            </a:r>
            <a:r>
              <a:rPr lang="en-US" altLang="ja-JP" sz="2000" dirty="0" smtClean="0"/>
              <a:t> to use the view to replace to the</a:t>
            </a:r>
            <a:r>
              <a:rPr lang="ja-JP" altLang="en-US" sz="2000" dirty="0" smtClean="0"/>
              <a:t> </a:t>
            </a:r>
            <a:r>
              <a:rPr lang="en-US" altLang="ja-JP" sz="2000" dirty="0" err="1" smtClean="0"/>
              <a:t>ith</a:t>
            </a:r>
            <a:r>
              <a:rPr lang="en-US" altLang="ja-JP" sz="2000" dirty="0" smtClean="0"/>
              <a:t> element of </a:t>
            </a:r>
          </a:p>
          <a:p>
            <a:r>
              <a:rPr lang="en-US" altLang="ja-JP" sz="2000" dirty="0" smtClean="0"/>
              <a:t>the source list.</a:t>
            </a:r>
          </a:p>
          <a:p>
            <a:r>
              <a:rPr lang="en-US" altLang="ja-JP" sz="2000" dirty="0" smtClean="0"/>
              <a:t>                      </a:t>
            </a:r>
            <a:r>
              <a:rPr lang="en-US" altLang="ja-JP" sz="2000" dirty="0" err="1" smtClean="0"/>
              <a:t>pNth</a:t>
            </a:r>
            <a:r>
              <a:rPr lang="en-US" altLang="ja-JP" sz="2000" dirty="0" smtClean="0"/>
              <a:t> ::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</a:t>
            </a:r>
            <a:r>
              <a:rPr lang="en-US" altLang="ja-JP" sz="2000" dirty="0" smtClean="0">
                <a:sym typeface="Wingdings"/>
              </a:rPr>
              <a:t> </a:t>
            </a:r>
            <a:r>
              <a:rPr lang="en-US" altLang="ja-JP" sz="2000" dirty="0" err="1" smtClean="0"/>
              <a:t>BiGUL</a:t>
            </a:r>
            <a:r>
              <a:rPr lang="en-US" altLang="ja-JP" sz="2000" dirty="0" smtClean="0"/>
              <a:t> [s] s</a:t>
            </a:r>
            <a:endParaRPr kumimoji="1"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958185" y="2996952"/>
            <a:ext cx="6618407" cy="1631216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/>
              <a:t>pNth</a:t>
            </a:r>
            <a:r>
              <a:rPr lang="en-US" altLang="ja-JP" sz="2000" dirty="0"/>
              <a:t> :: Show s =&gt; </a:t>
            </a:r>
            <a:r>
              <a:rPr lang="en-US" altLang="ja-JP" sz="2000" dirty="0" err="1"/>
              <a:t>Int</a:t>
            </a:r>
            <a:r>
              <a:rPr lang="en-US" altLang="ja-JP" sz="2000" dirty="0"/>
              <a:t> -&gt;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[s] s</a:t>
            </a:r>
          </a:p>
          <a:p>
            <a:r>
              <a:rPr lang="en-US" altLang="ja-JP" sz="2000" dirty="0" err="1"/>
              <a:t>pNth</a:t>
            </a:r>
            <a:r>
              <a:rPr lang="en-US" altLang="ja-JP" sz="2000" dirty="0"/>
              <a:t> </a:t>
            </a:r>
            <a:r>
              <a:rPr lang="en-US" altLang="ja-JP" sz="2000" dirty="0" err="1"/>
              <a:t>i</a:t>
            </a:r>
            <a:r>
              <a:rPr lang="en-US" altLang="ja-JP" sz="2000" dirty="0"/>
              <a:t> =  if </a:t>
            </a:r>
            <a:r>
              <a:rPr lang="en-US" altLang="ja-JP" sz="2000" dirty="0" err="1"/>
              <a:t>i</a:t>
            </a:r>
            <a:r>
              <a:rPr lang="en-US" altLang="ja-JP" sz="2000" dirty="0"/>
              <a:t> == 0 then </a:t>
            </a:r>
            <a:r>
              <a:rPr lang="en-US" altLang="ja-JP" sz="2000" dirty="0" err="1"/>
              <a:t>pHead</a:t>
            </a:r>
            <a:endParaRPr lang="en-US" altLang="ja-JP" sz="2000" dirty="0"/>
          </a:p>
          <a:p>
            <a:r>
              <a:rPr lang="en-US" altLang="ja-JP" sz="2000" dirty="0"/>
              <a:t>          else 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\(</a:t>
            </a:r>
            <a:r>
              <a:rPr lang="en-US" altLang="ja-JP" sz="2000" dirty="0" err="1"/>
              <a:t>x:xs</a:t>
            </a:r>
            <a:r>
              <a:rPr lang="en-US" altLang="ja-JP" sz="2000" dirty="0"/>
              <a:t>) -&gt; (</a:t>
            </a:r>
            <a:r>
              <a:rPr lang="en-US" altLang="ja-JP" sz="2000" dirty="0" err="1"/>
              <a:t>x,xs</a:t>
            </a:r>
            <a:r>
              <a:rPr lang="en-US" altLang="ja-JP" sz="2000" dirty="0"/>
              <a:t>) |]) $</a:t>
            </a:r>
          </a:p>
          <a:p>
            <a:r>
              <a:rPr lang="en-US" altLang="ja-JP" sz="2000" dirty="0"/>
              <a:t>                   $(</a:t>
            </a:r>
            <a:r>
              <a:rPr lang="en-US" altLang="ja-JP" sz="2000" dirty="0" err="1"/>
              <a:t>rearrV</a:t>
            </a:r>
            <a:r>
              <a:rPr lang="en-US" altLang="ja-JP" sz="2000" dirty="0"/>
              <a:t> [| \v -&gt; ((), v) |]) $</a:t>
            </a:r>
          </a:p>
          <a:p>
            <a:r>
              <a:rPr lang="en-US" altLang="ja-JP" sz="2000" dirty="0"/>
              <a:t>                      skip1 `Prod` </a:t>
            </a:r>
            <a:r>
              <a:rPr lang="en-US" altLang="ja-JP" sz="2000" dirty="0" err="1"/>
              <a:t>pNth</a:t>
            </a:r>
            <a:r>
              <a:rPr lang="en-US" altLang="ja-JP" sz="2000" dirty="0"/>
              <a:t> (i-1) </a:t>
            </a:r>
            <a:endParaRPr kumimoji="1" lang="ja-JP" altLang="en-US" sz="2000" dirty="0"/>
          </a:p>
        </p:txBody>
      </p:sp>
      <p:sp>
        <p:nvSpPr>
          <p:cNvPr id="8" name="正方形/長方形 7"/>
          <p:cNvSpPr/>
          <p:nvPr/>
        </p:nvSpPr>
        <p:spPr>
          <a:xfrm>
            <a:off x="981199" y="4831992"/>
            <a:ext cx="6595393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*</a:t>
            </a:r>
            <a:r>
              <a:rPr lang="en-US" altLang="ja-JP" dirty="0" err="1"/>
              <a:t>PBasic</a:t>
            </a:r>
            <a:r>
              <a:rPr lang="en-US" altLang="ja-JP" dirty="0"/>
              <a:t>&gt; put (</a:t>
            </a:r>
            <a:r>
              <a:rPr lang="en-US" altLang="ja-JP" dirty="0" err="1"/>
              <a:t>pNth</a:t>
            </a:r>
            <a:r>
              <a:rPr lang="en-US" altLang="ja-JP" dirty="0"/>
              <a:t> 3) [1..10] 100</a:t>
            </a:r>
          </a:p>
          <a:p>
            <a:r>
              <a:rPr lang="en-US" altLang="ja-JP" dirty="0"/>
              <a:t>Just [1,2,3,100,5,6,7,8,9,10</a:t>
            </a:r>
            <a:r>
              <a:rPr lang="en-US" altLang="ja-JP" dirty="0" smtClean="0"/>
              <a:t>]</a:t>
            </a:r>
          </a:p>
          <a:p>
            <a:endParaRPr lang="en-US" altLang="ja-JP" dirty="0"/>
          </a:p>
          <a:p>
            <a:r>
              <a:rPr lang="en-US" altLang="ja-JP" dirty="0"/>
              <a:t>*</a:t>
            </a:r>
            <a:r>
              <a:rPr lang="en-US" altLang="ja-JP" dirty="0" err="1"/>
              <a:t>PBasic</a:t>
            </a:r>
            <a:r>
              <a:rPr lang="en-US" altLang="ja-JP" dirty="0"/>
              <a:t>&gt; get (</a:t>
            </a:r>
            <a:r>
              <a:rPr lang="en-US" altLang="ja-JP" dirty="0" err="1"/>
              <a:t>pNth</a:t>
            </a:r>
            <a:r>
              <a:rPr lang="en-US" altLang="ja-JP" dirty="0"/>
              <a:t> 3) [1..10]</a:t>
            </a:r>
          </a:p>
          <a:p>
            <a:r>
              <a:rPr lang="en-US" altLang="ja-JP" dirty="0"/>
              <a:t>Just 4</a:t>
            </a:r>
          </a:p>
        </p:txBody>
      </p:sp>
    </p:spTree>
    <p:extLst>
      <p:ext uri="{BB962C8B-B14F-4D97-AF65-F5344CB8AC3E}">
        <p14:creationId xmlns:p14="http://schemas.microsoft.com/office/powerpoint/2010/main" val="22589026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5.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Case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35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4016" y="1340768"/>
            <a:ext cx="8820472" cy="34163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 smtClean="0"/>
              <a:t>Case  </a:t>
            </a:r>
            <a:r>
              <a:rPr lang="en-US" altLang="ja-JP" dirty="0"/>
              <a:t>[  </a:t>
            </a:r>
            <a:r>
              <a:rPr lang="en-US" altLang="ja-JP" dirty="0" smtClean="0"/>
              <a:t>$</a:t>
            </a:r>
            <a:r>
              <a:rPr lang="en-US" altLang="ja-JP" dirty="0"/>
              <a:t>(normal </a:t>
            </a:r>
            <a:r>
              <a:rPr lang="en-US" altLang="ja-JP" dirty="0" smtClean="0"/>
              <a:t>  </a:t>
            </a:r>
            <a:r>
              <a:rPr lang="en-US" altLang="ja-JP" dirty="0"/>
              <a:t>[| enteringCond1  :: s -&gt; v -&gt; </a:t>
            </a:r>
            <a:r>
              <a:rPr lang="en-US" altLang="ja-JP" dirty="0" err="1"/>
              <a:t>Bool</a:t>
            </a:r>
            <a:r>
              <a:rPr lang="en-US" altLang="ja-JP" dirty="0"/>
              <a:t> |] [|exitCond1 :: s -&gt; </a:t>
            </a:r>
            <a:r>
              <a:rPr lang="en-US" altLang="ja-JP" dirty="0" err="1"/>
              <a:t>Bool</a:t>
            </a:r>
            <a:r>
              <a:rPr lang="en-US" altLang="ja-JP" dirty="0"/>
              <a:t> |])</a:t>
            </a:r>
          </a:p>
          <a:p>
            <a:r>
              <a:rPr lang="en-US" altLang="ja-JP" dirty="0" smtClean="0"/>
              <a:t>           =</a:t>
            </a:r>
            <a:r>
              <a:rPr lang="en-US" altLang="ja-JP" dirty="0"/>
              <a:t>=&gt; (bx1 :: </a:t>
            </a:r>
            <a:r>
              <a:rPr lang="en-US" altLang="ja-JP" dirty="0" err="1"/>
              <a:t>BiGUL</a:t>
            </a:r>
            <a:r>
              <a:rPr lang="en-US" altLang="ja-JP" dirty="0"/>
              <a:t> s v)</a:t>
            </a:r>
          </a:p>
          <a:p>
            <a:r>
              <a:rPr lang="en-US" altLang="ja-JP" dirty="0"/>
              <a:t> </a:t>
            </a:r>
            <a:r>
              <a:rPr lang="en-US" altLang="ja-JP" dirty="0" smtClean="0"/>
              <a:t>      ,  </a:t>
            </a:r>
            <a:r>
              <a:rPr lang="en-US" altLang="ja-JP" dirty="0"/>
              <a:t>$(adaptive [| enteringCond1' :: s -&gt; v -&gt; </a:t>
            </a:r>
            <a:r>
              <a:rPr lang="en-US" altLang="ja-JP" dirty="0" err="1"/>
              <a:t>Bool</a:t>
            </a:r>
            <a:r>
              <a:rPr lang="en-US" altLang="ja-JP" dirty="0"/>
              <a:t> |]) </a:t>
            </a:r>
          </a:p>
          <a:p>
            <a:r>
              <a:rPr lang="en-US" altLang="ja-JP" dirty="0" smtClean="0"/>
              <a:t>            </a:t>
            </a:r>
            <a:r>
              <a:rPr lang="en-US" altLang="ja-JP" dirty="0"/>
              <a:t>==&gt; (f1 :: s -&gt; v -&gt; s)</a:t>
            </a:r>
          </a:p>
          <a:p>
            <a:r>
              <a:rPr lang="en-US" altLang="ja-JP" dirty="0" smtClean="0"/>
              <a:t>       </a:t>
            </a:r>
            <a:r>
              <a:rPr lang="en-US" altLang="ja-JP" dirty="0"/>
              <a:t>,  ...</a:t>
            </a:r>
          </a:p>
          <a:p>
            <a:r>
              <a:rPr lang="en-US" altLang="ja-JP" dirty="0" smtClean="0"/>
              <a:t>       </a:t>
            </a:r>
            <a:r>
              <a:rPr lang="en-US" altLang="ja-JP" dirty="0"/>
              <a:t>,  $(normal   [| </a:t>
            </a:r>
            <a:r>
              <a:rPr lang="en-US" altLang="ja-JP" dirty="0" err="1"/>
              <a:t>enteringCondn</a:t>
            </a:r>
            <a:r>
              <a:rPr lang="en-US" altLang="ja-JP" dirty="0"/>
              <a:t>  :: s -&gt; v -&gt; </a:t>
            </a:r>
            <a:r>
              <a:rPr lang="en-US" altLang="ja-JP" dirty="0" err="1"/>
              <a:t>Bool</a:t>
            </a:r>
            <a:r>
              <a:rPr lang="en-US" altLang="ja-JP" dirty="0"/>
              <a:t> |] [|exitCond1 :: s -&gt; </a:t>
            </a:r>
            <a:r>
              <a:rPr lang="en-US" altLang="ja-JP" dirty="0" err="1"/>
              <a:t>Bool</a:t>
            </a:r>
            <a:r>
              <a:rPr lang="en-US" altLang="ja-JP" dirty="0"/>
              <a:t> |]) </a:t>
            </a:r>
          </a:p>
          <a:p>
            <a:r>
              <a:rPr lang="en-US" altLang="ja-JP" dirty="0" smtClean="0"/>
              <a:t>            </a:t>
            </a:r>
            <a:r>
              <a:rPr lang="en-US" altLang="ja-JP" dirty="0"/>
              <a:t>==&gt; (</a:t>
            </a:r>
            <a:r>
              <a:rPr lang="en-US" altLang="ja-JP" dirty="0" err="1"/>
              <a:t>bxn</a:t>
            </a:r>
            <a:r>
              <a:rPr lang="en-US" altLang="ja-JP" dirty="0"/>
              <a:t> :: </a:t>
            </a:r>
            <a:r>
              <a:rPr lang="en-US" altLang="ja-JP" dirty="0" err="1"/>
              <a:t>BiGUL</a:t>
            </a:r>
            <a:r>
              <a:rPr lang="en-US" altLang="ja-JP" dirty="0"/>
              <a:t> s v)</a:t>
            </a:r>
          </a:p>
          <a:p>
            <a:r>
              <a:rPr lang="en-US" altLang="ja-JP" dirty="0" smtClean="0"/>
              <a:t>       </a:t>
            </a:r>
            <a:r>
              <a:rPr lang="en-US" altLang="ja-JP" dirty="0"/>
              <a:t>,  ...</a:t>
            </a:r>
          </a:p>
          <a:p>
            <a:r>
              <a:rPr lang="en-US" altLang="ja-JP" dirty="0" smtClean="0"/>
              <a:t>       </a:t>
            </a:r>
            <a:r>
              <a:rPr lang="en-US" altLang="ja-JP" dirty="0"/>
              <a:t>,  $(adaptive [| </a:t>
            </a:r>
            <a:r>
              <a:rPr lang="en-US" altLang="ja-JP" dirty="0" err="1"/>
              <a:t>enteringCondm</a:t>
            </a:r>
            <a:r>
              <a:rPr lang="en-US" altLang="ja-JP" dirty="0"/>
              <a:t>' :: s -&gt; v -&gt; </a:t>
            </a:r>
            <a:r>
              <a:rPr lang="en-US" altLang="ja-JP" dirty="0" err="1"/>
              <a:t>Bool</a:t>
            </a:r>
            <a:r>
              <a:rPr lang="en-US" altLang="ja-JP" dirty="0"/>
              <a:t> |]) </a:t>
            </a:r>
          </a:p>
          <a:p>
            <a:r>
              <a:rPr lang="en-US" altLang="ja-JP" dirty="0" smtClean="0"/>
              <a:t>            </a:t>
            </a:r>
            <a:r>
              <a:rPr lang="en-US" altLang="ja-JP" dirty="0"/>
              <a:t>==&gt; (</a:t>
            </a:r>
            <a:r>
              <a:rPr lang="en-US" altLang="ja-JP" dirty="0" err="1"/>
              <a:t>fm</a:t>
            </a:r>
            <a:r>
              <a:rPr lang="en-US" altLang="ja-JP" dirty="0"/>
              <a:t> :: s -&gt; v -&gt; s)</a:t>
            </a:r>
          </a:p>
          <a:p>
            <a:r>
              <a:rPr lang="en-US" altLang="ja-JP" dirty="0" smtClean="0"/>
              <a:t>       </a:t>
            </a:r>
            <a:r>
              <a:rPr lang="en-US" altLang="ja-JP" dirty="0"/>
              <a:t>]</a:t>
            </a:r>
          </a:p>
          <a:p>
            <a:r>
              <a:rPr lang="en-US" altLang="ja-JP" dirty="0" smtClean="0"/>
              <a:t>    </a:t>
            </a:r>
            <a:r>
              <a:rPr lang="en-US" altLang="ja-JP" dirty="0"/>
              <a:t>:: </a:t>
            </a:r>
            <a:r>
              <a:rPr lang="en-US" altLang="ja-JP" dirty="0" err="1"/>
              <a:t>BiGUL</a:t>
            </a:r>
            <a:r>
              <a:rPr lang="en-US" altLang="ja-JP" dirty="0"/>
              <a:t> s v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569026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36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265961" y="1568986"/>
            <a:ext cx="6618407" cy="707886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/>
              <a:t>pHead</a:t>
            </a:r>
            <a:r>
              <a:rPr lang="en-US" altLang="ja-JP" sz="2000" dirty="0"/>
              <a:t> :: Show s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[s] s</a:t>
            </a:r>
          </a:p>
          <a:p>
            <a:r>
              <a:rPr lang="en-US" altLang="ja-JP" sz="2000" dirty="0" err="1"/>
              <a:t>pHead</a:t>
            </a:r>
            <a:r>
              <a:rPr lang="en-US" altLang="ja-JP" sz="2000" dirty="0"/>
              <a:t> =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\(s:_) -&gt; s |]) Replace</a:t>
            </a:r>
            <a:endParaRPr kumimoji="1"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58053" y="3356992"/>
            <a:ext cx="7330371" cy="2246769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/>
              <a:t>repHead</a:t>
            </a:r>
            <a:r>
              <a:rPr lang="en-US" altLang="ja-JP" sz="2000" dirty="0"/>
              <a:t> ::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</a:t>
            </a:r>
            <a:r>
              <a:rPr lang="en-US" altLang="ja-JP" sz="2000" dirty="0" err="1"/>
              <a:t>Int</a:t>
            </a:r>
            <a:r>
              <a:rPr lang="en-US" altLang="ja-JP" sz="2000" dirty="0"/>
              <a:t>] </a:t>
            </a:r>
            <a:r>
              <a:rPr lang="en-US" altLang="ja-JP" sz="2000" dirty="0" err="1"/>
              <a:t>Int</a:t>
            </a:r>
            <a:endParaRPr lang="en-US" altLang="ja-JP" sz="2000" dirty="0"/>
          </a:p>
          <a:p>
            <a:r>
              <a:rPr lang="en-US" altLang="ja-JP" sz="2000" dirty="0" err="1"/>
              <a:t>repHead</a:t>
            </a:r>
            <a:r>
              <a:rPr lang="en-US" altLang="ja-JP" sz="2000" dirty="0"/>
              <a:t> = Case [</a:t>
            </a:r>
          </a:p>
          <a:p>
            <a:r>
              <a:rPr lang="en-US" altLang="ja-JP" sz="2000" dirty="0"/>
              <a:t>  $(normal [| \s v -&gt; length s &gt; 0 |] [| \s -&gt; length s &gt; 0 |])</a:t>
            </a:r>
          </a:p>
          <a:p>
            <a:r>
              <a:rPr lang="en-US" altLang="ja-JP" sz="2000" dirty="0"/>
              <a:t>    ==&gt;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\(</a:t>
            </a:r>
            <a:r>
              <a:rPr lang="en-US" altLang="ja-JP" sz="2000" dirty="0" smtClean="0"/>
              <a:t>x:_) </a:t>
            </a:r>
            <a:r>
              <a:rPr lang="en-US" altLang="ja-JP" sz="2000" dirty="0"/>
              <a:t>-&gt; x |]) Replace,</a:t>
            </a:r>
          </a:p>
          <a:p>
            <a:r>
              <a:rPr lang="en-US" altLang="ja-JP" sz="2000" dirty="0"/>
              <a:t>  $(adaptive [| \s v -&gt; length s == 0 |])</a:t>
            </a:r>
          </a:p>
          <a:p>
            <a:r>
              <a:rPr lang="en-US" altLang="ja-JP" sz="2000" dirty="0"/>
              <a:t>    ==&gt; \s v -&gt; [0]</a:t>
            </a:r>
          </a:p>
          <a:p>
            <a:r>
              <a:rPr lang="en-US" altLang="ja-JP" sz="2000" dirty="0"/>
              <a:t> ]</a:t>
            </a:r>
            <a:endParaRPr kumimoji="1" lang="ja-JP" altLang="en-US" sz="2000" dirty="0"/>
          </a:p>
        </p:txBody>
      </p:sp>
      <p:sp>
        <p:nvSpPr>
          <p:cNvPr id="7" name="下矢印 6"/>
          <p:cNvSpPr/>
          <p:nvPr/>
        </p:nvSpPr>
        <p:spPr bwMode="auto">
          <a:xfrm>
            <a:off x="4211960" y="2564904"/>
            <a:ext cx="648072" cy="504056"/>
          </a:xfrm>
          <a:prstGeom prst="downArrow">
            <a:avLst/>
          </a:prstGeom>
          <a:solidFill>
            <a:srgbClr val="003366"/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26867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55576" y="1268760"/>
            <a:ext cx="7632700" cy="134151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ja-JP" b="1" dirty="0" smtClean="0"/>
              <a:t>Exercise</a:t>
            </a:r>
          </a:p>
          <a:p>
            <a:pPr marL="0" indent="0">
              <a:buNone/>
            </a:pPr>
            <a:r>
              <a:rPr lang="en-US" altLang="ja-JP" dirty="0" smtClean="0"/>
              <a:t>Define a safe embedding of a </a:t>
            </a:r>
            <a:r>
              <a:rPr lang="en-US" altLang="ja-JP" dirty="0"/>
              <a:t>pair of well-</a:t>
            </a:r>
            <a:r>
              <a:rPr lang="en-US" altLang="ja-JP" dirty="0" smtClean="0"/>
              <a:t>behaved get </a:t>
            </a:r>
            <a:r>
              <a:rPr lang="en-US" altLang="ja-JP" dirty="0"/>
              <a:t>and </a:t>
            </a:r>
            <a:r>
              <a:rPr lang="en-US" altLang="ja-JP" dirty="0" smtClean="0"/>
              <a:t>put as </a:t>
            </a:r>
            <a:r>
              <a:rPr lang="en-US" altLang="ja-JP" dirty="0"/>
              <a:t>a </a:t>
            </a:r>
            <a:r>
              <a:rPr lang="en-US" altLang="ja-JP" dirty="0" err="1" smtClean="0"/>
              <a:t>putback</a:t>
            </a:r>
            <a:r>
              <a:rPr lang="en-US" altLang="ja-JP" dirty="0" smtClean="0"/>
              <a:t> transformation.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37</a:t>
            </a:fld>
            <a:endParaRPr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827584" y="2888937"/>
            <a:ext cx="7128644" cy="1908215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 smtClean="0"/>
              <a:t>emb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:: </a:t>
            </a:r>
            <a:r>
              <a:rPr lang="en-US" altLang="ja-JP" sz="2000" dirty="0" err="1"/>
              <a:t>Eq</a:t>
            </a:r>
            <a:r>
              <a:rPr lang="en-US" altLang="ja-JP" sz="2000" dirty="0"/>
              <a:t> v =&gt; (s -&gt; v) -&gt; (s -&gt; v -&gt; s) -&gt;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s v</a:t>
            </a:r>
          </a:p>
          <a:p>
            <a:r>
              <a:rPr lang="en-US" altLang="ja-JP" sz="2000" dirty="0" err="1" smtClean="0"/>
              <a:t>emb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g p = </a:t>
            </a:r>
            <a:r>
              <a:rPr lang="en-US" altLang="ja-JP" sz="2000" dirty="0" smtClean="0"/>
              <a:t>Case </a:t>
            </a:r>
            <a:r>
              <a:rPr lang="en-US" altLang="ja-JP" sz="2000" dirty="0"/>
              <a:t>[ $(normal [| \s v -&gt; g s == v |] [p| _ |])</a:t>
            </a:r>
          </a:p>
          <a:p>
            <a:r>
              <a:rPr lang="en-US" altLang="ja-JP" sz="2000" dirty="0" smtClean="0"/>
              <a:t>                        =</a:t>
            </a:r>
            <a:r>
              <a:rPr lang="en-US" altLang="ja-JP" sz="2000" dirty="0"/>
              <a:t>=&gt; Skip g</a:t>
            </a:r>
          </a:p>
          <a:p>
            <a:r>
              <a:rPr lang="en-US" altLang="ja-JP" sz="2000" dirty="0" smtClean="0"/>
              <a:t>                   </a:t>
            </a:r>
            <a:r>
              <a:rPr lang="en-US" altLang="ja-JP" sz="2000" dirty="0"/>
              <a:t>, $(adaptive [| \s v -&gt; {- g s /= v -} True |])</a:t>
            </a:r>
          </a:p>
          <a:p>
            <a:r>
              <a:rPr lang="en-US" altLang="ja-JP" sz="2000" dirty="0" smtClean="0"/>
              <a:t>                        =</a:t>
            </a:r>
            <a:r>
              <a:rPr lang="en-US" altLang="ja-JP" sz="2000" dirty="0"/>
              <a:t>=&gt; p</a:t>
            </a:r>
          </a:p>
          <a:p>
            <a:r>
              <a:rPr lang="en-US" altLang="ja-JP" dirty="0" smtClean="0"/>
              <a:t>                     ]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/>
        </p:nvSpPr>
        <p:spPr>
          <a:xfrm>
            <a:off x="827584" y="5085184"/>
            <a:ext cx="7128644" cy="923330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 err="1"/>
              <a:t>distSum</a:t>
            </a:r>
            <a:r>
              <a:rPr lang="en-US" altLang="ja-JP" dirty="0"/>
              <a:t> :: </a:t>
            </a:r>
            <a:r>
              <a:rPr lang="en-US" altLang="ja-JP" dirty="0" err="1"/>
              <a:t>BiGUL</a:t>
            </a:r>
            <a:r>
              <a:rPr lang="en-US" altLang="ja-JP" dirty="0"/>
              <a:t> (</a:t>
            </a:r>
            <a:r>
              <a:rPr lang="en-US" altLang="ja-JP" dirty="0" err="1"/>
              <a:t>Int</a:t>
            </a:r>
            <a:r>
              <a:rPr lang="en-US" altLang="ja-JP" dirty="0"/>
              <a:t>, </a:t>
            </a:r>
            <a:r>
              <a:rPr lang="en-US" altLang="ja-JP" dirty="0" err="1"/>
              <a:t>Int</a:t>
            </a:r>
            <a:r>
              <a:rPr lang="en-US" altLang="ja-JP" dirty="0"/>
              <a:t>) </a:t>
            </a:r>
            <a:r>
              <a:rPr lang="en-US" altLang="ja-JP" dirty="0" err="1"/>
              <a:t>Int</a:t>
            </a:r>
            <a:endParaRPr lang="en-US" altLang="ja-JP" dirty="0"/>
          </a:p>
          <a:p>
            <a:r>
              <a:rPr lang="en-US" altLang="ja-JP" dirty="0" err="1"/>
              <a:t>distSum</a:t>
            </a:r>
            <a:r>
              <a:rPr lang="en-US" altLang="ja-JP" dirty="0"/>
              <a:t> = </a:t>
            </a:r>
            <a:r>
              <a:rPr lang="en-US" altLang="ja-JP" dirty="0" err="1"/>
              <a:t>emb</a:t>
            </a:r>
            <a:r>
              <a:rPr lang="en-US" altLang="ja-JP" dirty="0"/>
              <a:t> g p</a:t>
            </a:r>
          </a:p>
          <a:p>
            <a:r>
              <a:rPr lang="en-US" altLang="ja-JP" dirty="0"/>
              <a:t>  where  g (</a:t>
            </a:r>
            <a:r>
              <a:rPr lang="en-US" altLang="ja-JP" dirty="0" err="1"/>
              <a:t>x,y</a:t>
            </a:r>
            <a:r>
              <a:rPr lang="en-US" altLang="ja-JP" dirty="0"/>
              <a:t>) = </a:t>
            </a:r>
            <a:r>
              <a:rPr lang="en-US" altLang="ja-JP" dirty="0" err="1"/>
              <a:t>x+</a:t>
            </a:r>
            <a:r>
              <a:rPr lang="en-US" altLang="ja-JP" dirty="0" err="1" smtClean="0"/>
              <a:t>y</a:t>
            </a:r>
            <a:r>
              <a:rPr lang="en-US" altLang="ja-JP" dirty="0" smtClean="0"/>
              <a:t>;  p </a:t>
            </a:r>
            <a:r>
              <a:rPr lang="en-US" altLang="ja-JP" dirty="0"/>
              <a:t>(</a:t>
            </a:r>
            <a:r>
              <a:rPr lang="en-US" altLang="ja-JP" dirty="0" err="1"/>
              <a:t>x,y</a:t>
            </a:r>
            <a:r>
              <a:rPr lang="en-US" altLang="ja-JP" dirty="0"/>
              <a:t>) v = (v-</a:t>
            </a:r>
            <a:r>
              <a:rPr lang="en-US" altLang="ja-JP" dirty="0" err="1"/>
              <a:t>y,y</a:t>
            </a:r>
            <a:r>
              <a:rPr lang="en-US" altLang="ja-JP" dirty="0"/>
              <a:t>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994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Bidirectionalization</a:t>
            </a:r>
            <a:r>
              <a:rPr kumimoji="1" lang="en-US" altLang="ja-JP" dirty="0" smtClean="0"/>
              <a:t> of Functions on Lists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402997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Foldr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Foldr</a:t>
            </a:r>
            <a:r>
              <a:rPr kumimoji="1" lang="en-US" altLang="ja-JP" dirty="0" smtClean="0"/>
              <a:t> is one of the important higher order functions for defining useful functions on lists:</a:t>
            </a:r>
          </a:p>
          <a:p>
            <a:endParaRPr lang="en-US" altLang="ja-JP" dirty="0"/>
          </a:p>
          <a:p>
            <a:pPr marL="457200" lvl="1" indent="0">
              <a:buNone/>
            </a:pPr>
            <a:r>
              <a:rPr lang="en-US" altLang="ja-JP" dirty="0" smtClean="0"/>
              <a:t>  </a:t>
            </a:r>
            <a:r>
              <a:rPr lang="en-US" altLang="ja-JP" dirty="0" err="1" smtClean="0"/>
              <a:t>foldr</a:t>
            </a:r>
            <a:r>
              <a:rPr lang="en-US" altLang="ja-JP" dirty="0" smtClean="0"/>
              <a:t> </a:t>
            </a:r>
            <a:r>
              <a:rPr lang="en-US" altLang="ja-JP" dirty="0"/>
              <a:t>f e []      = </a:t>
            </a:r>
            <a:r>
              <a:rPr lang="en-US" altLang="ja-JP" dirty="0" smtClean="0"/>
              <a:t>e  </a:t>
            </a:r>
            <a:endParaRPr lang="en-US" altLang="ja-JP" dirty="0"/>
          </a:p>
          <a:p>
            <a:pPr marL="457200" lvl="1" indent="0">
              <a:buNone/>
            </a:pPr>
            <a:r>
              <a:rPr lang="en-US" altLang="ja-JP" dirty="0" smtClean="0"/>
              <a:t>  </a:t>
            </a:r>
            <a:r>
              <a:rPr lang="en-US" altLang="ja-JP" dirty="0" err="1" smtClean="0"/>
              <a:t>foldr</a:t>
            </a:r>
            <a:r>
              <a:rPr lang="en-US" altLang="ja-JP" dirty="0" smtClean="0"/>
              <a:t> </a:t>
            </a:r>
            <a:r>
              <a:rPr lang="en-US" altLang="ja-JP" dirty="0"/>
              <a:t>f e (</a:t>
            </a:r>
            <a:r>
              <a:rPr lang="en-US" altLang="ja-JP" dirty="0" err="1"/>
              <a:t>x:xs</a:t>
            </a:r>
            <a:r>
              <a:rPr lang="en-US" altLang="ja-JP" dirty="0"/>
              <a:t>)  = f x (</a:t>
            </a:r>
            <a:r>
              <a:rPr lang="en-US" altLang="ja-JP" dirty="0" err="1"/>
              <a:t>foldr</a:t>
            </a:r>
            <a:r>
              <a:rPr lang="en-US" altLang="ja-JP" dirty="0"/>
              <a:t> f e </a:t>
            </a:r>
            <a:r>
              <a:rPr lang="en-US" altLang="ja-JP" dirty="0" err="1"/>
              <a:t>xs</a:t>
            </a:r>
            <a:r>
              <a:rPr lang="en-US" altLang="ja-JP" dirty="0" smtClean="0"/>
              <a:t>)</a:t>
            </a:r>
          </a:p>
          <a:p>
            <a:endParaRPr kumimoji="1" lang="en-US" altLang="ja-JP" dirty="0" smtClean="0"/>
          </a:p>
          <a:p>
            <a:r>
              <a:rPr lang="en-US" altLang="ja-JP" dirty="0" smtClean="0"/>
              <a:t>Examples:</a:t>
            </a:r>
          </a:p>
          <a:p>
            <a:pPr lvl="1"/>
            <a:r>
              <a:rPr lang="en-US" altLang="ja-JP" dirty="0" smtClean="0"/>
              <a:t>sum </a:t>
            </a:r>
            <a:r>
              <a:rPr lang="en-US" altLang="ja-JP" dirty="0"/>
              <a:t>= </a:t>
            </a:r>
            <a:r>
              <a:rPr lang="en-US" altLang="ja-JP" dirty="0" err="1"/>
              <a:t>foldr</a:t>
            </a:r>
            <a:r>
              <a:rPr lang="en-US" altLang="ja-JP" dirty="0"/>
              <a:t> (+) 0</a:t>
            </a:r>
          </a:p>
          <a:p>
            <a:pPr lvl="1"/>
            <a:r>
              <a:rPr lang="en-US" altLang="ja-JP" dirty="0" smtClean="0"/>
              <a:t>map </a:t>
            </a:r>
            <a:r>
              <a:rPr lang="en-US" altLang="ja-JP" dirty="0"/>
              <a:t>f = </a:t>
            </a:r>
            <a:r>
              <a:rPr lang="en-US" altLang="ja-JP" dirty="0" err="1"/>
              <a:t>foldr</a:t>
            </a:r>
            <a:r>
              <a:rPr lang="en-US" altLang="ja-JP" dirty="0"/>
              <a:t> (\a r -&gt; f a : r) [</a:t>
            </a:r>
            <a:r>
              <a:rPr lang="en-US" altLang="ja-JP" dirty="0" smtClean="0"/>
              <a:t>]</a:t>
            </a:r>
          </a:p>
          <a:p>
            <a:pPr lvl="1"/>
            <a:r>
              <a:rPr lang="de-DE" altLang="ja-JP" dirty="0" err="1" smtClean="0"/>
              <a:t>reverse</a:t>
            </a:r>
            <a:r>
              <a:rPr lang="de-DE" altLang="ja-JP" dirty="0" smtClean="0"/>
              <a:t> </a:t>
            </a:r>
            <a:r>
              <a:rPr lang="de-DE" altLang="ja-JP" dirty="0"/>
              <a:t>p = </a:t>
            </a:r>
            <a:r>
              <a:rPr lang="de-DE" altLang="ja-JP" dirty="0" err="1"/>
              <a:t>foldr</a:t>
            </a:r>
            <a:r>
              <a:rPr lang="de-DE" altLang="ja-JP" dirty="0"/>
              <a:t> (\a </a:t>
            </a:r>
            <a:r>
              <a:rPr lang="de-DE" altLang="ja-JP" dirty="0" err="1"/>
              <a:t>r</a:t>
            </a:r>
            <a:r>
              <a:rPr lang="de-DE" altLang="ja-JP" dirty="0"/>
              <a:t> -&gt; </a:t>
            </a:r>
            <a:r>
              <a:rPr lang="de-DE" altLang="ja-JP" dirty="0" err="1"/>
              <a:t>r</a:t>
            </a:r>
            <a:r>
              <a:rPr lang="de-DE" altLang="ja-JP" dirty="0"/>
              <a:t> ++ [a]) []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892357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lensFoldr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40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27584" y="1556792"/>
            <a:ext cx="7886539" cy="3785652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lensFoldr</a:t>
            </a:r>
            <a:r>
              <a:rPr lang="en-US" altLang="ja-JP" sz="2000" dirty="0"/>
              <a:t> :: (Show a, Show b) </a:t>
            </a:r>
            <a:endParaRPr lang="en-US" altLang="ja-JP" sz="2000" dirty="0" smtClean="0"/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        =</a:t>
            </a:r>
            <a:r>
              <a:rPr lang="en-US" altLang="ja-JP" sz="2000" dirty="0"/>
              <a:t>&gt; </a:t>
            </a:r>
            <a:r>
              <a:rPr lang="en-US" altLang="ja-JP" sz="2000" dirty="0" err="1" smtClean="0"/>
              <a:t>BiGUL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(a, b) b -&gt; (b-&gt;</a:t>
            </a:r>
            <a:r>
              <a:rPr lang="en-US" altLang="ja-JP" sz="2000" dirty="0" err="1"/>
              <a:t>Bool</a:t>
            </a:r>
            <a:r>
              <a:rPr lang="en-US" altLang="ja-JP" sz="2000" dirty="0"/>
              <a:t>) -&gt;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([a], b) b</a:t>
            </a:r>
          </a:p>
          <a:p>
            <a:r>
              <a:rPr lang="en-US" altLang="ja-JP" sz="2000" dirty="0" err="1"/>
              <a:t>lensFoldr</a:t>
            </a:r>
            <a:r>
              <a:rPr lang="en-US" altLang="ja-JP" sz="2000" dirty="0"/>
              <a:t> </a:t>
            </a:r>
            <a:r>
              <a:rPr lang="en-US" altLang="ja-JP" sz="2000" dirty="0" err="1"/>
              <a:t>bx</a:t>
            </a:r>
            <a:r>
              <a:rPr lang="en-US" altLang="ja-JP" sz="2000" dirty="0"/>
              <a:t> </a:t>
            </a:r>
            <a:r>
              <a:rPr lang="en-US" altLang="ja-JP" sz="2000" dirty="0" err="1"/>
              <a:t>pv</a:t>
            </a:r>
            <a:r>
              <a:rPr lang="en-US" altLang="ja-JP" sz="2000" dirty="0"/>
              <a:t> =</a:t>
            </a:r>
          </a:p>
          <a:p>
            <a:r>
              <a:rPr lang="en-US" altLang="ja-JP" sz="2000" dirty="0"/>
              <a:t>  Case  [  $(adaptive [| \</a:t>
            </a:r>
            <a:r>
              <a:rPr lang="en-US" altLang="ja-JP" sz="2000" dirty="0" smtClean="0"/>
              <a:t>(</a:t>
            </a:r>
            <a:r>
              <a:rPr lang="en-US" altLang="ja-JP" sz="2000" dirty="0" smtClean="0"/>
              <a:t>s</a:t>
            </a:r>
            <a:r>
              <a:rPr lang="en-US" altLang="ja-JP" sz="2000" dirty="0" smtClean="0"/>
              <a:t>,</a:t>
            </a:r>
            <a:r>
              <a:rPr lang="en-US" altLang="ja-JP" sz="2000" dirty="0"/>
              <a:t>?</a:t>
            </a:r>
            <a:r>
              <a:rPr lang="en-US" altLang="ja-JP" sz="2000" dirty="0" smtClean="0"/>
              <a:t>) </a:t>
            </a:r>
            <a:r>
              <a:rPr lang="en-US" altLang="ja-JP" sz="2000" dirty="0"/>
              <a:t>v -&gt; </a:t>
            </a:r>
            <a:r>
              <a:rPr lang="en-US" altLang="ja-JP" sz="2000" dirty="0" err="1"/>
              <a:t>pv</a:t>
            </a:r>
            <a:r>
              <a:rPr lang="en-US" altLang="ja-JP" sz="2000" dirty="0"/>
              <a:t> v &amp;&amp; length </a:t>
            </a:r>
            <a:r>
              <a:rPr lang="en-US" altLang="ja-JP" sz="2000" dirty="0" smtClean="0"/>
              <a:t>s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/= 0 |]) </a:t>
            </a:r>
          </a:p>
          <a:p>
            <a:r>
              <a:rPr lang="en-US" altLang="ja-JP" sz="2000" dirty="0"/>
              <a:t>             ==&gt; \</a:t>
            </a:r>
            <a:r>
              <a:rPr lang="en-US" altLang="ja-JP" sz="2000" dirty="0" smtClean="0"/>
              <a:t>(</a:t>
            </a:r>
            <a:r>
              <a:rPr lang="en-US" altLang="ja-JP" sz="2000" dirty="0" err="1"/>
              <a:t>s</a:t>
            </a:r>
            <a:r>
              <a:rPr lang="en-US" altLang="ja-JP" sz="2000" dirty="0" err="1" smtClean="0"/>
              <a:t>,</a:t>
            </a:r>
            <a:r>
              <a:rPr lang="en-US" altLang="ja-JP" sz="2000" dirty="0" err="1"/>
              <a:t>y</a:t>
            </a:r>
            <a:r>
              <a:rPr lang="en-US" altLang="ja-JP" sz="2000" dirty="0"/>
              <a:t>) </a:t>
            </a:r>
            <a:r>
              <a:rPr lang="en-US" altLang="ja-JP" sz="2000" dirty="0" smtClean="0"/>
              <a:t>_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-&gt; ([],y)</a:t>
            </a:r>
          </a:p>
          <a:p>
            <a:r>
              <a:rPr lang="en-US" altLang="ja-JP" sz="2000" dirty="0"/>
              <a:t>        </a:t>
            </a:r>
            <a:r>
              <a:rPr lang="en-US" altLang="ja-JP" sz="2000" dirty="0" smtClean="0"/>
              <a:t> </a:t>
            </a:r>
            <a:r>
              <a:rPr lang="en-US" altLang="ja-JP" sz="2000" dirty="0" smtClean="0"/>
              <a:t>,  </a:t>
            </a:r>
            <a:r>
              <a:rPr lang="en-US" altLang="ja-JP" sz="2000" dirty="0"/>
              <a:t>$(normal [| \(s,_) v -&gt; null s |] [| \(s,_) -&gt; null s |]) </a:t>
            </a:r>
          </a:p>
          <a:p>
            <a:r>
              <a:rPr lang="en-US" altLang="ja-JP" sz="2000" dirty="0"/>
              <a:t>             ==&gt; $(</a:t>
            </a:r>
            <a:r>
              <a:rPr lang="en-US" altLang="ja-JP" sz="2000" dirty="0" err="1"/>
              <a:t>rearrV</a:t>
            </a:r>
            <a:r>
              <a:rPr lang="en-US" altLang="ja-JP" sz="2000" dirty="0"/>
              <a:t> [| \v -&gt; ((),v) |]) $</a:t>
            </a:r>
          </a:p>
          <a:p>
            <a:r>
              <a:rPr lang="en-US" altLang="ja-JP" sz="2000" dirty="0"/>
              <a:t>                    $(update [p| (_, v) |] [p| ((),v ) |] [d| v = Replace |])</a:t>
            </a:r>
          </a:p>
          <a:p>
            <a:r>
              <a:rPr lang="en-US" altLang="ja-JP" sz="2000" dirty="0"/>
              <a:t>        </a:t>
            </a:r>
            <a:r>
              <a:rPr lang="en-US" altLang="ja-JP" sz="2000" dirty="0" smtClean="0"/>
              <a:t> </a:t>
            </a:r>
            <a:r>
              <a:rPr lang="en-US" altLang="ja-JP" sz="2000" dirty="0" smtClean="0"/>
              <a:t>,  </a:t>
            </a:r>
            <a:r>
              <a:rPr lang="en-US" altLang="ja-JP" sz="2000" dirty="0"/>
              <a:t>$(</a:t>
            </a:r>
            <a:r>
              <a:rPr lang="en-US" altLang="ja-JP" sz="2000" dirty="0" err="1"/>
              <a:t>normalSV</a:t>
            </a:r>
            <a:r>
              <a:rPr lang="en-US" altLang="ja-JP" sz="2000" dirty="0"/>
              <a:t> [p| _ |] [p| _ |] [| \(s,_) -&gt; not (null s) |])</a:t>
            </a:r>
          </a:p>
          <a:p>
            <a:r>
              <a:rPr lang="en-US" altLang="ja-JP" sz="2000" dirty="0"/>
              <a:t>             ==&gt;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\((</a:t>
            </a:r>
            <a:r>
              <a:rPr lang="en-US" altLang="ja-JP" sz="2000" dirty="0" err="1"/>
              <a:t>x:xs</a:t>
            </a:r>
            <a:r>
              <a:rPr lang="en-US" altLang="ja-JP" sz="2000" dirty="0"/>
              <a:t>), e) -&gt; (x, (</a:t>
            </a:r>
            <a:r>
              <a:rPr lang="en-US" altLang="ja-JP" sz="2000" dirty="0" err="1"/>
              <a:t>xs,e</a:t>
            </a:r>
            <a:r>
              <a:rPr lang="en-US" altLang="ja-JP" sz="2000" dirty="0"/>
              <a:t>))  |])</a:t>
            </a:r>
          </a:p>
          <a:p>
            <a:r>
              <a:rPr lang="en-US" altLang="ja-JP" sz="2000" dirty="0"/>
              <a:t>            </a:t>
            </a:r>
            <a:r>
              <a:rPr lang="en-US" altLang="ja-JP" sz="2000" dirty="0" smtClean="0"/>
              <a:t>        </a:t>
            </a:r>
            <a:r>
              <a:rPr lang="en-US" altLang="ja-JP" sz="2000" dirty="0"/>
              <a:t>(Replace `Prod` </a:t>
            </a:r>
            <a:r>
              <a:rPr lang="en-US" altLang="ja-JP" sz="2000" dirty="0" err="1"/>
              <a:t>lensFoldr</a:t>
            </a:r>
            <a:r>
              <a:rPr lang="en-US" altLang="ja-JP" sz="2000" dirty="0"/>
              <a:t> </a:t>
            </a:r>
            <a:r>
              <a:rPr lang="en-US" altLang="ja-JP" sz="2000" dirty="0" err="1"/>
              <a:t>bx</a:t>
            </a:r>
            <a:r>
              <a:rPr lang="en-US" altLang="ja-JP" sz="2000" dirty="0"/>
              <a:t> </a:t>
            </a:r>
            <a:r>
              <a:rPr lang="en-US" altLang="ja-JP" sz="2000" dirty="0" err="1"/>
              <a:t>pv</a:t>
            </a:r>
            <a:r>
              <a:rPr lang="en-US" altLang="ja-JP" sz="2000" dirty="0"/>
              <a:t>) `Compose` </a:t>
            </a:r>
            <a:r>
              <a:rPr lang="en-US" altLang="ja-JP" sz="2000" dirty="0" err="1"/>
              <a:t>bx</a:t>
            </a:r>
            <a:endParaRPr lang="en-US" altLang="ja-JP" sz="2000" dirty="0"/>
          </a:p>
          <a:p>
            <a:r>
              <a:rPr lang="en-US" altLang="ja-JP" sz="2000" dirty="0"/>
              <a:t>        ]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033470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lensMap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41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1033463" y="1556792"/>
            <a:ext cx="6931638" cy="1631216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err="1"/>
              <a:t>lensMap</a:t>
            </a:r>
            <a:r>
              <a:rPr lang="en-US" altLang="ja-JP" sz="2000" dirty="0"/>
              <a:t> :: (Show a, Show b) </a:t>
            </a:r>
            <a:endParaRPr lang="en-US" altLang="ja-JP" sz="2000" dirty="0" smtClean="0"/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       =</a:t>
            </a:r>
            <a:r>
              <a:rPr lang="en-US" altLang="ja-JP" sz="2000" dirty="0"/>
              <a:t>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a b -&gt;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([a],[b]) [b]</a:t>
            </a:r>
          </a:p>
          <a:p>
            <a:r>
              <a:rPr lang="en-US" altLang="ja-JP" sz="2000" dirty="0" err="1"/>
              <a:t>lensMap</a:t>
            </a:r>
            <a:r>
              <a:rPr lang="en-US" altLang="ja-JP" sz="2000" dirty="0"/>
              <a:t> </a:t>
            </a:r>
            <a:r>
              <a:rPr lang="en-US" altLang="ja-JP" sz="2000" dirty="0" err="1"/>
              <a:t>bx</a:t>
            </a:r>
            <a:r>
              <a:rPr lang="en-US" altLang="ja-JP" sz="2000" dirty="0"/>
              <a:t> =  </a:t>
            </a:r>
            <a:r>
              <a:rPr lang="en-US" altLang="ja-JP" sz="2000" dirty="0" err="1"/>
              <a:t>lensFoldr</a:t>
            </a:r>
            <a:r>
              <a:rPr lang="en-US" altLang="ja-JP" sz="2000" dirty="0"/>
              <a:t> </a:t>
            </a:r>
            <a:r>
              <a:rPr lang="en-US" altLang="ja-JP" sz="2000" dirty="0" err="1"/>
              <a:t>bx</a:t>
            </a:r>
            <a:r>
              <a:rPr lang="en-US" altLang="ja-JP" sz="2000" dirty="0"/>
              <a:t>' null</a:t>
            </a:r>
          </a:p>
          <a:p>
            <a:r>
              <a:rPr lang="en-US" altLang="ja-JP" sz="2000" dirty="0"/>
              <a:t>   where  </a:t>
            </a:r>
            <a:r>
              <a:rPr lang="en-US" altLang="ja-JP" sz="2000" dirty="0" err="1"/>
              <a:t>bx</a:t>
            </a:r>
            <a:r>
              <a:rPr lang="en-US" altLang="ja-JP" sz="2000" dirty="0"/>
              <a:t>' =  $(</a:t>
            </a:r>
            <a:r>
              <a:rPr lang="en-US" altLang="ja-JP" sz="2000" dirty="0" err="1"/>
              <a:t>rearrV</a:t>
            </a:r>
            <a:r>
              <a:rPr lang="en-US" altLang="ja-JP" sz="2000" dirty="0"/>
              <a:t> [| \(</a:t>
            </a:r>
            <a:r>
              <a:rPr lang="en-US" altLang="ja-JP" sz="2000" dirty="0" err="1"/>
              <a:t>v:vs</a:t>
            </a:r>
            <a:r>
              <a:rPr lang="en-US" altLang="ja-JP" sz="2000" dirty="0"/>
              <a:t>) -&gt; (</a:t>
            </a:r>
            <a:r>
              <a:rPr lang="en-US" altLang="ja-JP" sz="2000" dirty="0" err="1"/>
              <a:t>v,vs</a:t>
            </a:r>
            <a:r>
              <a:rPr lang="en-US" altLang="ja-JP" sz="2000" dirty="0"/>
              <a:t>) |]) $</a:t>
            </a:r>
          </a:p>
          <a:p>
            <a:r>
              <a:rPr lang="en-US" altLang="ja-JP" sz="2000" dirty="0"/>
              <a:t>                    </a:t>
            </a:r>
            <a:r>
              <a:rPr lang="en-US" altLang="ja-JP" sz="2000" dirty="0" err="1"/>
              <a:t>bx</a:t>
            </a:r>
            <a:r>
              <a:rPr lang="en-US" altLang="ja-JP" sz="2000" dirty="0"/>
              <a:t> `Prod` Replace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099707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LensReverse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42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51520" y="2905591"/>
            <a:ext cx="8769244" cy="2554545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lensReverse</a:t>
            </a:r>
            <a:r>
              <a:rPr lang="en-US" altLang="ja-JP" sz="2000" dirty="0"/>
              <a:t> :: Show a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[a] [a]</a:t>
            </a:r>
          </a:p>
          <a:p>
            <a:r>
              <a:rPr lang="en-US" altLang="ja-JP" sz="2000" dirty="0" err="1"/>
              <a:t>lensReverse</a:t>
            </a:r>
            <a:r>
              <a:rPr lang="en-US" altLang="ja-JP" sz="2000" dirty="0"/>
              <a:t> =  Case  [</a:t>
            </a:r>
          </a:p>
          <a:p>
            <a:r>
              <a:rPr lang="en-US" altLang="ja-JP" sz="2000" dirty="0"/>
              <a:t>                       </a:t>
            </a:r>
            <a:r>
              <a:rPr lang="ja-JP" altLang="en-US" sz="2000" dirty="0" smtClean="0"/>
              <a:t>   </a:t>
            </a:r>
            <a:r>
              <a:rPr lang="en-US" altLang="ja-JP" sz="2000" dirty="0" smtClean="0"/>
              <a:t> 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$</a:t>
            </a:r>
            <a:r>
              <a:rPr lang="en-US" altLang="ja-JP" sz="2000" dirty="0"/>
              <a:t>(adaptive [| \s v -&gt; length s &lt; length v |])</a:t>
            </a:r>
          </a:p>
          <a:p>
            <a:r>
              <a:rPr lang="en-US" altLang="ja-JP" sz="2000" dirty="0"/>
              <a:t>                         </a:t>
            </a:r>
            <a:r>
              <a:rPr lang="ja-JP" altLang="en-US" sz="2000" dirty="0" smtClean="0"/>
              <a:t>    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==&gt; \s v -&gt; v</a:t>
            </a:r>
          </a:p>
          <a:p>
            <a:r>
              <a:rPr lang="en-US" altLang="ja-JP" sz="2000" dirty="0"/>
              <a:t>                     </a:t>
            </a:r>
            <a:r>
              <a:rPr lang="ja-JP" altLang="en-US" sz="2000" dirty="0" smtClean="0"/>
              <a:t>     </a:t>
            </a:r>
            <a:r>
              <a:rPr lang="en-US" altLang="ja-JP" sz="2000" dirty="0" smtClean="0"/>
              <a:t>, $</a:t>
            </a:r>
            <a:r>
              <a:rPr lang="en-US" altLang="ja-JP" sz="2000" dirty="0"/>
              <a:t>(</a:t>
            </a:r>
            <a:r>
              <a:rPr lang="en-US" altLang="ja-JP" sz="2000" dirty="0" err="1"/>
              <a:t>normalSV</a:t>
            </a:r>
            <a:r>
              <a:rPr lang="en-US" altLang="ja-JP" sz="2000" dirty="0"/>
              <a:t> [p| _ |] [p| _ |] [| \ s -&gt; True |])</a:t>
            </a:r>
          </a:p>
          <a:p>
            <a:r>
              <a:rPr lang="en-US" altLang="ja-JP" sz="2000" dirty="0"/>
              <a:t>                          </a:t>
            </a:r>
            <a:r>
              <a:rPr lang="ja-JP" altLang="en-US" sz="2000" dirty="0" smtClean="0"/>
              <a:t>   </a:t>
            </a:r>
            <a:r>
              <a:rPr lang="en-US" altLang="ja-JP" sz="2000" dirty="0" smtClean="0"/>
              <a:t>=</a:t>
            </a:r>
            <a:r>
              <a:rPr lang="en-US" altLang="ja-JP" sz="2000" dirty="0"/>
              <a:t>=&gt;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\s -&gt; (s,[]) |]) $</a:t>
            </a:r>
          </a:p>
          <a:p>
            <a:r>
              <a:rPr lang="en-US" altLang="ja-JP" sz="2000" dirty="0"/>
              <a:t>                            </a:t>
            </a:r>
            <a:r>
              <a:rPr lang="ja-JP" altLang="en-US" sz="2000" dirty="0" smtClean="0"/>
              <a:t>     </a:t>
            </a:r>
            <a:r>
              <a:rPr lang="en-US" altLang="ja-JP" sz="2000" dirty="0" smtClean="0"/>
              <a:t>    </a:t>
            </a:r>
            <a:r>
              <a:rPr lang="en-US" altLang="ja-JP" sz="2000" dirty="0" err="1"/>
              <a:t>lensFoldr</a:t>
            </a:r>
            <a:r>
              <a:rPr lang="en-US" altLang="ja-JP" sz="2000" dirty="0"/>
              <a:t> (</a:t>
            </a:r>
            <a:r>
              <a:rPr lang="en-US" altLang="ja-JP" sz="2000" dirty="0" err="1"/>
              <a:t>lensSwap</a:t>
            </a:r>
            <a:r>
              <a:rPr lang="en-US" altLang="ja-JP" sz="2000" dirty="0"/>
              <a:t> `Compose` </a:t>
            </a:r>
            <a:r>
              <a:rPr lang="en-US" altLang="ja-JP" sz="2000" dirty="0" err="1"/>
              <a:t>lensSnoc</a:t>
            </a:r>
            <a:r>
              <a:rPr lang="en-US" altLang="ja-JP" sz="2000" dirty="0"/>
              <a:t>) null</a:t>
            </a:r>
          </a:p>
          <a:p>
            <a:r>
              <a:rPr lang="en-US" altLang="ja-JP" sz="2000" dirty="0"/>
              <a:t>                     ]</a:t>
            </a:r>
            <a:endParaRPr kumimoji="1"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85800" y="1412776"/>
            <a:ext cx="827868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 smtClean="0"/>
              <a:t>Exercise</a:t>
            </a:r>
            <a:r>
              <a:rPr kumimoji="1" lang="en-US" altLang="ja-JP" sz="2400" dirty="0" smtClean="0"/>
              <a:t>:</a:t>
            </a:r>
          </a:p>
          <a:p>
            <a:r>
              <a:rPr lang="en-US" altLang="ja-JP" sz="2400" dirty="0" smtClean="0"/>
              <a:t>Can you </a:t>
            </a:r>
            <a:r>
              <a:rPr lang="en-US" altLang="ja-JP" sz="2400" dirty="0" err="1" smtClean="0"/>
              <a:t>bidirectionalize</a:t>
            </a:r>
            <a:r>
              <a:rPr lang="en-US" altLang="ja-JP" sz="2400" dirty="0" smtClean="0"/>
              <a:t> reverse using </a:t>
            </a:r>
            <a:r>
              <a:rPr lang="en-US" altLang="ja-JP" sz="2400" dirty="0" err="1" smtClean="0"/>
              <a:t>lensFoldr</a:t>
            </a:r>
            <a:r>
              <a:rPr lang="en-US" altLang="ja-JP" sz="2400" dirty="0" smtClean="0"/>
              <a:t>?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772587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850881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err="1"/>
              <a:t>Bidirectionalizing</a:t>
            </a:r>
            <a:r>
              <a:rPr lang="en-US" altLang="ja-JP" dirty="0"/>
              <a:t> relational queries with </a:t>
            </a:r>
            <a:r>
              <a:rPr lang="en-US" altLang="ja-JP" dirty="0" err="1"/>
              <a:t>BiGUL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44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3305494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View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Updating for Relational Database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45</a:t>
            </a:fld>
            <a:endParaRPr lang="ja-JP" altLang="en-US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52136"/>
            <a:ext cx="4320480" cy="1603477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1344296"/>
            <a:ext cx="3384376" cy="1022014"/>
          </a:xfrm>
          <a:prstGeom prst="rect">
            <a:avLst/>
          </a:prstGeom>
        </p:spPr>
      </p:pic>
      <p:sp>
        <p:nvSpPr>
          <p:cNvPr id="7" name="右矢印 6"/>
          <p:cNvSpPr/>
          <p:nvPr/>
        </p:nvSpPr>
        <p:spPr bwMode="auto">
          <a:xfrm>
            <a:off x="4572000" y="1700808"/>
            <a:ext cx="864096" cy="288032"/>
          </a:xfrm>
          <a:prstGeom prst="rightArrow">
            <a:avLst/>
          </a:prstGeom>
          <a:solidFill>
            <a:srgbClr val="003366"/>
          </a:solidFill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0551" y="3865129"/>
            <a:ext cx="3850236" cy="839154"/>
          </a:xfrm>
          <a:prstGeom prst="rect">
            <a:avLst/>
          </a:prstGeom>
        </p:spPr>
      </p:pic>
      <p:sp>
        <p:nvSpPr>
          <p:cNvPr id="9" name="下矢印 8"/>
          <p:cNvSpPr/>
          <p:nvPr/>
        </p:nvSpPr>
        <p:spPr bwMode="auto">
          <a:xfrm>
            <a:off x="6897688" y="2564904"/>
            <a:ext cx="410616" cy="1009516"/>
          </a:xfrm>
          <a:prstGeom prst="downArrow">
            <a:avLst/>
          </a:prstGeom>
          <a:solidFill>
            <a:schemeClr val="accent1"/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0" name="下矢印 9"/>
          <p:cNvSpPr/>
          <p:nvPr/>
        </p:nvSpPr>
        <p:spPr bwMode="auto">
          <a:xfrm>
            <a:off x="2361184" y="2996952"/>
            <a:ext cx="410616" cy="647370"/>
          </a:xfrm>
          <a:prstGeom prst="downArrow">
            <a:avLst/>
          </a:prstGeom>
          <a:solidFill>
            <a:schemeClr val="accent1"/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411760" y="3933056"/>
            <a:ext cx="392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 smtClean="0">
                <a:solidFill>
                  <a:srgbClr val="FF0000"/>
                </a:solidFill>
              </a:rPr>
              <a:t>?</a:t>
            </a:r>
            <a:endParaRPr kumimoji="1" lang="ja-JP" altLang="en-US" sz="3600" dirty="0">
              <a:solidFill>
                <a:srgbClr val="FF0000"/>
              </a:solidFill>
            </a:endParaRPr>
          </a:p>
        </p:txBody>
      </p:sp>
      <p:sp>
        <p:nvSpPr>
          <p:cNvPr id="12" name="右矢印 11"/>
          <p:cNvSpPr/>
          <p:nvPr/>
        </p:nvSpPr>
        <p:spPr bwMode="auto">
          <a:xfrm>
            <a:off x="4139952" y="4221088"/>
            <a:ext cx="864096" cy="288032"/>
          </a:xfrm>
          <a:prstGeom prst="rightArrow">
            <a:avLst/>
          </a:prstGeom>
          <a:solidFill>
            <a:srgbClr val="003366"/>
          </a:solidFill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788024" y="134429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Q</a:t>
            </a:r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351814" y="386104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Q</a:t>
            </a:r>
            <a:endParaRPr kumimoji="1" lang="ja-JP" altLang="en-US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1814264" y="5157192"/>
            <a:ext cx="5710064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smtClean="0"/>
              <a:t>Q:  select </a:t>
            </a:r>
            <a:r>
              <a:rPr lang="en-US" altLang="ja-JP" sz="2000" dirty="0"/>
              <a:t>Track, Rating, Album, Quantity as v</a:t>
            </a:r>
          </a:p>
          <a:p>
            <a:r>
              <a:rPr lang="en-US" altLang="ja-JP" sz="2000" dirty="0" smtClean="0"/>
              <a:t>     from </a:t>
            </a:r>
            <a:r>
              <a:rPr lang="en-US" altLang="ja-JP" sz="2000" dirty="0"/>
              <a:t>s where Quantity &gt; 2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41769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Brul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[BX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2015]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Two library functions to describe “update policies” using put: </a:t>
            </a:r>
            <a:endParaRPr lang="en-US" altLang="ja-JP" dirty="0" smtClean="0"/>
          </a:p>
          <a:p>
            <a:pPr lvl="1"/>
            <a:r>
              <a:rPr kumimoji="1" lang="en-US" altLang="ja-JP" dirty="0" err="1" smtClean="0">
                <a:solidFill>
                  <a:srgbClr val="FF0000"/>
                </a:solidFill>
              </a:rPr>
              <a:t>relAlign</a:t>
            </a:r>
            <a:r>
              <a:rPr kumimoji="1" lang="en-US" altLang="ja-JP" dirty="0" smtClean="0"/>
              <a:t>: dealing with selection/projection</a:t>
            </a:r>
          </a:p>
          <a:p>
            <a:pPr lvl="1"/>
            <a:r>
              <a:rPr lang="en-US" altLang="ja-JP" dirty="0" err="1" smtClean="0"/>
              <a:t>unJoin</a:t>
            </a:r>
            <a:r>
              <a:rPr lang="en-US" altLang="ja-JP" dirty="0" smtClean="0"/>
              <a:t>: dealing with join</a:t>
            </a:r>
          </a:p>
          <a:p>
            <a:pPr lvl="1"/>
            <a:endParaRPr kumimoji="1" lang="en-US" altLang="ja-JP" dirty="0"/>
          </a:p>
          <a:p>
            <a:r>
              <a:rPr lang="en-US" altLang="ja-JP" dirty="0" smtClean="0"/>
              <a:t>Features</a:t>
            </a:r>
          </a:p>
          <a:p>
            <a:pPr lvl="1"/>
            <a:r>
              <a:rPr lang="en-US" altLang="ja-JP" dirty="0" smtClean="0"/>
              <a:t>All SPJ queries can be derived (query-completeness)</a:t>
            </a:r>
          </a:p>
          <a:p>
            <a:pPr lvl="1"/>
            <a:r>
              <a:rPr kumimoji="1" lang="en-US" altLang="ja-JP" dirty="0" smtClean="0"/>
              <a:t>All update policies </a:t>
            </a:r>
            <a:r>
              <a:rPr lang="en-US" altLang="ja-JP" dirty="0" smtClean="0"/>
              <a:t>discussed in the literature can be described (expressiveness)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46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619672" y="5229200"/>
            <a:ext cx="5910568" cy="461665"/>
          </a:xfrm>
          <a:prstGeom prst="rect">
            <a:avLst/>
          </a:prstGeom>
          <a:noFill/>
          <a:ln>
            <a:solidFill>
              <a:srgbClr val="00CC99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We will focus on </a:t>
            </a:r>
            <a:r>
              <a:rPr kumimoji="1" lang="en-US" altLang="ja-JP" sz="2400" dirty="0" err="1" smtClean="0"/>
              <a:t>relAlign</a:t>
            </a:r>
            <a:r>
              <a:rPr kumimoji="1" lang="en-US" altLang="ja-JP" sz="2400" dirty="0" smtClean="0"/>
              <a:t> in this tutorial.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308102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Relational Table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47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719723" y="1484784"/>
            <a:ext cx="7802984" cy="1754327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type RT = [Record]</a:t>
            </a:r>
          </a:p>
          <a:p>
            <a:r>
              <a:rPr lang="en-US" altLang="ja-JP" dirty="0"/>
              <a:t>type Record = [</a:t>
            </a:r>
            <a:r>
              <a:rPr lang="en-US" altLang="ja-JP" dirty="0" err="1"/>
              <a:t>RType</a:t>
            </a:r>
            <a:r>
              <a:rPr lang="en-US" altLang="ja-JP" dirty="0"/>
              <a:t>]</a:t>
            </a:r>
          </a:p>
          <a:p>
            <a:r>
              <a:rPr lang="en-US" altLang="ja-JP" dirty="0"/>
              <a:t>data </a:t>
            </a:r>
            <a:r>
              <a:rPr lang="en-US" altLang="ja-JP" dirty="0" err="1"/>
              <a:t>RType</a:t>
            </a:r>
            <a:r>
              <a:rPr lang="en-US" altLang="ja-JP" dirty="0"/>
              <a:t> = </a:t>
            </a:r>
            <a:r>
              <a:rPr lang="en-US" altLang="ja-JP" dirty="0" err="1"/>
              <a:t>RInt</a:t>
            </a:r>
            <a:r>
              <a:rPr lang="en-US" altLang="ja-JP" dirty="0"/>
              <a:t> </a:t>
            </a:r>
            <a:r>
              <a:rPr lang="en-US" altLang="ja-JP" dirty="0" err="1"/>
              <a:t>Int</a:t>
            </a:r>
            <a:r>
              <a:rPr lang="en-US" altLang="ja-JP" dirty="0"/>
              <a:t> </a:t>
            </a:r>
            <a:r>
              <a:rPr lang="en-US" altLang="ja-JP" dirty="0" smtClean="0"/>
              <a:t>| </a:t>
            </a:r>
            <a:r>
              <a:rPr lang="en-US" altLang="ja-JP" dirty="0" err="1"/>
              <a:t>RString</a:t>
            </a:r>
            <a:r>
              <a:rPr lang="en-US" altLang="ja-JP" dirty="0"/>
              <a:t> </a:t>
            </a:r>
            <a:r>
              <a:rPr lang="en-US" altLang="ja-JP" dirty="0" smtClean="0"/>
              <a:t>String </a:t>
            </a:r>
            <a:r>
              <a:rPr lang="en-US" altLang="ja-JP" dirty="0"/>
              <a:t>| </a:t>
            </a:r>
            <a:r>
              <a:rPr lang="en-US" altLang="ja-JP" dirty="0" err="1"/>
              <a:t>RFloat</a:t>
            </a:r>
            <a:r>
              <a:rPr lang="en-US" altLang="ja-JP" dirty="0"/>
              <a:t> </a:t>
            </a:r>
            <a:r>
              <a:rPr lang="en-US" altLang="ja-JP" dirty="0" smtClean="0"/>
              <a:t>Float </a:t>
            </a:r>
            <a:r>
              <a:rPr lang="en-US" altLang="ja-JP" dirty="0"/>
              <a:t>| </a:t>
            </a:r>
            <a:r>
              <a:rPr lang="en-US" altLang="ja-JP" dirty="0" err="1"/>
              <a:t>RDouble</a:t>
            </a:r>
            <a:r>
              <a:rPr lang="en-US" altLang="ja-JP" dirty="0"/>
              <a:t> Double</a:t>
            </a:r>
          </a:p>
          <a:p>
            <a:r>
              <a:rPr lang="en-US" altLang="ja-JP" dirty="0"/>
              <a:t>      deriving (Show, </a:t>
            </a:r>
            <a:r>
              <a:rPr lang="en-US" altLang="ja-JP" dirty="0" err="1"/>
              <a:t>Eq</a:t>
            </a:r>
            <a:r>
              <a:rPr lang="en-US" altLang="ja-JP" dirty="0"/>
              <a:t>, </a:t>
            </a:r>
            <a:r>
              <a:rPr lang="en-US" altLang="ja-JP" dirty="0" err="1"/>
              <a:t>Ord</a:t>
            </a:r>
            <a:r>
              <a:rPr lang="en-US" altLang="ja-JP" dirty="0" smtClean="0"/>
              <a:t>)</a:t>
            </a:r>
          </a:p>
          <a:p>
            <a:endParaRPr lang="en-US" altLang="ja-JP" dirty="0"/>
          </a:p>
          <a:p>
            <a:r>
              <a:rPr lang="en-US" altLang="ja-JP" dirty="0" err="1">
                <a:solidFill>
                  <a:srgbClr val="FF0000"/>
                </a:solidFill>
              </a:rPr>
              <a:t>deriveBiGULGeneric</a:t>
            </a:r>
            <a:r>
              <a:rPr lang="en-US" altLang="ja-JP" dirty="0">
                <a:solidFill>
                  <a:srgbClr val="FF0000"/>
                </a:solidFill>
              </a:rPr>
              <a:t>  ''</a:t>
            </a:r>
            <a:r>
              <a:rPr lang="en-US" altLang="ja-JP" dirty="0" err="1">
                <a:solidFill>
                  <a:srgbClr val="FF0000"/>
                </a:solidFill>
              </a:rPr>
              <a:t>RType</a:t>
            </a:r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144017" y="3652975"/>
            <a:ext cx="8892479" cy="17543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s  =  [ [</a:t>
            </a:r>
            <a:r>
              <a:rPr lang="en-US" altLang="ja-JP" dirty="0" err="1"/>
              <a:t>RString</a:t>
            </a:r>
            <a:r>
              <a:rPr lang="en-US" altLang="ja-JP" dirty="0"/>
              <a:t> "Lullaby",  </a:t>
            </a:r>
            <a:r>
              <a:rPr lang="en-US" altLang="ja-JP" dirty="0" err="1"/>
              <a:t>RInt</a:t>
            </a:r>
            <a:r>
              <a:rPr lang="en-US" altLang="ja-JP" dirty="0"/>
              <a:t> 1989, </a:t>
            </a:r>
            <a:r>
              <a:rPr lang="en-US" altLang="ja-JP" dirty="0" err="1"/>
              <a:t>RInt</a:t>
            </a:r>
            <a:r>
              <a:rPr lang="en-US" altLang="ja-JP" dirty="0"/>
              <a:t> 3, </a:t>
            </a:r>
            <a:r>
              <a:rPr lang="en-US" altLang="ja-JP" dirty="0" err="1"/>
              <a:t>RString</a:t>
            </a:r>
            <a:r>
              <a:rPr lang="en-US" altLang="ja-JP" dirty="0"/>
              <a:t> "Galore", </a:t>
            </a:r>
            <a:r>
              <a:rPr lang="en-US" altLang="ja-JP" dirty="0" err="1"/>
              <a:t>RInt</a:t>
            </a:r>
            <a:r>
              <a:rPr lang="en-US" altLang="ja-JP" dirty="0"/>
              <a:t> 1]</a:t>
            </a:r>
          </a:p>
          <a:p>
            <a:r>
              <a:rPr lang="en-US" altLang="ja-JP" dirty="0"/>
              <a:t>      , [</a:t>
            </a:r>
            <a:r>
              <a:rPr lang="en-US" altLang="ja-JP" dirty="0" err="1"/>
              <a:t>RString</a:t>
            </a:r>
            <a:r>
              <a:rPr lang="en-US" altLang="ja-JP" dirty="0"/>
              <a:t> "Lullaby",  </a:t>
            </a:r>
            <a:r>
              <a:rPr lang="en-US" altLang="ja-JP" dirty="0" err="1"/>
              <a:t>RInt</a:t>
            </a:r>
            <a:r>
              <a:rPr lang="en-US" altLang="ja-JP" dirty="0"/>
              <a:t> 1989, </a:t>
            </a:r>
            <a:r>
              <a:rPr lang="en-US" altLang="ja-JP" dirty="0" err="1"/>
              <a:t>RInt</a:t>
            </a:r>
            <a:r>
              <a:rPr lang="en-US" altLang="ja-JP" dirty="0"/>
              <a:t> 3, </a:t>
            </a:r>
            <a:r>
              <a:rPr lang="en-US" altLang="ja-JP" dirty="0" err="1"/>
              <a:t>RString</a:t>
            </a:r>
            <a:r>
              <a:rPr lang="en-US" altLang="ja-JP" dirty="0"/>
              <a:t> "Show"  , </a:t>
            </a:r>
            <a:r>
              <a:rPr lang="en-US" altLang="ja-JP" dirty="0" err="1"/>
              <a:t>RInt</a:t>
            </a:r>
            <a:r>
              <a:rPr lang="en-US" altLang="ja-JP" dirty="0"/>
              <a:t> 3]</a:t>
            </a:r>
          </a:p>
          <a:p>
            <a:r>
              <a:rPr lang="en-US" altLang="ja-JP" dirty="0"/>
              <a:t>      , [</a:t>
            </a:r>
            <a:r>
              <a:rPr lang="en-US" altLang="ja-JP" dirty="0" err="1"/>
              <a:t>RString</a:t>
            </a:r>
            <a:r>
              <a:rPr lang="en-US" altLang="ja-JP" dirty="0"/>
              <a:t> "</a:t>
            </a:r>
            <a:r>
              <a:rPr lang="en-US" altLang="ja-JP" dirty="0" err="1"/>
              <a:t>Lovesong</a:t>
            </a:r>
            <a:r>
              <a:rPr lang="en-US" altLang="ja-JP" dirty="0"/>
              <a:t>", </a:t>
            </a:r>
            <a:r>
              <a:rPr lang="en-US" altLang="ja-JP" dirty="0" err="1"/>
              <a:t>RInt</a:t>
            </a:r>
            <a:r>
              <a:rPr lang="en-US" altLang="ja-JP" dirty="0"/>
              <a:t> 1989, </a:t>
            </a:r>
            <a:r>
              <a:rPr lang="en-US" altLang="ja-JP" dirty="0" err="1"/>
              <a:t>RInt</a:t>
            </a:r>
            <a:r>
              <a:rPr lang="en-US" altLang="ja-JP" dirty="0"/>
              <a:t> 5, </a:t>
            </a:r>
            <a:r>
              <a:rPr lang="en-US" altLang="ja-JP" dirty="0" err="1"/>
              <a:t>RString</a:t>
            </a:r>
            <a:r>
              <a:rPr lang="en-US" altLang="ja-JP" dirty="0"/>
              <a:t> "Galore", </a:t>
            </a:r>
            <a:r>
              <a:rPr lang="en-US" altLang="ja-JP" dirty="0" err="1"/>
              <a:t>RInt</a:t>
            </a:r>
            <a:r>
              <a:rPr lang="en-US" altLang="ja-JP" dirty="0"/>
              <a:t> 1]</a:t>
            </a:r>
          </a:p>
          <a:p>
            <a:r>
              <a:rPr lang="en-US" altLang="ja-JP" dirty="0"/>
              <a:t>      , [</a:t>
            </a:r>
            <a:r>
              <a:rPr lang="en-US" altLang="ja-JP" dirty="0" err="1"/>
              <a:t>RString</a:t>
            </a:r>
            <a:r>
              <a:rPr lang="en-US" altLang="ja-JP" dirty="0"/>
              <a:t> "</a:t>
            </a:r>
            <a:r>
              <a:rPr lang="en-US" altLang="ja-JP" dirty="0" err="1"/>
              <a:t>Lovesong</a:t>
            </a:r>
            <a:r>
              <a:rPr lang="en-US" altLang="ja-JP" dirty="0"/>
              <a:t>", </a:t>
            </a:r>
            <a:r>
              <a:rPr lang="en-US" altLang="ja-JP" dirty="0" err="1"/>
              <a:t>RInt</a:t>
            </a:r>
            <a:r>
              <a:rPr lang="en-US" altLang="ja-JP" dirty="0"/>
              <a:t> 1989, </a:t>
            </a:r>
            <a:r>
              <a:rPr lang="en-US" altLang="ja-JP" dirty="0" err="1"/>
              <a:t>RInt</a:t>
            </a:r>
            <a:r>
              <a:rPr lang="en-US" altLang="ja-JP" dirty="0"/>
              <a:t> 5, </a:t>
            </a:r>
            <a:r>
              <a:rPr lang="en-US" altLang="ja-JP" dirty="0" err="1"/>
              <a:t>RString</a:t>
            </a:r>
            <a:r>
              <a:rPr lang="en-US" altLang="ja-JP" dirty="0"/>
              <a:t> "Disintegration" , </a:t>
            </a:r>
            <a:r>
              <a:rPr lang="en-US" altLang="ja-JP" dirty="0" err="1"/>
              <a:t>RInt</a:t>
            </a:r>
            <a:r>
              <a:rPr lang="en-US" altLang="ja-JP" dirty="0"/>
              <a:t> 4]</a:t>
            </a:r>
          </a:p>
          <a:p>
            <a:r>
              <a:rPr lang="en-US" altLang="ja-JP" dirty="0"/>
              <a:t>      , [</a:t>
            </a:r>
            <a:r>
              <a:rPr lang="en-US" altLang="ja-JP" dirty="0" err="1"/>
              <a:t>RString</a:t>
            </a:r>
            <a:r>
              <a:rPr lang="en-US" altLang="ja-JP" dirty="0"/>
              <a:t> "Trust",    </a:t>
            </a:r>
            <a:r>
              <a:rPr lang="en-US" altLang="ja-JP" dirty="0" err="1"/>
              <a:t>RInt</a:t>
            </a:r>
            <a:r>
              <a:rPr lang="en-US" altLang="ja-JP" dirty="0"/>
              <a:t> 1992, </a:t>
            </a:r>
            <a:r>
              <a:rPr lang="en-US" altLang="ja-JP" dirty="0" err="1"/>
              <a:t>RInt</a:t>
            </a:r>
            <a:r>
              <a:rPr lang="en-US" altLang="ja-JP" dirty="0"/>
              <a:t> 4, </a:t>
            </a:r>
            <a:r>
              <a:rPr lang="en-US" altLang="ja-JP" dirty="0" err="1"/>
              <a:t>RString</a:t>
            </a:r>
            <a:r>
              <a:rPr lang="en-US" altLang="ja-JP" dirty="0"/>
              <a:t> "Wish"  , </a:t>
            </a:r>
            <a:r>
              <a:rPr lang="en-US" altLang="ja-JP" dirty="0" err="1"/>
              <a:t>RInt</a:t>
            </a:r>
            <a:r>
              <a:rPr lang="en-US" altLang="ja-JP" dirty="0"/>
              <a:t> 5]</a:t>
            </a:r>
          </a:p>
          <a:p>
            <a:r>
              <a:rPr lang="en-US" altLang="ja-JP" dirty="0"/>
              <a:t>      ]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320019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Functional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Dependency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48</a:t>
            </a:fld>
            <a:endParaRPr lang="ja-JP" altLang="en-US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340768"/>
            <a:ext cx="5832648" cy="2164694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2123728" y="3602390"/>
            <a:ext cx="4968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Track </a:t>
            </a:r>
            <a:r>
              <a:rPr kumimoji="1" lang="en-US" altLang="ja-JP" dirty="0" smtClean="0">
                <a:sym typeface="Wingdings"/>
              </a:rPr>
              <a:t> Data, Rating       </a:t>
            </a:r>
            <a:r>
              <a:rPr lang="en-US" altLang="ja-JP" dirty="0" smtClean="0">
                <a:sym typeface="Wingdings"/>
              </a:rPr>
              <a:t>Album  Quantity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2123728" y="4509120"/>
            <a:ext cx="4717336" cy="1323439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none">
            <a:spAutoFit/>
          </a:bodyPr>
          <a:lstStyle/>
          <a:p>
            <a:r>
              <a:rPr lang="en-US" altLang="ja-JP" sz="2000" dirty="0"/>
              <a:t>type </a:t>
            </a:r>
            <a:r>
              <a:rPr lang="en-US" altLang="ja-JP" sz="2000" dirty="0" err="1"/>
              <a:t>FDMap</a:t>
            </a:r>
            <a:r>
              <a:rPr lang="en-US" altLang="ja-JP" sz="2000" dirty="0"/>
              <a:t> = </a:t>
            </a:r>
            <a:r>
              <a:rPr lang="en-US" altLang="ja-JP" sz="2000" dirty="0" err="1"/>
              <a:t>Map.Map</a:t>
            </a:r>
            <a:r>
              <a:rPr lang="en-US" altLang="ja-JP" sz="2000" dirty="0"/>
              <a:t> </a:t>
            </a:r>
            <a:r>
              <a:rPr lang="en-US" altLang="ja-JP" sz="2000" dirty="0" err="1"/>
              <a:t>Int</a:t>
            </a:r>
            <a:r>
              <a:rPr lang="en-US" altLang="ja-JP" sz="2000" dirty="0"/>
              <a:t> [</a:t>
            </a:r>
            <a:r>
              <a:rPr lang="en-US" altLang="ja-JP" sz="2000" dirty="0" err="1"/>
              <a:t>Int</a:t>
            </a:r>
            <a:r>
              <a:rPr lang="en-US" altLang="ja-JP" sz="2000" dirty="0" smtClean="0"/>
              <a:t>]</a:t>
            </a:r>
          </a:p>
          <a:p>
            <a:endParaRPr lang="en-US" altLang="ja-JP" sz="2000" dirty="0" smtClean="0"/>
          </a:p>
          <a:p>
            <a:r>
              <a:rPr lang="pt-BR" altLang="ja-JP" sz="2000" dirty="0" err="1"/>
              <a:t>sfdMap</a:t>
            </a:r>
            <a:r>
              <a:rPr lang="pt-BR" altLang="ja-JP" sz="2000" dirty="0"/>
              <a:t> :: </a:t>
            </a:r>
            <a:r>
              <a:rPr lang="pt-BR" altLang="ja-JP" sz="2000" dirty="0" err="1"/>
              <a:t>FDMap</a:t>
            </a:r>
            <a:endParaRPr lang="pt-BR" altLang="ja-JP" sz="2000" dirty="0"/>
          </a:p>
          <a:p>
            <a:r>
              <a:rPr lang="pt-BR" altLang="ja-JP" sz="2000" dirty="0" err="1"/>
              <a:t>sfdMap</a:t>
            </a:r>
            <a:r>
              <a:rPr lang="pt-BR" altLang="ja-JP" sz="2000" dirty="0"/>
              <a:t> = </a:t>
            </a:r>
            <a:r>
              <a:rPr lang="pt-BR" altLang="ja-JP" sz="2000" dirty="0" err="1"/>
              <a:t>Map.fromList</a:t>
            </a:r>
            <a:r>
              <a:rPr lang="pt-BR" altLang="ja-JP" sz="2000" dirty="0"/>
              <a:t> [(0,[1,2]), (3,[4])</a:t>
            </a:r>
            <a:r>
              <a:rPr lang="pt-BR" altLang="ja-JP" sz="2000" dirty="0" smtClean="0"/>
              <a:t>]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8505913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From </a:t>
            </a:r>
            <a:r>
              <a:rPr kumimoji="1" lang="en-US" altLang="ja-JP" dirty="0" err="1" smtClean="0"/>
              <a:t>keyAlign</a:t>
            </a:r>
            <a:r>
              <a:rPr kumimoji="1" lang="en-US" altLang="ja-JP" dirty="0" smtClean="0"/>
              <a:t> to </a:t>
            </a:r>
            <a:r>
              <a:rPr kumimoji="1" lang="en-US" altLang="ja-JP" dirty="0" err="1" smtClean="0"/>
              <a:t>relAlign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relAlign</a:t>
            </a:r>
            <a:r>
              <a:rPr kumimoji="1" lang="en-US" altLang="ja-JP" dirty="0" smtClean="0"/>
              <a:t> is similar </a:t>
            </a:r>
            <a:r>
              <a:rPr lang="en-US" altLang="ja-JP" dirty="0" smtClean="0"/>
              <a:t>to </a:t>
            </a:r>
            <a:r>
              <a:rPr lang="en-US" altLang="ja-JP" dirty="0" err="1" smtClean="0"/>
              <a:t>keyAlign</a:t>
            </a:r>
            <a:r>
              <a:rPr lang="en-US" altLang="ja-JP" dirty="0" smtClean="0"/>
              <a:t> except that</a:t>
            </a:r>
          </a:p>
          <a:p>
            <a:pPr marL="0" indent="0">
              <a:buNone/>
            </a:pPr>
            <a:endParaRPr lang="en-US" altLang="ja-JP" dirty="0" smtClean="0"/>
          </a:p>
          <a:p>
            <a:pPr lvl="1"/>
            <a:r>
              <a:rPr lang="en-US" altLang="ja-JP" dirty="0" smtClean="0"/>
              <a:t>We need to consider </a:t>
            </a:r>
            <a:r>
              <a:rPr lang="en-US" altLang="ja-JP" dirty="0" smtClean="0">
                <a:solidFill>
                  <a:srgbClr val="FF0000"/>
                </a:solidFill>
              </a:rPr>
              <a:t>filtering of source elements</a:t>
            </a:r>
          </a:p>
          <a:p>
            <a:pPr lvl="1"/>
            <a:endParaRPr lang="en-US" altLang="ja-JP" dirty="0" smtClean="0"/>
          </a:p>
          <a:p>
            <a:pPr lvl="1"/>
            <a:r>
              <a:rPr kumimoji="1" lang="en-US" altLang="ja-JP" dirty="0" smtClean="0"/>
              <a:t>We need to </a:t>
            </a:r>
            <a:r>
              <a:rPr kumimoji="1" lang="en-US" altLang="ja-JP" dirty="0" smtClean="0">
                <a:solidFill>
                  <a:srgbClr val="FF0000"/>
                </a:solidFill>
              </a:rPr>
              <a:t>recover function dependency </a:t>
            </a:r>
            <a:r>
              <a:rPr kumimoji="1" lang="en-US" altLang="ja-JP" dirty="0" smtClean="0"/>
              <a:t>when updates happen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49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504149" y="4345940"/>
            <a:ext cx="6020179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Idea: </a:t>
            </a:r>
            <a:r>
              <a:rPr kumimoji="1" lang="en-US" altLang="ja-JP" sz="2800" dirty="0" err="1" smtClean="0"/>
              <a:t>keyAlign</a:t>
            </a:r>
            <a:r>
              <a:rPr kumimoji="1" lang="en-US" altLang="ja-JP" sz="2800" dirty="0" smtClean="0"/>
              <a:t> </a:t>
            </a:r>
            <a:r>
              <a:rPr kumimoji="1" lang="en-US" altLang="ja-JP" sz="2800" dirty="0" smtClean="0">
                <a:sym typeface="Wingdings"/>
              </a:rPr>
              <a:t> </a:t>
            </a:r>
            <a:r>
              <a:rPr kumimoji="1" lang="en-US" altLang="ja-JP" sz="2800" dirty="0" err="1" smtClean="0">
                <a:sym typeface="Wingdings"/>
              </a:rPr>
              <a:t>pA</a:t>
            </a:r>
            <a:r>
              <a:rPr lang="en-US" altLang="ja-JP" sz="2800" dirty="0" err="1" smtClean="0">
                <a:sym typeface="Wingdings"/>
              </a:rPr>
              <a:t>lign</a:t>
            </a:r>
            <a:r>
              <a:rPr lang="en-US" altLang="ja-JP" sz="2800" dirty="0" smtClean="0">
                <a:sym typeface="Wingdings"/>
              </a:rPr>
              <a:t>  </a:t>
            </a:r>
            <a:r>
              <a:rPr lang="en-US" altLang="ja-JP" sz="2800" dirty="0" err="1" smtClean="0">
                <a:sym typeface="Wingdings"/>
              </a:rPr>
              <a:t>relAlign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654182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Review: </a:t>
            </a:r>
            <a:r>
              <a:rPr kumimoji="1" lang="en-US" altLang="ja-JP" dirty="0" err="1" smtClean="0"/>
              <a:t>keyAlign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50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672845" y="1484784"/>
            <a:ext cx="8122706" cy="4247317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 err="1"/>
              <a:t>keyAlign</a:t>
            </a:r>
            <a:r>
              <a:rPr lang="en-US" altLang="ja-JP" dirty="0"/>
              <a:t>  ::  </a:t>
            </a:r>
            <a:r>
              <a:rPr lang="en-US" altLang="ja-JP" dirty="0" err="1"/>
              <a:t>forall</a:t>
            </a:r>
            <a:r>
              <a:rPr lang="en-US" altLang="ja-JP" dirty="0"/>
              <a:t> s v k. (Show s, Show v, </a:t>
            </a:r>
            <a:r>
              <a:rPr lang="en-US" altLang="ja-JP" dirty="0" err="1"/>
              <a:t>Eq</a:t>
            </a:r>
            <a:r>
              <a:rPr lang="en-US" altLang="ja-JP" dirty="0"/>
              <a:t> k)</a:t>
            </a:r>
          </a:p>
          <a:p>
            <a:r>
              <a:rPr lang="en-US" altLang="ja-JP" dirty="0"/>
              <a:t>          =&gt;  (s -&gt; k) -&gt; (v -&gt; k) -&gt; </a:t>
            </a:r>
            <a:r>
              <a:rPr lang="en-US" altLang="ja-JP" dirty="0" err="1"/>
              <a:t>BiGUL</a:t>
            </a:r>
            <a:r>
              <a:rPr lang="en-US" altLang="ja-JP" dirty="0"/>
              <a:t> s v -&gt; (v -&gt; s) -&gt; </a:t>
            </a:r>
            <a:r>
              <a:rPr lang="en-US" altLang="ja-JP" dirty="0" err="1"/>
              <a:t>BiGUL</a:t>
            </a:r>
            <a:r>
              <a:rPr lang="en-US" altLang="ja-JP" dirty="0"/>
              <a:t> [s] [v]</a:t>
            </a:r>
          </a:p>
          <a:p>
            <a:r>
              <a:rPr lang="en-US" altLang="ja-JP" dirty="0" err="1"/>
              <a:t>keyAlign</a:t>
            </a:r>
            <a:r>
              <a:rPr lang="en-US" altLang="ja-JP" dirty="0"/>
              <a:t>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= Case</a:t>
            </a:r>
          </a:p>
          <a:p>
            <a:r>
              <a:rPr lang="en-US" altLang="ja-JP" dirty="0"/>
              <a:t>  [ $(</a:t>
            </a:r>
            <a:r>
              <a:rPr lang="en-US" altLang="ja-JP" dirty="0" err="1"/>
              <a:t>normalSV</a:t>
            </a:r>
            <a:r>
              <a:rPr lang="en-US" altLang="ja-JP" dirty="0"/>
              <a:t> [p| [] |] [p| [] |] [p| [] |])</a:t>
            </a:r>
          </a:p>
          <a:p>
            <a:r>
              <a:rPr lang="en-US" altLang="ja-JP" dirty="0"/>
              <a:t>    ==&gt; $(update [p| [] |] [p| [] |] [d| |])</a:t>
            </a:r>
          </a:p>
          <a:p>
            <a:r>
              <a:rPr lang="en-US" altLang="ja-JP" dirty="0"/>
              <a:t>  , $(normal [| \(</a:t>
            </a:r>
            <a:r>
              <a:rPr lang="en-US" altLang="ja-JP" dirty="0" err="1"/>
              <a:t>s:ss</a:t>
            </a:r>
            <a:r>
              <a:rPr lang="en-US" altLang="ja-JP" dirty="0"/>
              <a:t>) (</a:t>
            </a:r>
            <a:r>
              <a:rPr lang="en-US" altLang="ja-JP" dirty="0" err="1"/>
              <a:t>v:vs</a:t>
            </a:r>
            <a:r>
              <a:rPr lang="en-US" altLang="ja-JP" dirty="0"/>
              <a:t>) -&gt; </a:t>
            </a:r>
            <a:r>
              <a:rPr lang="en-US" altLang="ja-JP" dirty="0" err="1"/>
              <a:t>ks</a:t>
            </a:r>
            <a:r>
              <a:rPr lang="en-US" altLang="ja-JP" dirty="0"/>
              <a:t> s == </a:t>
            </a:r>
            <a:r>
              <a:rPr lang="en-US" altLang="ja-JP" dirty="0" err="1"/>
              <a:t>kv</a:t>
            </a:r>
            <a:r>
              <a:rPr lang="en-US" altLang="ja-JP" dirty="0"/>
              <a:t> v |] [p| _ : _ |])</a:t>
            </a:r>
          </a:p>
          <a:p>
            <a:r>
              <a:rPr lang="en-US" altLang="ja-JP" dirty="0"/>
              <a:t>    ==&gt; $(update [p| </a:t>
            </a:r>
            <a:r>
              <a:rPr lang="en-US" altLang="ja-JP" dirty="0" err="1"/>
              <a:t>x:xs</a:t>
            </a:r>
            <a:r>
              <a:rPr lang="en-US" altLang="ja-JP" dirty="0"/>
              <a:t> |]  [p| </a:t>
            </a:r>
            <a:r>
              <a:rPr lang="en-US" altLang="ja-JP" dirty="0" err="1"/>
              <a:t>x:xs</a:t>
            </a:r>
            <a:r>
              <a:rPr lang="en-US" altLang="ja-JP" dirty="0"/>
              <a:t> |]</a:t>
            </a:r>
          </a:p>
          <a:p>
            <a:r>
              <a:rPr lang="en-US" altLang="ja-JP" dirty="0"/>
              <a:t>                              [d| x = b; </a:t>
            </a:r>
            <a:r>
              <a:rPr lang="en-US" altLang="ja-JP" dirty="0" err="1"/>
              <a:t>xs</a:t>
            </a:r>
            <a:r>
              <a:rPr lang="en-US" altLang="ja-JP" dirty="0"/>
              <a:t> = </a:t>
            </a:r>
            <a:r>
              <a:rPr lang="en-US" altLang="ja-JP" dirty="0" err="1"/>
              <a:t>keyAlign</a:t>
            </a:r>
            <a:r>
              <a:rPr lang="en-US" altLang="ja-JP" dirty="0"/>
              <a:t>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|])</a:t>
            </a:r>
          </a:p>
          <a:p>
            <a:r>
              <a:rPr lang="en-US" altLang="ja-JP" dirty="0"/>
              <a:t>  , </a:t>
            </a:r>
            <a:r>
              <a:rPr lang="en-US" altLang="ja-JP" dirty="0">
                <a:solidFill>
                  <a:srgbClr val="000000"/>
                </a:solidFill>
              </a:rPr>
              <a:t>$(</a:t>
            </a:r>
            <a:r>
              <a:rPr lang="en-US" altLang="ja-JP" dirty="0" err="1">
                <a:solidFill>
                  <a:srgbClr val="000000"/>
                </a:solidFill>
              </a:rPr>
              <a:t>adaptiveSV</a:t>
            </a:r>
            <a:r>
              <a:rPr lang="en-US" altLang="ja-JP" dirty="0">
                <a:solidFill>
                  <a:srgbClr val="000000"/>
                </a:solidFill>
              </a:rPr>
              <a:t> [p| _ : _ |] [p| [] |])</a:t>
            </a:r>
          </a:p>
          <a:p>
            <a:r>
              <a:rPr lang="en-US" altLang="ja-JP" dirty="0">
                <a:solidFill>
                  <a:srgbClr val="000000"/>
                </a:solidFill>
              </a:rPr>
              <a:t>    ==&gt; \ _ _ -&gt; []</a:t>
            </a:r>
          </a:p>
          <a:p>
            <a:r>
              <a:rPr lang="en-US" altLang="ja-JP" dirty="0"/>
              <a:t>  , $(adaptive [| \</a:t>
            </a:r>
            <a:r>
              <a:rPr lang="en-US" altLang="ja-JP" dirty="0" err="1"/>
              <a:t>ss</a:t>
            </a:r>
            <a:r>
              <a:rPr lang="en-US" altLang="ja-JP" dirty="0"/>
              <a:t> (</a:t>
            </a:r>
            <a:r>
              <a:rPr lang="en-US" altLang="ja-JP" dirty="0" err="1"/>
              <a:t>v:vs</a:t>
            </a:r>
            <a:r>
              <a:rPr lang="en-US" altLang="ja-JP" dirty="0"/>
              <a:t>) -&gt; </a:t>
            </a:r>
            <a:r>
              <a:rPr lang="en-US" altLang="ja-JP" dirty="0" err="1"/>
              <a:t>kv</a:t>
            </a:r>
            <a:r>
              <a:rPr lang="en-US" altLang="ja-JP" dirty="0"/>
              <a:t> v `</a:t>
            </a:r>
            <a:r>
              <a:rPr lang="en-US" altLang="ja-JP" dirty="0" err="1"/>
              <a:t>elem</a:t>
            </a:r>
            <a:r>
              <a:rPr lang="en-US" altLang="ja-JP" dirty="0"/>
              <a:t>` map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ss</a:t>
            </a:r>
            <a:r>
              <a:rPr lang="en-US" altLang="ja-JP" dirty="0"/>
              <a:t> |])</a:t>
            </a:r>
          </a:p>
          <a:p>
            <a:r>
              <a:rPr lang="en-US" altLang="ja-JP" dirty="0"/>
              <a:t>    ==&gt; \</a:t>
            </a:r>
            <a:r>
              <a:rPr lang="en-US" altLang="ja-JP" dirty="0" err="1"/>
              <a:t>ss</a:t>
            </a:r>
            <a:r>
              <a:rPr lang="en-US" altLang="ja-JP" dirty="0"/>
              <a:t> (v : _) -&gt; </a:t>
            </a:r>
            <a:r>
              <a:rPr lang="en-US" altLang="ja-JP" dirty="0" err="1"/>
              <a:t>uncurry</a:t>
            </a:r>
            <a:r>
              <a:rPr lang="en-US" altLang="ja-JP" dirty="0"/>
              <a:t> (:) (extract (</a:t>
            </a:r>
            <a:r>
              <a:rPr lang="en-US" altLang="ja-JP" dirty="0" err="1"/>
              <a:t>kv</a:t>
            </a:r>
            <a:r>
              <a:rPr lang="en-US" altLang="ja-JP" dirty="0"/>
              <a:t> v) </a:t>
            </a:r>
            <a:r>
              <a:rPr lang="en-US" altLang="ja-JP" dirty="0" err="1"/>
              <a:t>ss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  , $(</a:t>
            </a:r>
            <a:r>
              <a:rPr lang="en-US" altLang="ja-JP" dirty="0" err="1"/>
              <a:t>adaptiveSV</a:t>
            </a:r>
            <a:r>
              <a:rPr lang="en-US" altLang="ja-JP" dirty="0"/>
              <a:t> [p| _ |] [p| _ : _ |])</a:t>
            </a:r>
          </a:p>
          <a:p>
            <a:r>
              <a:rPr lang="en-US" altLang="ja-JP" dirty="0"/>
              <a:t>    ==&gt; \</a:t>
            </a:r>
            <a:r>
              <a:rPr lang="en-US" altLang="ja-JP" dirty="0" err="1"/>
              <a:t>ss</a:t>
            </a:r>
            <a:r>
              <a:rPr lang="en-US" altLang="ja-JP" dirty="0"/>
              <a:t> (v : _) -&gt; c v : </a:t>
            </a:r>
            <a:r>
              <a:rPr lang="en-US" altLang="ja-JP" dirty="0" err="1"/>
              <a:t>ss</a:t>
            </a:r>
            <a:endParaRPr lang="en-US" altLang="ja-JP" dirty="0"/>
          </a:p>
          <a:p>
            <a:r>
              <a:rPr lang="en-US" altLang="ja-JP" dirty="0"/>
              <a:t>  ]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348365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From </a:t>
            </a:r>
            <a:r>
              <a:rPr kumimoji="1" lang="en-US" altLang="ja-JP" dirty="0" err="1" smtClean="0"/>
              <a:t>keyAlign</a:t>
            </a:r>
            <a:r>
              <a:rPr kumimoji="1" lang="en-US" altLang="ja-JP" dirty="0" smtClean="0"/>
              <a:t> to </a:t>
            </a:r>
            <a:r>
              <a:rPr kumimoji="1" lang="en-US" altLang="ja-JP" dirty="0" err="1" smtClean="0"/>
              <a:t>pAlign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51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426726" y="1029252"/>
            <a:ext cx="8177722" cy="5355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err="1"/>
              <a:t>pAlign</a:t>
            </a:r>
            <a:r>
              <a:rPr lang="en-US" altLang="ja-JP" dirty="0"/>
              <a:t> :: </a:t>
            </a:r>
            <a:r>
              <a:rPr lang="en-US" altLang="ja-JP" dirty="0" err="1"/>
              <a:t>forall</a:t>
            </a:r>
            <a:r>
              <a:rPr lang="en-US" altLang="ja-JP" dirty="0"/>
              <a:t> s v k. (Show s, Show v, </a:t>
            </a:r>
            <a:r>
              <a:rPr lang="en-US" altLang="ja-JP" dirty="0" err="1"/>
              <a:t>Eq</a:t>
            </a:r>
            <a:r>
              <a:rPr lang="en-US" altLang="ja-JP" dirty="0"/>
              <a:t> k)</a:t>
            </a:r>
          </a:p>
          <a:p>
            <a:r>
              <a:rPr lang="en-US" altLang="ja-JP" dirty="0"/>
              <a:t>         =&gt; </a:t>
            </a:r>
            <a:r>
              <a:rPr lang="en-US" altLang="ja-JP" dirty="0">
                <a:solidFill>
                  <a:srgbClr val="FF0000"/>
                </a:solidFill>
              </a:rPr>
              <a:t>(s -&gt; </a:t>
            </a:r>
            <a:r>
              <a:rPr lang="en-US" altLang="ja-JP" dirty="0" err="1">
                <a:solidFill>
                  <a:srgbClr val="FF0000"/>
                </a:solidFill>
              </a:rPr>
              <a:t>Bool</a:t>
            </a:r>
            <a:r>
              <a:rPr lang="en-US" altLang="ja-JP" dirty="0">
                <a:solidFill>
                  <a:srgbClr val="FF0000"/>
                </a:solidFill>
              </a:rPr>
              <a:t>) {- predicate -}</a:t>
            </a:r>
          </a:p>
          <a:p>
            <a:r>
              <a:rPr lang="en-US" altLang="ja-JP" dirty="0"/>
              <a:t>            -&gt; (s -&gt; k) -&gt; (v -&gt; k) -&gt; </a:t>
            </a:r>
            <a:r>
              <a:rPr lang="en-US" altLang="ja-JP" dirty="0" err="1"/>
              <a:t>BiGUL</a:t>
            </a:r>
            <a:r>
              <a:rPr lang="en-US" altLang="ja-JP" dirty="0"/>
              <a:t> s v -&gt; (v -&gt; s) </a:t>
            </a:r>
          </a:p>
          <a:p>
            <a:r>
              <a:rPr lang="en-US" altLang="ja-JP" dirty="0"/>
              <a:t>            -&gt; </a:t>
            </a:r>
            <a:r>
              <a:rPr lang="en-US" altLang="ja-JP" dirty="0">
                <a:solidFill>
                  <a:srgbClr val="FF0000"/>
                </a:solidFill>
              </a:rPr>
              <a:t>(s -&gt; Maybe s) {- </a:t>
            </a:r>
            <a:r>
              <a:rPr lang="en-US" altLang="ja-JP" dirty="0" smtClean="0">
                <a:solidFill>
                  <a:srgbClr val="FF0000"/>
                </a:solidFill>
              </a:rPr>
              <a:t>conceal/hide </a:t>
            </a:r>
            <a:r>
              <a:rPr lang="en-US" altLang="ja-JP" dirty="0">
                <a:solidFill>
                  <a:srgbClr val="FF0000"/>
                </a:solidFill>
              </a:rPr>
              <a:t>function -}</a:t>
            </a:r>
          </a:p>
          <a:p>
            <a:r>
              <a:rPr lang="en-US" altLang="ja-JP" dirty="0"/>
              <a:t>            -&gt; </a:t>
            </a:r>
            <a:r>
              <a:rPr lang="en-US" altLang="ja-JP" dirty="0" err="1"/>
              <a:t>BiGUL</a:t>
            </a:r>
            <a:r>
              <a:rPr lang="en-US" altLang="ja-JP" dirty="0"/>
              <a:t> [s] [v]</a:t>
            </a:r>
          </a:p>
          <a:p>
            <a:r>
              <a:rPr lang="en-US" altLang="ja-JP" dirty="0" err="1"/>
              <a:t>pAlign</a:t>
            </a:r>
            <a:r>
              <a:rPr lang="en-US" altLang="ja-JP" dirty="0"/>
              <a:t> </a:t>
            </a:r>
            <a:r>
              <a:rPr lang="en-US" altLang="ja-JP" dirty="0">
                <a:solidFill>
                  <a:srgbClr val="FF0000"/>
                </a:solidFill>
              </a:rPr>
              <a:t>p</a:t>
            </a:r>
            <a:r>
              <a:rPr lang="en-US" altLang="ja-JP" dirty="0"/>
              <a:t>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</a:t>
            </a:r>
            <a:r>
              <a:rPr lang="en-US" altLang="ja-JP" dirty="0">
                <a:solidFill>
                  <a:srgbClr val="FF0000"/>
                </a:solidFill>
              </a:rPr>
              <a:t>h</a:t>
            </a:r>
            <a:r>
              <a:rPr lang="en-US" altLang="ja-JP" dirty="0"/>
              <a:t> = Case</a:t>
            </a:r>
          </a:p>
          <a:p>
            <a:r>
              <a:rPr lang="en-US" altLang="ja-JP" dirty="0"/>
              <a:t>  [ $(</a:t>
            </a:r>
            <a:r>
              <a:rPr lang="en-US" altLang="ja-JP" dirty="0" err="1"/>
              <a:t>normalSV</a:t>
            </a:r>
            <a:r>
              <a:rPr lang="en-US" altLang="ja-JP" dirty="0"/>
              <a:t> [p| [] |] [p| [] |] [p| [] |])</a:t>
            </a:r>
          </a:p>
          <a:p>
            <a:r>
              <a:rPr lang="en-US" altLang="ja-JP" dirty="0"/>
              <a:t>    ==&gt; $(update [p| [] |] [p| [] |] [d| |])</a:t>
            </a:r>
          </a:p>
          <a:p>
            <a:r>
              <a:rPr lang="en-US" altLang="ja-JP" dirty="0"/>
              <a:t>  , $(normal [| \(</a:t>
            </a:r>
            <a:r>
              <a:rPr lang="en-US" altLang="ja-JP" dirty="0" err="1"/>
              <a:t>s:ss</a:t>
            </a:r>
            <a:r>
              <a:rPr lang="en-US" altLang="ja-JP" dirty="0"/>
              <a:t>) (</a:t>
            </a:r>
            <a:r>
              <a:rPr lang="en-US" altLang="ja-JP" dirty="0" err="1"/>
              <a:t>v:vs</a:t>
            </a:r>
            <a:r>
              <a:rPr lang="en-US" altLang="ja-JP" dirty="0"/>
              <a:t>) -&gt; p s &amp;&amp; </a:t>
            </a:r>
            <a:r>
              <a:rPr lang="en-US" altLang="ja-JP" dirty="0" err="1"/>
              <a:t>ks</a:t>
            </a:r>
            <a:r>
              <a:rPr lang="en-US" altLang="ja-JP" dirty="0"/>
              <a:t> s == </a:t>
            </a:r>
            <a:r>
              <a:rPr lang="en-US" altLang="ja-JP" dirty="0" err="1"/>
              <a:t>kv</a:t>
            </a:r>
            <a:r>
              <a:rPr lang="en-US" altLang="ja-JP" dirty="0"/>
              <a:t> v |] [| \(</a:t>
            </a:r>
            <a:r>
              <a:rPr lang="en-US" altLang="ja-JP" dirty="0" err="1"/>
              <a:t>s:ss</a:t>
            </a:r>
            <a:r>
              <a:rPr lang="en-US" altLang="ja-JP" dirty="0"/>
              <a:t>) -&gt; p s |])</a:t>
            </a:r>
          </a:p>
          <a:p>
            <a:r>
              <a:rPr lang="en-US" altLang="ja-JP" dirty="0"/>
              <a:t>    ==&gt; $(update [p| </a:t>
            </a:r>
            <a:r>
              <a:rPr lang="en-US" altLang="ja-JP" dirty="0" err="1"/>
              <a:t>x:xs</a:t>
            </a:r>
            <a:r>
              <a:rPr lang="en-US" altLang="ja-JP" dirty="0"/>
              <a:t> |] [p| </a:t>
            </a:r>
            <a:r>
              <a:rPr lang="en-US" altLang="ja-JP" dirty="0" err="1"/>
              <a:t>x:xs</a:t>
            </a:r>
            <a:r>
              <a:rPr lang="en-US" altLang="ja-JP" dirty="0"/>
              <a:t> |] [d| x = b; </a:t>
            </a:r>
            <a:r>
              <a:rPr lang="en-US" altLang="ja-JP" dirty="0" err="1"/>
              <a:t>xs</a:t>
            </a:r>
            <a:r>
              <a:rPr lang="en-US" altLang="ja-JP" dirty="0"/>
              <a:t> = </a:t>
            </a:r>
            <a:r>
              <a:rPr lang="en-US" altLang="ja-JP" dirty="0" err="1"/>
              <a:t>pAlign</a:t>
            </a:r>
            <a:r>
              <a:rPr lang="en-US" altLang="ja-JP" dirty="0"/>
              <a:t> 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h |])</a:t>
            </a:r>
          </a:p>
          <a:p>
            <a:r>
              <a:rPr lang="en-US" altLang="ja-JP" dirty="0"/>
              <a:t>  , $(adaptive [| \(</a:t>
            </a:r>
            <a:r>
              <a:rPr lang="en-US" altLang="ja-JP" dirty="0" err="1"/>
              <a:t>s:ss</a:t>
            </a:r>
            <a:r>
              <a:rPr lang="en-US" altLang="ja-JP" dirty="0"/>
              <a:t>) v -&gt; p s &amp;&amp; null v|])</a:t>
            </a:r>
          </a:p>
          <a:p>
            <a:r>
              <a:rPr lang="en-US" altLang="ja-JP" dirty="0"/>
              <a:t>    ==&gt; \(</a:t>
            </a:r>
            <a:r>
              <a:rPr lang="en-US" altLang="ja-JP" dirty="0" err="1"/>
              <a:t>s:ss</a:t>
            </a:r>
            <a:r>
              <a:rPr lang="en-US" altLang="ja-JP" dirty="0"/>
              <a:t>) v -&gt; maybe [] (:[]) (h s) ++ </a:t>
            </a:r>
            <a:r>
              <a:rPr lang="en-US" altLang="ja-JP" dirty="0" err="1"/>
              <a:t>ss</a:t>
            </a:r>
            <a:endParaRPr lang="en-US" altLang="ja-JP" dirty="0"/>
          </a:p>
          <a:p>
            <a:r>
              <a:rPr lang="en-US" altLang="ja-JP" dirty="0"/>
              <a:t>  , $(normal [| \(</a:t>
            </a:r>
            <a:r>
              <a:rPr lang="en-US" altLang="ja-JP" dirty="0" err="1"/>
              <a:t>s:ss</a:t>
            </a:r>
            <a:r>
              <a:rPr lang="en-US" altLang="ja-JP" dirty="0"/>
              <a:t>) v -&gt; not (p s) |] [| \(</a:t>
            </a:r>
            <a:r>
              <a:rPr lang="en-US" altLang="ja-JP" dirty="0" err="1"/>
              <a:t>s:ss</a:t>
            </a:r>
            <a:r>
              <a:rPr lang="en-US" altLang="ja-JP" dirty="0"/>
              <a:t>) -&gt; not (p s) |])</a:t>
            </a:r>
          </a:p>
          <a:p>
            <a:r>
              <a:rPr lang="en-US" altLang="ja-JP" dirty="0"/>
              <a:t>    ==&gt; $(update [p| _:</a:t>
            </a:r>
            <a:r>
              <a:rPr lang="en-US" altLang="ja-JP" dirty="0" err="1"/>
              <a:t>xs</a:t>
            </a:r>
            <a:r>
              <a:rPr lang="en-US" altLang="ja-JP" dirty="0"/>
              <a:t> |] [p| </a:t>
            </a:r>
            <a:r>
              <a:rPr lang="en-US" altLang="ja-JP" dirty="0" err="1"/>
              <a:t>xs</a:t>
            </a:r>
            <a:r>
              <a:rPr lang="en-US" altLang="ja-JP" dirty="0"/>
              <a:t> |] [d| </a:t>
            </a:r>
            <a:r>
              <a:rPr lang="en-US" altLang="ja-JP" dirty="0" err="1"/>
              <a:t>xs</a:t>
            </a:r>
            <a:r>
              <a:rPr lang="en-US" altLang="ja-JP" dirty="0"/>
              <a:t> = </a:t>
            </a:r>
            <a:r>
              <a:rPr lang="en-US" altLang="ja-JP" dirty="0" err="1"/>
              <a:t>pAlign</a:t>
            </a:r>
            <a:r>
              <a:rPr lang="en-US" altLang="ja-JP" dirty="0"/>
              <a:t> 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h |])</a:t>
            </a:r>
          </a:p>
          <a:p>
            <a:r>
              <a:rPr lang="en-US" altLang="ja-JP" dirty="0"/>
              <a:t>  , $(adaptive [| \</a:t>
            </a:r>
            <a:r>
              <a:rPr lang="en-US" altLang="ja-JP" dirty="0" err="1"/>
              <a:t>ss</a:t>
            </a:r>
            <a:r>
              <a:rPr lang="en-US" altLang="ja-JP" dirty="0"/>
              <a:t> (</a:t>
            </a:r>
            <a:r>
              <a:rPr lang="en-US" altLang="ja-JP" dirty="0" err="1"/>
              <a:t>v:vs</a:t>
            </a:r>
            <a:r>
              <a:rPr lang="en-US" altLang="ja-JP" dirty="0"/>
              <a:t>) -&gt; </a:t>
            </a:r>
            <a:r>
              <a:rPr lang="en-US" altLang="ja-JP" dirty="0" err="1"/>
              <a:t>kv</a:t>
            </a:r>
            <a:r>
              <a:rPr lang="en-US" altLang="ja-JP" dirty="0"/>
              <a:t> v `</a:t>
            </a:r>
            <a:r>
              <a:rPr lang="en-US" altLang="ja-JP" dirty="0" err="1"/>
              <a:t>elem</a:t>
            </a:r>
            <a:r>
              <a:rPr lang="en-US" altLang="ja-JP" dirty="0"/>
              <a:t>` map </a:t>
            </a:r>
            <a:r>
              <a:rPr lang="en-US" altLang="ja-JP" dirty="0" err="1"/>
              <a:t>ks</a:t>
            </a:r>
            <a:r>
              <a:rPr lang="en-US" altLang="ja-JP" dirty="0"/>
              <a:t> (filter p </a:t>
            </a:r>
            <a:r>
              <a:rPr lang="en-US" altLang="ja-JP" dirty="0" err="1"/>
              <a:t>ss</a:t>
            </a:r>
            <a:r>
              <a:rPr lang="en-US" altLang="ja-JP" dirty="0"/>
              <a:t>) |])</a:t>
            </a:r>
          </a:p>
          <a:p>
            <a:r>
              <a:rPr lang="en-US" altLang="ja-JP" dirty="0"/>
              <a:t>    ==&gt; \</a:t>
            </a:r>
            <a:r>
              <a:rPr lang="en-US" altLang="ja-JP" dirty="0" err="1"/>
              <a:t>ss</a:t>
            </a:r>
            <a:r>
              <a:rPr lang="en-US" altLang="ja-JP" dirty="0"/>
              <a:t> (v:_) -&gt; </a:t>
            </a:r>
            <a:r>
              <a:rPr lang="en-US" altLang="ja-JP" dirty="0" err="1"/>
              <a:t>uncurry</a:t>
            </a:r>
            <a:r>
              <a:rPr lang="en-US" altLang="ja-JP" dirty="0"/>
              <a:t> (:) (extract (</a:t>
            </a:r>
            <a:r>
              <a:rPr lang="en-US" altLang="ja-JP" dirty="0" err="1"/>
              <a:t>kv</a:t>
            </a:r>
            <a:r>
              <a:rPr lang="en-US" altLang="ja-JP" dirty="0"/>
              <a:t> v) </a:t>
            </a:r>
            <a:r>
              <a:rPr lang="en-US" altLang="ja-JP" dirty="0" err="1"/>
              <a:t>ss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  , $(</a:t>
            </a:r>
            <a:r>
              <a:rPr lang="en-US" altLang="ja-JP" dirty="0" err="1"/>
              <a:t>adaptiveSV</a:t>
            </a:r>
            <a:r>
              <a:rPr lang="en-US" altLang="ja-JP" dirty="0"/>
              <a:t> [p| _ |] [p| _:_ |])</a:t>
            </a:r>
          </a:p>
          <a:p>
            <a:r>
              <a:rPr lang="en-US" altLang="ja-JP" dirty="0"/>
              <a:t>    ==&gt; \</a:t>
            </a:r>
            <a:r>
              <a:rPr lang="en-US" altLang="ja-JP" dirty="0" err="1"/>
              <a:t>ss</a:t>
            </a:r>
            <a:r>
              <a:rPr lang="en-US" altLang="ja-JP" dirty="0"/>
              <a:t> (v:_) -&gt; </a:t>
            </a:r>
            <a:r>
              <a:rPr lang="en-US" altLang="ja-JP" dirty="0" err="1"/>
              <a:t>filterCheck</a:t>
            </a:r>
            <a:r>
              <a:rPr lang="en-US" altLang="ja-JP" dirty="0"/>
              <a:t> p (c v) : </a:t>
            </a:r>
            <a:r>
              <a:rPr lang="en-US" altLang="ja-JP" dirty="0" err="1"/>
              <a:t>ss</a:t>
            </a:r>
            <a:endParaRPr lang="en-US" altLang="ja-JP" dirty="0"/>
          </a:p>
          <a:p>
            <a:r>
              <a:rPr lang="en-US" altLang="ja-JP" dirty="0"/>
              <a:t>  ]</a:t>
            </a:r>
            <a:endParaRPr lang="ja-JP" altLang="en-US" dirty="0"/>
          </a:p>
        </p:txBody>
      </p:sp>
      <p:sp>
        <p:nvSpPr>
          <p:cNvPr id="6" name="円形吹き出し 5"/>
          <p:cNvSpPr/>
          <p:nvPr/>
        </p:nvSpPr>
        <p:spPr bwMode="auto">
          <a:xfrm>
            <a:off x="6372200" y="1268760"/>
            <a:ext cx="2592288" cy="1152128"/>
          </a:xfrm>
          <a:prstGeom prst="wedgeEllipseCallout">
            <a:avLst>
              <a:gd name="adj1" fmla="val -82209"/>
              <a:gd name="adj2" fmla="val -36046"/>
            </a:avLst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Add 2 new parameters</a:t>
            </a: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62654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From </a:t>
            </a:r>
            <a:r>
              <a:rPr kumimoji="1" lang="en-US" altLang="ja-JP" dirty="0" err="1" smtClean="0"/>
              <a:t>keyAlign</a:t>
            </a:r>
            <a:r>
              <a:rPr kumimoji="1" lang="en-US" altLang="ja-JP" dirty="0" smtClean="0"/>
              <a:t> to </a:t>
            </a:r>
            <a:r>
              <a:rPr kumimoji="1" lang="en-US" altLang="ja-JP" dirty="0" err="1" smtClean="0"/>
              <a:t>pAlign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52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426726" y="1029252"/>
            <a:ext cx="8177722" cy="5355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err="1"/>
              <a:t>pAlign</a:t>
            </a:r>
            <a:r>
              <a:rPr lang="en-US" altLang="ja-JP" dirty="0"/>
              <a:t> :: </a:t>
            </a:r>
            <a:r>
              <a:rPr lang="en-US" altLang="ja-JP" dirty="0" err="1"/>
              <a:t>forall</a:t>
            </a:r>
            <a:r>
              <a:rPr lang="en-US" altLang="ja-JP" dirty="0"/>
              <a:t> s v k. (Show s, Show v, </a:t>
            </a:r>
            <a:r>
              <a:rPr lang="en-US" altLang="ja-JP" dirty="0" err="1"/>
              <a:t>Eq</a:t>
            </a:r>
            <a:r>
              <a:rPr lang="en-US" altLang="ja-JP" dirty="0"/>
              <a:t> k)</a:t>
            </a:r>
          </a:p>
          <a:p>
            <a:r>
              <a:rPr lang="en-US" altLang="ja-JP" dirty="0"/>
              <a:t>         =</a:t>
            </a:r>
            <a:r>
              <a:rPr lang="en-US" altLang="ja-JP" dirty="0">
                <a:solidFill>
                  <a:srgbClr val="000000"/>
                </a:solidFill>
              </a:rPr>
              <a:t>&gt; (s -&gt; </a:t>
            </a:r>
            <a:r>
              <a:rPr lang="en-US" altLang="ja-JP" dirty="0" err="1">
                <a:solidFill>
                  <a:srgbClr val="000000"/>
                </a:solidFill>
              </a:rPr>
              <a:t>Bool</a:t>
            </a:r>
            <a:r>
              <a:rPr lang="en-US" altLang="ja-JP" dirty="0">
                <a:solidFill>
                  <a:srgbClr val="000000"/>
                </a:solidFill>
              </a:rPr>
              <a:t>) {- predicate -}</a:t>
            </a:r>
          </a:p>
          <a:p>
            <a:r>
              <a:rPr lang="en-US" altLang="ja-JP" dirty="0">
                <a:solidFill>
                  <a:srgbClr val="000000"/>
                </a:solidFill>
              </a:rPr>
              <a:t>            -&gt; (s -&gt; k) -&gt; (v -&gt; k) -&gt; </a:t>
            </a:r>
            <a:r>
              <a:rPr lang="en-US" altLang="ja-JP" dirty="0" err="1">
                <a:solidFill>
                  <a:srgbClr val="000000"/>
                </a:solidFill>
              </a:rPr>
              <a:t>BiGUL</a:t>
            </a:r>
            <a:r>
              <a:rPr lang="en-US" altLang="ja-JP" dirty="0">
                <a:solidFill>
                  <a:srgbClr val="000000"/>
                </a:solidFill>
              </a:rPr>
              <a:t> s v -&gt; (v -&gt; s) </a:t>
            </a:r>
          </a:p>
          <a:p>
            <a:r>
              <a:rPr lang="en-US" altLang="ja-JP" dirty="0">
                <a:solidFill>
                  <a:srgbClr val="000000"/>
                </a:solidFill>
              </a:rPr>
              <a:t>            -&gt; (s -&gt; Maybe s) {- </a:t>
            </a:r>
            <a:r>
              <a:rPr lang="en-US" altLang="ja-JP" dirty="0" smtClean="0">
                <a:solidFill>
                  <a:srgbClr val="000000"/>
                </a:solidFill>
              </a:rPr>
              <a:t>conceal/hide </a:t>
            </a:r>
            <a:r>
              <a:rPr lang="en-US" altLang="ja-JP" dirty="0">
                <a:solidFill>
                  <a:srgbClr val="000000"/>
                </a:solidFill>
              </a:rPr>
              <a:t>function -}</a:t>
            </a:r>
          </a:p>
          <a:p>
            <a:r>
              <a:rPr lang="en-US" altLang="ja-JP" dirty="0">
                <a:solidFill>
                  <a:srgbClr val="000000"/>
                </a:solidFill>
              </a:rPr>
              <a:t>            -&gt; </a:t>
            </a:r>
            <a:r>
              <a:rPr lang="en-US" altLang="ja-JP" dirty="0" err="1">
                <a:solidFill>
                  <a:srgbClr val="000000"/>
                </a:solidFill>
              </a:rPr>
              <a:t>BiGUL</a:t>
            </a:r>
            <a:r>
              <a:rPr lang="en-US" altLang="ja-JP" dirty="0">
                <a:solidFill>
                  <a:srgbClr val="000000"/>
                </a:solidFill>
              </a:rPr>
              <a:t> [s] [v]</a:t>
            </a:r>
          </a:p>
          <a:p>
            <a:r>
              <a:rPr lang="en-US" altLang="ja-JP" dirty="0" err="1">
                <a:solidFill>
                  <a:srgbClr val="000000"/>
                </a:solidFill>
              </a:rPr>
              <a:t>pAlign</a:t>
            </a:r>
            <a:r>
              <a:rPr lang="en-US" altLang="ja-JP" dirty="0">
                <a:solidFill>
                  <a:srgbClr val="000000"/>
                </a:solidFill>
              </a:rPr>
              <a:t> p </a:t>
            </a:r>
            <a:r>
              <a:rPr lang="en-US" altLang="ja-JP" dirty="0" err="1">
                <a:solidFill>
                  <a:srgbClr val="000000"/>
                </a:solidFill>
              </a:rPr>
              <a:t>ks</a:t>
            </a:r>
            <a:r>
              <a:rPr lang="en-US" altLang="ja-JP" dirty="0">
                <a:solidFill>
                  <a:srgbClr val="000000"/>
                </a:solidFill>
              </a:rPr>
              <a:t> </a:t>
            </a:r>
            <a:r>
              <a:rPr lang="en-US" altLang="ja-JP" dirty="0" err="1">
                <a:solidFill>
                  <a:srgbClr val="000000"/>
                </a:solidFill>
              </a:rPr>
              <a:t>kv</a:t>
            </a:r>
            <a:r>
              <a:rPr lang="en-US" altLang="ja-JP" dirty="0">
                <a:solidFill>
                  <a:srgbClr val="000000"/>
                </a:solidFill>
              </a:rPr>
              <a:t> b c h = Case</a:t>
            </a:r>
          </a:p>
          <a:p>
            <a:r>
              <a:rPr lang="en-US" altLang="ja-JP" dirty="0"/>
              <a:t>  [ $(</a:t>
            </a:r>
            <a:r>
              <a:rPr lang="en-US" altLang="ja-JP" dirty="0" err="1"/>
              <a:t>normalSV</a:t>
            </a:r>
            <a:r>
              <a:rPr lang="en-US" altLang="ja-JP" dirty="0"/>
              <a:t> [p| [] |] [p| [] |] [p| [] |])</a:t>
            </a:r>
          </a:p>
          <a:p>
            <a:r>
              <a:rPr lang="en-US" altLang="ja-JP" dirty="0"/>
              <a:t>    ==&gt; $(update [p| [] |] [p| [] |] [d| |])</a:t>
            </a:r>
          </a:p>
          <a:p>
            <a:r>
              <a:rPr lang="en-US" altLang="ja-JP" dirty="0"/>
              <a:t>  , $(normal [| \(</a:t>
            </a:r>
            <a:r>
              <a:rPr lang="en-US" altLang="ja-JP" dirty="0" err="1"/>
              <a:t>s:ss</a:t>
            </a:r>
            <a:r>
              <a:rPr lang="en-US" altLang="ja-JP" dirty="0"/>
              <a:t>) (</a:t>
            </a:r>
            <a:r>
              <a:rPr lang="en-US" altLang="ja-JP" dirty="0" err="1"/>
              <a:t>v:vs</a:t>
            </a:r>
            <a:r>
              <a:rPr lang="en-US" altLang="ja-JP" dirty="0"/>
              <a:t>) -</a:t>
            </a:r>
            <a:r>
              <a:rPr lang="en-US" altLang="ja-JP" dirty="0">
                <a:solidFill>
                  <a:srgbClr val="FF0000"/>
                </a:solidFill>
              </a:rPr>
              <a:t>&gt; p s </a:t>
            </a:r>
            <a:r>
              <a:rPr lang="en-US" altLang="ja-JP" dirty="0"/>
              <a:t>&amp;&amp; </a:t>
            </a:r>
            <a:r>
              <a:rPr lang="en-US" altLang="ja-JP" dirty="0" err="1"/>
              <a:t>ks</a:t>
            </a:r>
            <a:r>
              <a:rPr lang="en-US" altLang="ja-JP" dirty="0"/>
              <a:t> s == </a:t>
            </a:r>
            <a:r>
              <a:rPr lang="en-US" altLang="ja-JP" dirty="0" err="1"/>
              <a:t>kv</a:t>
            </a:r>
            <a:r>
              <a:rPr lang="en-US" altLang="ja-JP" dirty="0"/>
              <a:t> v |] [| \(</a:t>
            </a:r>
            <a:r>
              <a:rPr lang="en-US" altLang="ja-JP" dirty="0" err="1"/>
              <a:t>s:ss</a:t>
            </a:r>
            <a:r>
              <a:rPr lang="en-US" altLang="ja-JP" dirty="0"/>
              <a:t>) -</a:t>
            </a:r>
            <a:r>
              <a:rPr lang="en-US" altLang="ja-JP" dirty="0">
                <a:solidFill>
                  <a:srgbClr val="FF0000"/>
                </a:solidFill>
              </a:rPr>
              <a:t>&gt; p s </a:t>
            </a:r>
            <a:r>
              <a:rPr lang="en-US" altLang="ja-JP" dirty="0"/>
              <a:t>|])</a:t>
            </a:r>
          </a:p>
          <a:p>
            <a:r>
              <a:rPr lang="en-US" altLang="ja-JP" dirty="0"/>
              <a:t>    ==&gt; $(update [p| </a:t>
            </a:r>
            <a:r>
              <a:rPr lang="en-US" altLang="ja-JP" dirty="0" err="1"/>
              <a:t>x:xs</a:t>
            </a:r>
            <a:r>
              <a:rPr lang="en-US" altLang="ja-JP" dirty="0"/>
              <a:t> |] [p| </a:t>
            </a:r>
            <a:r>
              <a:rPr lang="en-US" altLang="ja-JP" dirty="0" err="1"/>
              <a:t>x:xs</a:t>
            </a:r>
            <a:r>
              <a:rPr lang="en-US" altLang="ja-JP" dirty="0"/>
              <a:t> |] [d| x = b; </a:t>
            </a:r>
            <a:r>
              <a:rPr lang="en-US" altLang="ja-JP" dirty="0" err="1"/>
              <a:t>xs</a:t>
            </a:r>
            <a:r>
              <a:rPr lang="en-US" altLang="ja-JP" dirty="0"/>
              <a:t> = </a:t>
            </a:r>
            <a:r>
              <a:rPr lang="en-US" altLang="ja-JP" dirty="0" err="1"/>
              <a:t>pAlign</a:t>
            </a:r>
            <a:r>
              <a:rPr lang="en-US" altLang="ja-JP" dirty="0"/>
              <a:t> 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h |])</a:t>
            </a:r>
          </a:p>
          <a:p>
            <a:r>
              <a:rPr lang="en-US" altLang="ja-JP" dirty="0"/>
              <a:t>  </a:t>
            </a:r>
            <a:r>
              <a:rPr lang="en-US" altLang="ja-JP" b="1" dirty="0">
                <a:solidFill>
                  <a:srgbClr val="000000"/>
                </a:solidFill>
              </a:rPr>
              <a:t>, </a:t>
            </a:r>
            <a:r>
              <a:rPr lang="en-US" altLang="ja-JP" dirty="0">
                <a:solidFill>
                  <a:schemeClr val="accent2"/>
                </a:solidFill>
              </a:rPr>
              <a:t>$(adaptive [| \(</a:t>
            </a:r>
            <a:r>
              <a:rPr lang="en-US" altLang="ja-JP" dirty="0" err="1">
                <a:solidFill>
                  <a:schemeClr val="accent2"/>
                </a:solidFill>
              </a:rPr>
              <a:t>s:ss</a:t>
            </a:r>
            <a:r>
              <a:rPr lang="en-US" altLang="ja-JP" dirty="0">
                <a:solidFill>
                  <a:schemeClr val="accent2"/>
                </a:solidFill>
              </a:rPr>
              <a:t>) v -&gt; p s &amp;&amp; null v|])</a:t>
            </a:r>
          </a:p>
          <a:p>
            <a:r>
              <a:rPr lang="en-US" altLang="ja-JP" dirty="0">
                <a:solidFill>
                  <a:schemeClr val="accent2"/>
                </a:solidFill>
              </a:rPr>
              <a:t>    ==&gt; \(</a:t>
            </a:r>
            <a:r>
              <a:rPr lang="en-US" altLang="ja-JP" dirty="0" err="1">
                <a:solidFill>
                  <a:schemeClr val="accent2"/>
                </a:solidFill>
              </a:rPr>
              <a:t>s:ss</a:t>
            </a:r>
            <a:r>
              <a:rPr lang="en-US" altLang="ja-JP" dirty="0">
                <a:solidFill>
                  <a:schemeClr val="accent2"/>
                </a:solidFill>
              </a:rPr>
              <a:t>) v -&gt; maybe [] (:[]) (</a:t>
            </a:r>
            <a:r>
              <a:rPr lang="en-US" altLang="ja-JP" dirty="0">
                <a:solidFill>
                  <a:srgbClr val="FF6600"/>
                </a:solidFill>
              </a:rPr>
              <a:t>h s</a:t>
            </a:r>
            <a:r>
              <a:rPr lang="en-US" altLang="ja-JP" dirty="0">
                <a:solidFill>
                  <a:schemeClr val="accent2"/>
                </a:solidFill>
              </a:rPr>
              <a:t>) ++ </a:t>
            </a:r>
            <a:r>
              <a:rPr lang="en-US" altLang="ja-JP" dirty="0" err="1">
                <a:solidFill>
                  <a:schemeClr val="accent2"/>
                </a:solidFill>
              </a:rPr>
              <a:t>ss</a:t>
            </a:r>
            <a:endParaRPr lang="en-US" altLang="ja-JP" dirty="0">
              <a:solidFill>
                <a:schemeClr val="accent2"/>
              </a:solidFill>
            </a:endParaRPr>
          </a:p>
          <a:p>
            <a:r>
              <a:rPr lang="en-US" altLang="ja-JP" dirty="0">
                <a:solidFill>
                  <a:schemeClr val="accent2"/>
                </a:solidFill>
              </a:rPr>
              <a:t>  , $(normal [| \(</a:t>
            </a:r>
            <a:r>
              <a:rPr lang="en-US" altLang="ja-JP" dirty="0" err="1">
                <a:solidFill>
                  <a:schemeClr val="accent2"/>
                </a:solidFill>
              </a:rPr>
              <a:t>s:ss</a:t>
            </a:r>
            <a:r>
              <a:rPr lang="en-US" altLang="ja-JP" dirty="0">
                <a:solidFill>
                  <a:schemeClr val="accent2"/>
                </a:solidFill>
              </a:rPr>
              <a:t>) v -&gt; </a:t>
            </a:r>
            <a:r>
              <a:rPr lang="en-US" altLang="ja-JP" dirty="0">
                <a:solidFill>
                  <a:srgbClr val="FF6600"/>
                </a:solidFill>
              </a:rPr>
              <a:t>not (p s) </a:t>
            </a:r>
            <a:r>
              <a:rPr lang="en-US" altLang="ja-JP" dirty="0">
                <a:solidFill>
                  <a:schemeClr val="accent2"/>
                </a:solidFill>
              </a:rPr>
              <a:t>|] [| \(</a:t>
            </a:r>
            <a:r>
              <a:rPr lang="en-US" altLang="ja-JP" dirty="0" err="1">
                <a:solidFill>
                  <a:schemeClr val="accent2"/>
                </a:solidFill>
              </a:rPr>
              <a:t>s:ss</a:t>
            </a:r>
            <a:r>
              <a:rPr lang="en-US" altLang="ja-JP" dirty="0">
                <a:solidFill>
                  <a:schemeClr val="accent2"/>
                </a:solidFill>
              </a:rPr>
              <a:t>) -&gt; not (p s) |])</a:t>
            </a:r>
          </a:p>
          <a:p>
            <a:r>
              <a:rPr lang="en-US" altLang="ja-JP" dirty="0">
                <a:solidFill>
                  <a:schemeClr val="accent2"/>
                </a:solidFill>
              </a:rPr>
              <a:t>    ==&gt; $(update [p| _:</a:t>
            </a:r>
            <a:r>
              <a:rPr lang="en-US" altLang="ja-JP" dirty="0" err="1">
                <a:solidFill>
                  <a:schemeClr val="accent2"/>
                </a:solidFill>
              </a:rPr>
              <a:t>xs</a:t>
            </a:r>
            <a:r>
              <a:rPr lang="en-US" altLang="ja-JP" dirty="0">
                <a:solidFill>
                  <a:schemeClr val="accent2"/>
                </a:solidFill>
              </a:rPr>
              <a:t> |] [p| </a:t>
            </a:r>
            <a:r>
              <a:rPr lang="en-US" altLang="ja-JP" dirty="0" err="1">
                <a:solidFill>
                  <a:schemeClr val="accent2"/>
                </a:solidFill>
              </a:rPr>
              <a:t>xs</a:t>
            </a:r>
            <a:r>
              <a:rPr lang="en-US" altLang="ja-JP" dirty="0">
                <a:solidFill>
                  <a:schemeClr val="accent2"/>
                </a:solidFill>
              </a:rPr>
              <a:t> |] [d| </a:t>
            </a:r>
            <a:r>
              <a:rPr lang="en-US" altLang="ja-JP" dirty="0" err="1">
                <a:solidFill>
                  <a:schemeClr val="accent2"/>
                </a:solidFill>
              </a:rPr>
              <a:t>xs</a:t>
            </a:r>
            <a:r>
              <a:rPr lang="en-US" altLang="ja-JP" dirty="0">
                <a:solidFill>
                  <a:schemeClr val="accent2"/>
                </a:solidFill>
              </a:rPr>
              <a:t> = </a:t>
            </a:r>
            <a:r>
              <a:rPr lang="en-US" altLang="ja-JP" dirty="0" err="1">
                <a:solidFill>
                  <a:schemeClr val="accent2"/>
                </a:solidFill>
              </a:rPr>
              <a:t>pAlign</a:t>
            </a:r>
            <a:r>
              <a:rPr lang="en-US" altLang="ja-JP" dirty="0">
                <a:solidFill>
                  <a:schemeClr val="accent2"/>
                </a:solidFill>
              </a:rPr>
              <a:t> p </a:t>
            </a:r>
            <a:r>
              <a:rPr lang="en-US" altLang="ja-JP" dirty="0" err="1">
                <a:solidFill>
                  <a:schemeClr val="accent2"/>
                </a:solidFill>
              </a:rPr>
              <a:t>ks</a:t>
            </a:r>
            <a:r>
              <a:rPr lang="en-US" altLang="ja-JP" dirty="0">
                <a:solidFill>
                  <a:schemeClr val="accent2"/>
                </a:solidFill>
              </a:rPr>
              <a:t> </a:t>
            </a:r>
            <a:r>
              <a:rPr lang="en-US" altLang="ja-JP" dirty="0" err="1">
                <a:solidFill>
                  <a:schemeClr val="accent2"/>
                </a:solidFill>
              </a:rPr>
              <a:t>kv</a:t>
            </a:r>
            <a:r>
              <a:rPr lang="en-US" altLang="ja-JP" dirty="0">
                <a:solidFill>
                  <a:schemeClr val="accent2"/>
                </a:solidFill>
              </a:rPr>
              <a:t> b c h |])</a:t>
            </a:r>
          </a:p>
          <a:p>
            <a:r>
              <a:rPr lang="en-US" altLang="ja-JP" dirty="0"/>
              <a:t>  , $(adaptive [| \</a:t>
            </a:r>
            <a:r>
              <a:rPr lang="en-US" altLang="ja-JP" dirty="0" err="1"/>
              <a:t>ss</a:t>
            </a:r>
            <a:r>
              <a:rPr lang="en-US" altLang="ja-JP" dirty="0"/>
              <a:t> (</a:t>
            </a:r>
            <a:r>
              <a:rPr lang="en-US" altLang="ja-JP" dirty="0" err="1"/>
              <a:t>v:vs</a:t>
            </a:r>
            <a:r>
              <a:rPr lang="en-US" altLang="ja-JP" dirty="0"/>
              <a:t>) -&gt; </a:t>
            </a:r>
            <a:r>
              <a:rPr lang="en-US" altLang="ja-JP" dirty="0" err="1"/>
              <a:t>kv</a:t>
            </a:r>
            <a:r>
              <a:rPr lang="en-US" altLang="ja-JP" dirty="0"/>
              <a:t> v `</a:t>
            </a:r>
            <a:r>
              <a:rPr lang="en-US" altLang="ja-JP" dirty="0" err="1"/>
              <a:t>elem</a:t>
            </a:r>
            <a:r>
              <a:rPr lang="en-US" altLang="ja-JP" dirty="0"/>
              <a:t>` map </a:t>
            </a:r>
            <a:r>
              <a:rPr lang="en-US" altLang="ja-JP" dirty="0" err="1"/>
              <a:t>ks</a:t>
            </a:r>
            <a:r>
              <a:rPr lang="en-US" altLang="ja-JP" dirty="0"/>
              <a:t> (filter p </a:t>
            </a:r>
            <a:r>
              <a:rPr lang="en-US" altLang="ja-JP" dirty="0" err="1"/>
              <a:t>ss</a:t>
            </a:r>
            <a:r>
              <a:rPr lang="en-US" altLang="ja-JP" dirty="0"/>
              <a:t>) |])</a:t>
            </a:r>
          </a:p>
          <a:p>
            <a:r>
              <a:rPr lang="en-US" altLang="ja-JP" dirty="0"/>
              <a:t>    ==&gt; \</a:t>
            </a:r>
            <a:r>
              <a:rPr lang="en-US" altLang="ja-JP" dirty="0" err="1"/>
              <a:t>ss</a:t>
            </a:r>
            <a:r>
              <a:rPr lang="en-US" altLang="ja-JP" dirty="0"/>
              <a:t> (v:_) -&gt; </a:t>
            </a:r>
            <a:r>
              <a:rPr lang="en-US" altLang="ja-JP" dirty="0" err="1"/>
              <a:t>uncurry</a:t>
            </a:r>
            <a:r>
              <a:rPr lang="en-US" altLang="ja-JP" dirty="0"/>
              <a:t> (:) (extract (</a:t>
            </a:r>
            <a:r>
              <a:rPr lang="en-US" altLang="ja-JP" dirty="0" err="1"/>
              <a:t>kv</a:t>
            </a:r>
            <a:r>
              <a:rPr lang="en-US" altLang="ja-JP" dirty="0"/>
              <a:t> v) </a:t>
            </a:r>
            <a:r>
              <a:rPr lang="en-US" altLang="ja-JP" dirty="0" err="1"/>
              <a:t>ss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  , $(</a:t>
            </a:r>
            <a:r>
              <a:rPr lang="en-US" altLang="ja-JP" dirty="0" err="1"/>
              <a:t>adaptiveSV</a:t>
            </a:r>
            <a:r>
              <a:rPr lang="en-US" altLang="ja-JP" dirty="0"/>
              <a:t> [p| _ |] [p| _:_ |])</a:t>
            </a:r>
          </a:p>
          <a:p>
            <a:r>
              <a:rPr lang="en-US" altLang="ja-JP" dirty="0"/>
              <a:t>    ==&gt; \</a:t>
            </a:r>
            <a:r>
              <a:rPr lang="en-US" altLang="ja-JP" dirty="0" err="1"/>
              <a:t>ss</a:t>
            </a:r>
            <a:r>
              <a:rPr lang="en-US" altLang="ja-JP" dirty="0"/>
              <a:t> (v:_) -&gt; </a:t>
            </a:r>
            <a:r>
              <a:rPr lang="en-US" altLang="ja-JP" dirty="0" err="1"/>
              <a:t>filterCheck</a:t>
            </a:r>
            <a:r>
              <a:rPr lang="en-US" altLang="ja-JP" dirty="0"/>
              <a:t> p (c v) : </a:t>
            </a:r>
            <a:r>
              <a:rPr lang="en-US" altLang="ja-JP" dirty="0" err="1"/>
              <a:t>ss</a:t>
            </a:r>
            <a:endParaRPr lang="en-US" altLang="ja-JP" dirty="0"/>
          </a:p>
          <a:p>
            <a:r>
              <a:rPr lang="en-US" altLang="ja-JP" dirty="0"/>
              <a:t>  ]</a:t>
            </a:r>
            <a:endParaRPr lang="ja-JP" altLang="en-US" dirty="0"/>
          </a:p>
        </p:txBody>
      </p:sp>
      <p:sp>
        <p:nvSpPr>
          <p:cNvPr id="6" name="円形吹き出し 5"/>
          <p:cNvSpPr/>
          <p:nvPr/>
        </p:nvSpPr>
        <p:spPr bwMode="auto">
          <a:xfrm>
            <a:off x="5796136" y="1268760"/>
            <a:ext cx="3168352" cy="1800200"/>
          </a:xfrm>
          <a:prstGeom prst="wedgeEllipseCallout">
            <a:avLst>
              <a:gd name="adj1" fmla="val -105083"/>
              <a:gd name="adj2" fmla="val 61446"/>
            </a:avLst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2000" dirty="0" smtClean="0">
                <a:solidFill>
                  <a:schemeClr val="tx1"/>
                </a:solidFill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Consider  the cases according to “p on source elements”</a:t>
            </a:r>
            <a:endParaRPr kumimoji="1" lang="ja-JP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72441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From </a:t>
            </a:r>
            <a:r>
              <a:rPr kumimoji="1" lang="en-US" altLang="ja-JP" dirty="0" err="1" smtClean="0"/>
              <a:t>keyAlign</a:t>
            </a:r>
            <a:r>
              <a:rPr kumimoji="1" lang="en-US" altLang="ja-JP" dirty="0" smtClean="0"/>
              <a:t> to </a:t>
            </a:r>
            <a:r>
              <a:rPr kumimoji="1" lang="en-US" altLang="ja-JP" dirty="0" err="1" smtClean="0"/>
              <a:t>pAlign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53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426726" y="1029252"/>
            <a:ext cx="8177722" cy="5355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err="1"/>
              <a:t>pAlign</a:t>
            </a:r>
            <a:r>
              <a:rPr lang="en-US" altLang="ja-JP" dirty="0"/>
              <a:t> :: </a:t>
            </a:r>
            <a:r>
              <a:rPr lang="en-US" altLang="ja-JP" dirty="0" err="1"/>
              <a:t>forall</a:t>
            </a:r>
            <a:r>
              <a:rPr lang="en-US" altLang="ja-JP" dirty="0"/>
              <a:t> s v k. (Show s, Show v, </a:t>
            </a:r>
            <a:r>
              <a:rPr lang="en-US" altLang="ja-JP" dirty="0" err="1"/>
              <a:t>Eq</a:t>
            </a:r>
            <a:r>
              <a:rPr lang="en-US" altLang="ja-JP" dirty="0"/>
              <a:t> k)</a:t>
            </a:r>
          </a:p>
          <a:p>
            <a:r>
              <a:rPr lang="en-US" altLang="ja-JP" dirty="0"/>
              <a:t>         =&gt; (s -&gt; </a:t>
            </a:r>
            <a:r>
              <a:rPr lang="en-US" altLang="ja-JP" dirty="0" err="1"/>
              <a:t>Bool</a:t>
            </a:r>
            <a:r>
              <a:rPr lang="en-US" altLang="ja-JP" dirty="0"/>
              <a:t>) {- predicate -}</a:t>
            </a:r>
          </a:p>
          <a:p>
            <a:r>
              <a:rPr lang="en-US" altLang="ja-JP" dirty="0"/>
              <a:t>            -&gt; (s -&gt; k) -&gt; (v -&gt; k) -&gt; </a:t>
            </a:r>
            <a:r>
              <a:rPr lang="en-US" altLang="ja-JP" dirty="0" err="1"/>
              <a:t>BiGUL</a:t>
            </a:r>
            <a:r>
              <a:rPr lang="en-US" altLang="ja-JP" dirty="0"/>
              <a:t> s v -&gt; (v -&gt; s) </a:t>
            </a:r>
          </a:p>
          <a:p>
            <a:r>
              <a:rPr lang="en-US" altLang="ja-JP" dirty="0"/>
              <a:t>            -&gt; (s -&gt; Maybe s) {- </a:t>
            </a:r>
            <a:r>
              <a:rPr lang="en-US" altLang="ja-JP" dirty="0" smtClean="0"/>
              <a:t>conceal/hide </a:t>
            </a:r>
            <a:r>
              <a:rPr lang="en-US" altLang="ja-JP" dirty="0"/>
              <a:t>function -}</a:t>
            </a:r>
          </a:p>
          <a:p>
            <a:r>
              <a:rPr lang="en-US" altLang="ja-JP" dirty="0"/>
              <a:t>            -&gt; </a:t>
            </a:r>
            <a:r>
              <a:rPr lang="en-US" altLang="ja-JP" dirty="0" err="1"/>
              <a:t>BiGUL</a:t>
            </a:r>
            <a:r>
              <a:rPr lang="en-US" altLang="ja-JP" dirty="0"/>
              <a:t> [s] [v]</a:t>
            </a:r>
          </a:p>
          <a:p>
            <a:r>
              <a:rPr lang="en-US" altLang="ja-JP" dirty="0" err="1"/>
              <a:t>pAlign</a:t>
            </a:r>
            <a:r>
              <a:rPr lang="en-US" altLang="ja-JP" dirty="0"/>
              <a:t> 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h = Case</a:t>
            </a:r>
          </a:p>
          <a:p>
            <a:r>
              <a:rPr lang="en-US" altLang="ja-JP" dirty="0"/>
              <a:t>  [ $(</a:t>
            </a:r>
            <a:r>
              <a:rPr lang="en-US" altLang="ja-JP" dirty="0" err="1"/>
              <a:t>normalSV</a:t>
            </a:r>
            <a:r>
              <a:rPr lang="en-US" altLang="ja-JP" dirty="0"/>
              <a:t> [p| [] |] [p| [] |] [p| [] |])</a:t>
            </a:r>
          </a:p>
          <a:p>
            <a:r>
              <a:rPr lang="en-US" altLang="ja-JP" dirty="0"/>
              <a:t>    ==&gt; $(update [p| [] |] [p| [] |] [d| |])</a:t>
            </a:r>
          </a:p>
          <a:p>
            <a:r>
              <a:rPr lang="en-US" altLang="ja-JP" dirty="0"/>
              <a:t>  , $(normal [| \(</a:t>
            </a:r>
            <a:r>
              <a:rPr lang="en-US" altLang="ja-JP" dirty="0" err="1"/>
              <a:t>s:ss</a:t>
            </a:r>
            <a:r>
              <a:rPr lang="en-US" altLang="ja-JP" dirty="0"/>
              <a:t>) (</a:t>
            </a:r>
            <a:r>
              <a:rPr lang="en-US" altLang="ja-JP" dirty="0" err="1"/>
              <a:t>v:vs</a:t>
            </a:r>
            <a:r>
              <a:rPr lang="en-US" altLang="ja-JP" dirty="0"/>
              <a:t>) -&gt; p s &amp;&amp; </a:t>
            </a:r>
            <a:r>
              <a:rPr lang="en-US" altLang="ja-JP" dirty="0" err="1"/>
              <a:t>ks</a:t>
            </a:r>
            <a:r>
              <a:rPr lang="en-US" altLang="ja-JP" dirty="0"/>
              <a:t> s == </a:t>
            </a:r>
            <a:r>
              <a:rPr lang="en-US" altLang="ja-JP" dirty="0" err="1"/>
              <a:t>kv</a:t>
            </a:r>
            <a:r>
              <a:rPr lang="en-US" altLang="ja-JP" dirty="0"/>
              <a:t> v |] [| \(</a:t>
            </a:r>
            <a:r>
              <a:rPr lang="en-US" altLang="ja-JP" dirty="0" err="1"/>
              <a:t>s:ss</a:t>
            </a:r>
            <a:r>
              <a:rPr lang="en-US" altLang="ja-JP" dirty="0"/>
              <a:t>) -&gt; p s |])</a:t>
            </a:r>
          </a:p>
          <a:p>
            <a:r>
              <a:rPr lang="en-US" altLang="ja-JP" dirty="0"/>
              <a:t>    ==&gt; $(update [p| </a:t>
            </a:r>
            <a:r>
              <a:rPr lang="en-US" altLang="ja-JP" dirty="0" err="1"/>
              <a:t>x:xs</a:t>
            </a:r>
            <a:r>
              <a:rPr lang="en-US" altLang="ja-JP" dirty="0"/>
              <a:t> |] [p| </a:t>
            </a:r>
            <a:r>
              <a:rPr lang="en-US" altLang="ja-JP" dirty="0" err="1"/>
              <a:t>x:xs</a:t>
            </a:r>
            <a:r>
              <a:rPr lang="en-US" altLang="ja-JP" dirty="0"/>
              <a:t> |] [d| x = b; </a:t>
            </a:r>
            <a:r>
              <a:rPr lang="en-US" altLang="ja-JP" dirty="0" err="1"/>
              <a:t>xs</a:t>
            </a:r>
            <a:r>
              <a:rPr lang="en-US" altLang="ja-JP" dirty="0"/>
              <a:t> = </a:t>
            </a:r>
            <a:r>
              <a:rPr lang="en-US" altLang="ja-JP" dirty="0" err="1"/>
              <a:t>pAlign</a:t>
            </a:r>
            <a:r>
              <a:rPr lang="en-US" altLang="ja-JP" dirty="0"/>
              <a:t> 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h |])</a:t>
            </a:r>
          </a:p>
          <a:p>
            <a:r>
              <a:rPr lang="en-US" altLang="ja-JP" dirty="0"/>
              <a:t>  , $(adaptive [| \(</a:t>
            </a:r>
            <a:r>
              <a:rPr lang="en-US" altLang="ja-JP" dirty="0" err="1"/>
              <a:t>s:ss</a:t>
            </a:r>
            <a:r>
              <a:rPr lang="en-US" altLang="ja-JP" dirty="0"/>
              <a:t>) v -&gt; p s &amp;&amp; null v|])</a:t>
            </a:r>
          </a:p>
          <a:p>
            <a:r>
              <a:rPr lang="en-US" altLang="ja-JP" dirty="0"/>
              <a:t>    ==&gt; \(</a:t>
            </a:r>
            <a:r>
              <a:rPr lang="en-US" altLang="ja-JP" dirty="0" err="1"/>
              <a:t>s:ss</a:t>
            </a:r>
            <a:r>
              <a:rPr lang="en-US" altLang="ja-JP" dirty="0"/>
              <a:t>) v -&gt; maybe [] (:[]) (h s) ++ </a:t>
            </a:r>
            <a:r>
              <a:rPr lang="en-US" altLang="ja-JP" dirty="0" err="1"/>
              <a:t>ss</a:t>
            </a:r>
            <a:endParaRPr lang="en-US" altLang="ja-JP" dirty="0"/>
          </a:p>
          <a:p>
            <a:r>
              <a:rPr lang="en-US" altLang="ja-JP" dirty="0"/>
              <a:t>  , $(normal [| \(</a:t>
            </a:r>
            <a:r>
              <a:rPr lang="en-US" altLang="ja-JP" dirty="0" err="1"/>
              <a:t>s:ss</a:t>
            </a:r>
            <a:r>
              <a:rPr lang="en-US" altLang="ja-JP" dirty="0"/>
              <a:t>) v -&gt; not (p s) |] [| \(</a:t>
            </a:r>
            <a:r>
              <a:rPr lang="en-US" altLang="ja-JP" dirty="0" err="1"/>
              <a:t>s:ss</a:t>
            </a:r>
            <a:r>
              <a:rPr lang="en-US" altLang="ja-JP" dirty="0"/>
              <a:t>) -&gt; not (p s) |])</a:t>
            </a:r>
          </a:p>
          <a:p>
            <a:r>
              <a:rPr lang="en-US" altLang="ja-JP" dirty="0"/>
              <a:t>    ==&gt; $(update [p| _:</a:t>
            </a:r>
            <a:r>
              <a:rPr lang="en-US" altLang="ja-JP" dirty="0" err="1"/>
              <a:t>xs</a:t>
            </a:r>
            <a:r>
              <a:rPr lang="en-US" altLang="ja-JP" dirty="0"/>
              <a:t> |] [p| </a:t>
            </a:r>
            <a:r>
              <a:rPr lang="en-US" altLang="ja-JP" dirty="0" err="1"/>
              <a:t>xs</a:t>
            </a:r>
            <a:r>
              <a:rPr lang="en-US" altLang="ja-JP" dirty="0"/>
              <a:t> |] [d| </a:t>
            </a:r>
            <a:r>
              <a:rPr lang="en-US" altLang="ja-JP" dirty="0" err="1"/>
              <a:t>xs</a:t>
            </a:r>
            <a:r>
              <a:rPr lang="en-US" altLang="ja-JP" dirty="0"/>
              <a:t> = </a:t>
            </a:r>
            <a:r>
              <a:rPr lang="en-US" altLang="ja-JP" dirty="0" err="1"/>
              <a:t>pAlign</a:t>
            </a:r>
            <a:r>
              <a:rPr lang="en-US" altLang="ja-JP" dirty="0"/>
              <a:t> 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h |])</a:t>
            </a:r>
          </a:p>
          <a:p>
            <a:r>
              <a:rPr lang="en-US" altLang="ja-JP" dirty="0"/>
              <a:t>  , $(adaptive [| \</a:t>
            </a:r>
            <a:r>
              <a:rPr lang="en-US" altLang="ja-JP" dirty="0" err="1"/>
              <a:t>ss</a:t>
            </a:r>
            <a:r>
              <a:rPr lang="en-US" altLang="ja-JP" dirty="0"/>
              <a:t> (</a:t>
            </a:r>
            <a:r>
              <a:rPr lang="en-US" altLang="ja-JP" dirty="0" err="1"/>
              <a:t>v:vs</a:t>
            </a:r>
            <a:r>
              <a:rPr lang="en-US" altLang="ja-JP" dirty="0"/>
              <a:t>) -&gt; </a:t>
            </a:r>
            <a:r>
              <a:rPr lang="en-US" altLang="ja-JP" dirty="0" err="1"/>
              <a:t>kv</a:t>
            </a:r>
            <a:r>
              <a:rPr lang="en-US" altLang="ja-JP" dirty="0"/>
              <a:t> v `</a:t>
            </a:r>
            <a:r>
              <a:rPr lang="en-US" altLang="ja-JP" dirty="0" err="1"/>
              <a:t>elem</a:t>
            </a:r>
            <a:r>
              <a:rPr lang="en-US" altLang="ja-JP" dirty="0"/>
              <a:t>` map </a:t>
            </a:r>
            <a:r>
              <a:rPr lang="en-US" altLang="ja-JP" dirty="0" err="1"/>
              <a:t>ks</a:t>
            </a:r>
            <a:r>
              <a:rPr lang="en-US" altLang="ja-JP" dirty="0"/>
              <a:t> (</a:t>
            </a:r>
            <a:r>
              <a:rPr lang="en-US" altLang="ja-JP" dirty="0">
                <a:solidFill>
                  <a:srgbClr val="FF0000"/>
                </a:solidFill>
              </a:rPr>
              <a:t>filter p </a:t>
            </a:r>
            <a:r>
              <a:rPr lang="en-US" altLang="ja-JP" dirty="0" err="1">
                <a:solidFill>
                  <a:srgbClr val="FF0000"/>
                </a:solidFill>
              </a:rPr>
              <a:t>ss</a:t>
            </a:r>
            <a:r>
              <a:rPr lang="en-US" altLang="ja-JP" dirty="0"/>
              <a:t>) |])</a:t>
            </a:r>
          </a:p>
          <a:p>
            <a:r>
              <a:rPr lang="en-US" altLang="ja-JP" dirty="0"/>
              <a:t>    ==&gt; \</a:t>
            </a:r>
            <a:r>
              <a:rPr lang="en-US" altLang="ja-JP" dirty="0" err="1"/>
              <a:t>ss</a:t>
            </a:r>
            <a:r>
              <a:rPr lang="en-US" altLang="ja-JP" dirty="0"/>
              <a:t> (v:_) -&gt; </a:t>
            </a:r>
            <a:r>
              <a:rPr lang="en-US" altLang="ja-JP" dirty="0" err="1"/>
              <a:t>uncurry</a:t>
            </a:r>
            <a:r>
              <a:rPr lang="en-US" altLang="ja-JP" dirty="0"/>
              <a:t> (:) (extract (</a:t>
            </a:r>
            <a:r>
              <a:rPr lang="en-US" altLang="ja-JP" dirty="0" err="1"/>
              <a:t>kv</a:t>
            </a:r>
            <a:r>
              <a:rPr lang="en-US" altLang="ja-JP" dirty="0"/>
              <a:t> v) </a:t>
            </a:r>
            <a:r>
              <a:rPr lang="en-US" altLang="ja-JP" dirty="0" err="1"/>
              <a:t>ss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  , $(</a:t>
            </a:r>
            <a:r>
              <a:rPr lang="en-US" altLang="ja-JP" dirty="0" err="1"/>
              <a:t>adaptiveSV</a:t>
            </a:r>
            <a:r>
              <a:rPr lang="en-US" altLang="ja-JP" dirty="0"/>
              <a:t> [p| _ |] [p| _:_ |])</a:t>
            </a:r>
          </a:p>
          <a:p>
            <a:r>
              <a:rPr lang="en-US" altLang="ja-JP" dirty="0"/>
              <a:t>    ==&gt; \</a:t>
            </a:r>
            <a:r>
              <a:rPr lang="en-US" altLang="ja-JP" dirty="0" err="1"/>
              <a:t>ss</a:t>
            </a:r>
            <a:r>
              <a:rPr lang="en-US" altLang="ja-JP" dirty="0"/>
              <a:t> (v:_) -</a:t>
            </a:r>
            <a:r>
              <a:rPr lang="en-US" altLang="ja-JP" dirty="0">
                <a:solidFill>
                  <a:srgbClr val="FF0000"/>
                </a:solidFill>
              </a:rPr>
              <a:t>&gt; </a:t>
            </a:r>
            <a:r>
              <a:rPr lang="en-US" altLang="ja-JP" dirty="0" err="1">
                <a:solidFill>
                  <a:srgbClr val="FF0000"/>
                </a:solidFill>
              </a:rPr>
              <a:t>filterCheck</a:t>
            </a:r>
            <a:r>
              <a:rPr lang="en-US" altLang="ja-JP" dirty="0">
                <a:solidFill>
                  <a:srgbClr val="FF0000"/>
                </a:solidFill>
              </a:rPr>
              <a:t> p </a:t>
            </a:r>
            <a:r>
              <a:rPr lang="en-US" altLang="ja-JP" dirty="0"/>
              <a:t>(c v) : </a:t>
            </a:r>
            <a:r>
              <a:rPr lang="en-US" altLang="ja-JP" dirty="0" err="1"/>
              <a:t>ss</a:t>
            </a:r>
            <a:endParaRPr lang="en-US" altLang="ja-JP" dirty="0"/>
          </a:p>
          <a:p>
            <a:r>
              <a:rPr lang="en-US" altLang="ja-JP" dirty="0"/>
              <a:t>  ]</a:t>
            </a:r>
            <a:endParaRPr lang="ja-JP" altLang="en-US" dirty="0"/>
          </a:p>
        </p:txBody>
      </p:sp>
      <p:sp>
        <p:nvSpPr>
          <p:cNvPr id="6" name="円形吹き出し 5"/>
          <p:cNvSpPr/>
          <p:nvPr/>
        </p:nvSpPr>
        <p:spPr bwMode="auto">
          <a:xfrm>
            <a:off x="5796136" y="1268760"/>
            <a:ext cx="3168352" cy="1800200"/>
          </a:xfrm>
          <a:prstGeom prst="wedgeEllipseCallout">
            <a:avLst>
              <a:gd name="adj1" fmla="val -119050"/>
              <a:gd name="adj2" fmla="val 187586"/>
            </a:avLst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Guarantee the new source elements satisfying p.</a:t>
            </a:r>
            <a:endParaRPr kumimoji="1" lang="ja-JP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81277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From</a:t>
            </a:r>
            <a:r>
              <a:rPr kumimoji="1" lang="ja-JP" altLang="en-US" dirty="0" smtClean="0"/>
              <a:t> </a:t>
            </a:r>
            <a:r>
              <a:rPr kumimoji="1" lang="en-US" altLang="ja-JP" dirty="0" err="1" smtClean="0"/>
              <a:t>pAlign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to</a:t>
            </a:r>
            <a:r>
              <a:rPr kumimoji="1" lang="ja-JP" altLang="en-US" dirty="0" smtClean="0"/>
              <a:t> </a:t>
            </a:r>
            <a:r>
              <a:rPr lang="ja-JP" altLang="ja-JP" dirty="0" smtClean="0"/>
              <a:t>r</a:t>
            </a:r>
            <a:r>
              <a:rPr lang="en-US" altLang="ja-JP" dirty="0" err="1" smtClean="0"/>
              <a:t>elAlign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54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446541" y="1196752"/>
            <a:ext cx="846043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err="1"/>
              <a:t>relAlign</a:t>
            </a:r>
            <a:r>
              <a:rPr lang="en-US" altLang="ja-JP" dirty="0"/>
              <a:t> :</a:t>
            </a:r>
            <a:r>
              <a:rPr lang="en-US" altLang="ja-JP" sz="1400" dirty="0"/>
              <a:t>: </a:t>
            </a:r>
            <a:r>
              <a:rPr lang="en-US" altLang="ja-JP" sz="1400" dirty="0" smtClean="0"/>
              <a:t> </a:t>
            </a:r>
            <a:r>
              <a:rPr lang="is-IS" altLang="ja-JP" sz="1400" dirty="0" smtClean="0"/>
              <a:t>…</a:t>
            </a:r>
            <a:r>
              <a:rPr lang="en-US" altLang="ja-JP" dirty="0" smtClean="0"/>
              <a:t> -</a:t>
            </a:r>
            <a:r>
              <a:rPr lang="en-US" altLang="ja-JP" dirty="0" smtClean="0">
                <a:solidFill>
                  <a:srgbClr val="FF6600"/>
                </a:solidFill>
              </a:rPr>
              <a:t>&gt; </a:t>
            </a:r>
            <a:r>
              <a:rPr lang="en-US" altLang="ja-JP" dirty="0">
                <a:solidFill>
                  <a:srgbClr val="FF6600"/>
                </a:solidFill>
              </a:rPr>
              <a:t>(s -&gt; s) {- dependency maintaining function -}</a:t>
            </a:r>
          </a:p>
          <a:p>
            <a:r>
              <a:rPr lang="en-US" altLang="ja-JP" dirty="0"/>
              <a:t>            -&gt; </a:t>
            </a:r>
            <a:r>
              <a:rPr lang="en-US" altLang="ja-JP" dirty="0" err="1"/>
              <a:t>BiGUL</a:t>
            </a:r>
            <a:r>
              <a:rPr lang="en-US" altLang="ja-JP" dirty="0"/>
              <a:t> [s] [v]</a:t>
            </a:r>
          </a:p>
          <a:p>
            <a:r>
              <a:rPr lang="en-US" altLang="ja-JP" dirty="0" err="1"/>
              <a:t>relAlign</a:t>
            </a:r>
            <a:r>
              <a:rPr lang="en-US" altLang="ja-JP" dirty="0"/>
              <a:t> 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h </a:t>
            </a:r>
            <a:r>
              <a:rPr lang="en-US" altLang="ja-JP" dirty="0" err="1"/>
              <a:t>fd</a:t>
            </a:r>
            <a:r>
              <a:rPr lang="en-US" altLang="ja-JP" dirty="0"/>
              <a:t> = Case</a:t>
            </a:r>
          </a:p>
          <a:p>
            <a:r>
              <a:rPr lang="en-US" altLang="ja-JP" dirty="0"/>
              <a:t>  </a:t>
            </a:r>
            <a:r>
              <a:rPr lang="en-US" altLang="ja-JP" dirty="0" smtClean="0"/>
              <a:t>[</a:t>
            </a:r>
            <a:r>
              <a:rPr lang="ja-JP" altLang="en-US" dirty="0" smtClean="0"/>
              <a:t> </a:t>
            </a:r>
            <a:r>
              <a:rPr lang="is-IS" altLang="ja-JP" dirty="0" smtClean="0"/>
              <a:t>…</a:t>
            </a:r>
          </a:p>
          <a:p>
            <a:r>
              <a:rPr lang="ja-JP" altLang="ja-JP" sz="1400" dirty="0"/>
              <a:t> </a:t>
            </a:r>
            <a:r>
              <a:rPr lang="ja-JP" altLang="en-US" sz="1400" dirty="0" smtClean="0"/>
              <a:t>   </a:t>
            </a:r>
            <a:r>
              <a:rPr lang="en-US" altLang="ja-JP" sz="1400" dirty="0" smtClean="0"/>
              <a:t>, </a:t>
            </a:r>
            <a:r>
              <a:rPr lang="en-US" altLang="ja-JP" dirty="0"/>
              <a:t>$(adaptive [| \(</a:t>
            </a:r>
            <a:r>
              <a:rPr lang="en-US" altLang="ja-JP" dirty="0" err="1"/>
              <a:t>s:ss</a:t>
            </a:r>
            <a:r>
              <a:rPr lang="en-US" altLang="ja-JP" dirty="0"/>
              <a:t>) v -&gt; p s &amp;&amp; null v|])</a:t>
            </a:r>
          </a:p>
          <a:p>
            <a:r>
              <a:rPr lang="en-US" altLang="ja-JP" dirty="0"/>
              <a:t>    ==&gt; \(</a:t>
            </a:r>
            <a:r>
              <a:rPr lang="en-US" altLang="ja-JP" dirty="0" err="1"/>
              <a:t>s:ss</a:t>
            </a:r>
            <a:r>
              <a:rPr lang="en-US" altLang="ja-JP" dirty="0"/>
              <a:t>) v -&gt; </a:t>
            </a:r>
            <a:r>
              <a:rPr lang="en-US" altLang="ja-JP" dirty="0">
                <a:solidFill>
                  <a:srgbClr val="FF6600"/>
                </a:solidFill>
              </a:rPr>
              <a:t>maybe [] ((:[]) . </a:t>
            </a:r>
            <a:r>
              <a:rPr lang="en-US" altLang="ja-JP" dirty="0" err="1">
                <a:solidFill>
                  <a:srgbClr val="FF6600"/>
                </a:solidFill>
              </a:rPr>
              <a:t>filterCheck</a:t>
            </a:r>
            <a:r>
              <a:rPr lang="en-US" altLang="ja-JP" dirty="0">
                <a:solidFill>
                  <a:srgbClr val="FF6600"/>
                </a:solidFill>
              </a:rPr>
              <a:t> p . </a:t>
            </a:r>
            <a:r>
              <a:rPr lang="en-US" altLang="ja-JP" dirty="0" err="1">
                <a:solidFill>
                  <a:srgbClr val="FF6600"/>
                </a:solidFill>
              </a:rPr>
              <a:t>fd</a:t>
            </a:r>
            <a:r>
              <a:rPr lang="en-US" altLang="ja-JP" dirty="0">
                <a:solidFill>
                  <a:srgbClr val="FF6600"/>
                </a:solidFill>
              </a:rPr>
              <a:t>) (h s) </a:t>
            </a:r>
            <a:r>
              <a:rPr lang="en-US" altLang="ja-JP" dirty="0"/>
              <a:t>++ </a:t>
            </a:r>
            <a:r>
              <a:rPr lang="en-US" altLang="ja-JP" dirty="0" err="1"/>
              <a:t>ss</a:t>
            </a:r>
            <a:endParaRPr lang="en-US" altLang="ja-JP" dirty="0"/>
          </a:p>
          <a:p>
            <a:r>
              <a:rPr lang="en-US" altLang="ja-JP" dirty="0"/>
              <a:t>  , $(normal [| \(</a:t>
            </a:r>
            <a:r>
              <a:rPr lang="en-US" altLang="ja-JP" dirty="0" err="1"/>
              <a:t>s:ss</a:t>
            </a:r>
            <a:r>
              <a:rPr lang="en-US" altLang="ja-JP" dirty="0"/>
              <a:t>) v -&gt; not (p s) |] [| \(</a:t>
            </a:r>
            <a:r>
              <a:rPr lang="en-US" altLang="ja-JP" dirty="0" err="1"/>
              <a:t>s:ss</a:t>
            </a:r>
            <a:r>
              <a:rPr lang="en-US" altLang="ja-JP" dirty="0"/>
              <a:t>) -&gt; not (p s) |])</a:t>
            </a:r>
          </a:p>
          <a:p>
            <a:r>
              <a:rPr lang="en-US" altLang="ja-JP" dirty="0"/>
              <a:t>    ==&gt; Case</a:t>
            </a:r>
          </a:p>
          <a:p>
            <a:r>
              <a:rPr lang="en-US" altLang="ja-JP" dirty="0"/>
              <a:t>     [ $(adaptive [| \(s:_) _ -&gt; </a:t>
            </a:r>
            <a:r>
              <a:rPr lang="en-US" altLang="ja-JP" dirty="0" err="1">
                <a:solidFill>
                  <a:srgbClr val="FF6600"/>
                </a:solidFill>
              </a:rPr>
              <a:t>fd</a:t>
            </a:r>
            <a:r>
              <a:rPr lang="en-US" altLang="ja-JP" dirty="0">
                <a:solidFill>
                  <a:srgbClr val="FF6600"/>
                </a:solidFill>
              </a:rPr>
              <a:t> s /= s </a:t>
            </a:r>
            <a:r>
              <a:rPr lang="en-US" altLang="ja-JP" dirty="0"/>
              <a:t>|])</a:t>
            </a:r>
          </a:p>
          <a:p>
            <a:r>
              <a:rPr lang="en-US" altLang="ja-JP" dirty="0"/>
              <a:t>        ==&gt; \(</a:t>
            </a:r>
            <a:r>
              <a:rPr lang="en-US" altLang="ja-JP" dirty="0" err="1"/>
              <a:t>s:ss</a:t>
            </a:r>
            <a:r>
              <a:rPr lang="en-US" altLang="ja-JP" dirty="0"/>
              <a:t>) _ -</a:t>
            </a:r>
            <a:r>
              <a:rPr lang="en-US" altLang="ja-JP" dirty="0">
                <a:solidFill>
                  <a:srgbClr val="FF6600"/>
                </a:solidFill>
              </a:rPr>
              <a:t>&gt; </a:t>
            </a:r>
            <a:r>
              <a:rPr lang="en-US" altLang="ja-JP" dirty="0" err="1">
                <a:solidFill>
                  <a:srgbClr val="FF6600"/>
                </a:solidFill>
              </a:rPr>
              <a:t>filterCheck</a:t>
            </a:r>
            <a:r>
              <a:rPr lang="en-US" altLang="ja-JP" dirty="0">
                <a:solidFill>
                  <a:srgbClr val="FF6600"/>
                </a:solidFill>
              </a:rPr>
              <a:t> (</a:t>
            </a:r>
            <a:r>
              <a:rPr lang="en-US" altLang="ja-JP" dirty="0" err="1">
                <a:solidFill>
                  <a:srgbClr val="FF6600"/>
                </a:solidFill>
              </a:rPr>
              <a:t>not.p</a:t>
            </a:r>
            <a:r>
              <a:rPr lang="en-US" altLang="ja-JP" dirty="0">
                <a:solidFill>
                  <a:srgbClr val="FF6600"/>
                </a:solidFill>
              </a:rPr>
              <a:t>) (</a:t>
            </a:r>
            <a:r>
              <a:rPr lang="en-US" altLang="ja-JP" dirty="0" err="1">
                <a:solidFill>
                  <a:srgbClr val="FF6600"/>
                </a:solidFill>
              </a:rPr>
              <a:t>fd</a:t>
            </a:r>
            <a:r>
              <a:rPr lang="en-US" altLang="ja-JP" dirty="0">
                <a:solidFill>
                  <a:srgbClr val="FF6600"/>
                </a:solidFill>
              </a:rPr>
              <a:t> s) </a:t>
            </a:r>
            <a:r>
              <a:rPr lang="en-US" altLang="ja-JP" dirty="0"/>
              <a:t>: </a:t>
            </a:r>
            <a:r>
              <a:rPr lang="en-US" altLang="ja-JP" dirty="0" err="1"/>
              <a:t>ss</a:t>
            </a:r>
            <a:endParaRPr lang="en-US" altLang="ja-JP" dirty="0"/>
          </a:p>
          <a:p>
            <a:r>
              <a:rPr lang="en-US" altLang="ja-JP" dirty="0"/>
              <a:t>     , $(normal [|\_ _ -&gt; True |] [| </a:t>
            </a:r>
            <a:r>
              <a:rPr lang="en-US" altLang="ja-JP" dirty="0" err="1"/>
              <a:t>const</a:t>
            </a:r>
            <a:r>
              <a:rPr lang="en-US" altLang="ja-JP" dirty="0"/>
              <a:t> True |])</a:t>
            </a:r>
          </a:p>
          <a:p>
            <a:r>
              <a:rPr lang="en-US" altLang="ja-JP" dirty="0"/>
              <a:t>        ==&gt; $(update [p| _:</a:t>
            </a:r>
            <a:r>
              <a:rPr lang="en-US" altLang="ja-JP" dirty="0" err="1"/>
              <a:t>xs</a:t>
            </a:r>
            <a:r>
              <a:rPr lang="en-US" altLang="ja-JP" dirty="0"/>
              <a:t> |] [p| </a:t>
            </a:r>
            <a:r>
              <a:rPr lang="en-US" altLang="ja-JP" dirty="0" err="1"/>
              <a:t>xs</a:t>
            </a:r>
            <a:r>
              <a:rPr lang="en-US" altLang="ja-JP" dirty="0"/>
              <a:t> |] [d| </a:t>
            </a:r>
            <a:r>
              <a:rPr lang="en-US" altLang="ja-JP" dirty="0" err="1"/>
              <a:t>xs</a:t>
            </a:r>
            <a:r>
              <a:rPr lang="en-US" altLang="ja-JP" dirty="0"/>
              <a:t> = </a:t>
            </a:r>
            <a:r>
              <a:rPr lang="en-US" altLang="ja-JP" dirty="0" err="1"/>
              <a:t>relAlign</a:t>
            </a:r>
            <a:r>
              <a:rPr lang="en-US" altLang="ja-JP" dirty="0"/>
              <a:t> 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h </a:t>
            </a:r>
            <a:r>
              <a:rPr lang="en-US" altLang="ja-JP" dirty="0" err="1"/>
              <a:t>fd</a:t>
            </a:r>
            <a:r>
              <a:rPr lang="en-US" altLang="ja-JP" dirty="0"/>
              <a:t> |])</a:t>
            </a:r>
          </a:p>
          <a:p>
            <a:r>
              <a:rPr lang="en-US" altLang="ja-JP" dirty="0"/>
              <a:t>     ]</a:t>
            </a:r>
          </a:p>
          <a:p>
            <a:r>
              <a:rPr lang="en-US" altLang="ja-JP" dirty="0" smtClean="0"/>
              <a:t>     </a:t>
            </a:r>
            <a:r>
              <a:rPr lang="is-IS" altLang="ja-JP" dirty="0" smtClean="0"/>
              <a:t>…</a:t>
            </a:r>
          </a:p>
          <a:p>
            <a:r>
              <a:rPr lang="en-US" altLang="ja-JP" dirty="0" smtClean="0"/>
              <a:t>]</a:t>
            </a:r>
            <a:endParaRPr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33463" y="5374957"/>
            <a:ext cx="6878806" cy="646331"/>
          </a:xfrm>
          <a:prstGeom prst="rect">
            <a:avLst/>
          </a:prstGeom>
          <a:noFill/>
          <a:ln>
            <a:solidFill>
              <a:srgbClr val="00CC99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Perform </a:t>
            </a:r>
            <a:r>
              <a:rPr lang="en-US" altLang="ja-JP" dirty="0" err="1" smtClean="0"/>
              <a:t>fd</a:t>
            </a:r>
            <a:r>
              <a:rPr lang="en-US" altLang="ja-JP" dirty="0" smtClean="0"/>
              <a:t> on</a:t>
            </a:r>
            <a:r>
              <a:rPr kumimoji="1" lang="en-US" altLang="ja-JP" dirty="0" smtClean="0"/>
              <a:t> those source elements that does not satisfy p or </a:t>
            </a:r>
          </a:p>
          <a:p>
            <a:r>
              <a:rPr kumimoji="1" lang="en-US" altLang="ja-JP" dirty="0" smtClean="0"/>
              <a:t>has no </a:t>
            </a:r>
            <a:r>
              <a:rPr lang="en-US" altLang="ja-JP" dirty="0"/>
              <a:t>m</a:t>
            </a:r>
            <a:r>
              <a:rPr lang="en-US" altLang="ja-JP" dirty="0" smtClean="0"/>
              <a:t>atching element in the view.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215320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Use of </a:t>
            </a:r>
            <a:r>
              <a:rPr kumimoji="1" lang="en-US" altLang="ja-JP" dirty="0" err="1" smtClean="0"/>
              <a:t>relAlign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55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685800" y="2492896"/>
            <a:ext cx="7848872" cy="3139321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u0 :: </a:t>
            </a:r>
            <a:r>
              <a:rPr lang="en-US" altLang="ja-JP" dirty="0" err="1"/>
              <a:t>RType</a:t>
            </a:r>
            <a:r>
              <a:rPr lang="en-US" altLang="ja-JP" dirty="0"/>
              <a:t> -&gt; (Record -&gt; Record) -&gt; </a:t>
            </a:r>
            <a:r>
              <a:rPr lang="en-US" altLang="ja-JP" dirty="0" err="1"/>
              <a:t>BiGUL</a:t>
            </a:r>
            <a:r>
              <a:rPr lang="en-US" altLang="ja-JP" dirty="0"/>
              <a:t> [Record] [Record]</a:t>
            </a:r>
          </a:p>
          <a:p>
            <a:r>
              <a:rPr lang="en-US" altLang="ja-JP" dirty="0"/>
              <a:t>u0 d =</a:t>
            </a:r>
          </a:p>
          <a:p>
            <a:r>
              <a:rPr lang="en-US" altLang="ja-JP" dirty="0"/>
              <a:t>  </a:t>
            </a:r>
            <a:r>
              <a:rPr lang="en-US" altLang="ja-JP" dirty="0" err="1"/>
              <a:t>relAlign</a:t>
            </a:r>
            <a:endParaRPr lang="en-US" altLang="ja-JP" dirty="0"/>
          </a:p>
          <a:p>
            <a:r>
              <a:rPr lang="en-US" altLang="ja-JP" dirty="0"/>
              <a:t>    (\r -&gt; (r !! 4) &gt; </a:t>
            </a:r>
            <a:r>
              <a:rPr lang="en-US" altLang="ja-JP" dirty="0" err="1"/>
              <a:t>RInt</a:t>
            </a:r>
            <a:r>
              <a:rPr lang="en-US" altLang="ja-JP" dirty="0"/>
              <a:t> 2)</a:t>
            </a:r>
          </a:p>
          <a:p>
            <a:r>
              <a:rPr lang="en-US" altLang="ja-JP" dirty="0"/>
              <a:t>    (\s -&gt; (s !! 0, s!!3))</a:t>
            </a:r>
          </a:p>
          <a:p>
            <a:r>
              <a:rPr lang="en-US" altLang="ja-JP" dirty="0"/>
              <a:t>    (\v -&gt; (v !! 0, v !! 2))</a:t>
            </a:r>
          </a:p>
          <a:p>
            <a:r>
              <a:rPr lang="en-US" altLang="ja-JP" dirty="0"/>
              <a:t>    $(update [p| (t: _: r: a: q: [])|]</a:t>
            </a:r>
          </a:p>
          <a:p>
            <a:r>
              <a:rPr lang="en-US" altLang="ja-JP" dirty="0"/>
              <a:t>             [p| (t: r: a: q: []) |]</a:t>
            </a:r>
          </a:p>
          <a:p>
            <a:r>
              <a:rPr lang="en-US" altLang="ja-JP" dirty="0"/>
              <a:t>             [d| t = Replace; r = Replace; a = Replace; q = Replace |])</a:t>
            </a:r>
          </a:p>
          <a:p>
            <a:r>
              <a:rPr lang="en-US" altLang="ja-JP" dirty="0"/>
              <a:t>    (\(t: r: a: q: []) -&gt; (t: d: r: a: q: []))</a:t>
            </a:r>
          </a:p>
          <a:p>
            <a:r>
              <a:rPr lang="en-US" altLang="ja-JP" dirty="0"/>
              <a:t>   </a:t>
            </a:r>
            <a:r>
              <a:rPr lang="en-US" altLang="ja-JP" dirty="0">
                <a:solidFill>
                  <a:srgbClr val="FF6600"/>
                </a:solidFill>
              </a:rPr>
              <a:t> (\</a:t>
            </a:r>
            <a:r>
              <a:rPr lang="en-US" altLang="ja-JP" dirty="0" err="1">
                <a:solidFill>
                  <a:srgbClr val="FF6600"/>
                </a:solidFill>
              </a:rPr>
              <a:t>rs</a:t>
            </a:r>
            <a:r>
              <a:rPr lang="en-US" altLang="ja-JP" dirty="0">
                <a:solidFill>
                  <a:srgbClr val="FF6600"/>
                </a:solidFill>
              </a:rPr>
              <a:t> -&gt; Nothing)</a:t>
            </a:r>
            <a:endParaRPr lang="ja-JP" altLang="en-US" dirty="0">
              <a:solidFill>
                <a:srgbClr val="FF6600"/>
              </a:solidFill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85800" y="1556792"/>
            <a:ext cx="69335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Define an update policy: if an element is removed from the view,</a:t>
            </a:r>
            <a:r>
              <a:rPr lang="en-US" altLang="en-US" dirty="0" smtClean="0"/>
              <a:t> </a:t>
            </a:r>
          </a:p>
          <a:p>
            <a:r>
              <a:rPr lang="en-US" altLang="en-US" dirty="0" smtClean="0"/>
              <a:t>the corresponding source elements should be removed. 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9354965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56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685800" y="2131115"/>
            <a:ext cx="7498977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*</a:t>
            </a:r>
            <a:r>
              <a:rPr lang="en-US" altLang="ja-JP" dirty="0" err="1"/>
              <a:t>Brul</a:t>
            </a:r>
            <a:r>
              <a:rPr lang="en-US" altLang="ja-JP" dirty="0"/>
              <a:t>&gt; get (u0 (</a:t>
            </a:r>
            <a:r>
              <a:rPr lang="en-US" altLang="ja-JP" dirty="0" err="1"/>
              <a:t>RInt</a:t>
            </a:r>
            <a:r>
              <a:rPr lang="en-US" altLang="ja-JP" dirty="0"/>
              <a:t> (-1)) id) s</a:t>
            </a:r>
          </a:p>
          <a:p>
            <a:r>
              <a:rPr lang="en-US" altLang="ja-JP" dirty="0"/>
              <a:t>Just</a:t>
            </a:r>
          </a:p>
          <a:p>
            <a:r>
              <a:rPr lang="en-US" altLang="ja-JP" dirty="0"/>
              <a:t>[[</a:t>
            </a:r>
            <a:r>
              <a:rPr lang="en-US" altLang="ja-JP" dirty="0" err="1"/>
              <a:t>RString</a:t>
            </a:r>
            <a:r>
              <a:rPr lang="en-US" altLang="ja-JP" dirty="0"/>
              <a:t> "Lullaby",</a:t>
            </a:r>
            <a:r>
              <a:rPr lang="en-US" altLang="ja-JP" dirty="0" err="1"/>
              <a:t>RInt</a:t>
            </a:r>
            <a:r>
              <a:rPr lang="en-US" altLang="ja-JP" dirty="0"/>
              <a:t> 3,RString "Show",</a:t>
            </a:r>
            <a:r>
              <a:rPr lang="en-US" altLang="ja-JP" dirty="0" err="1"/>
              <a:t>RInt</a:t>
            </a:r>
            <a:r>
              <a:rPr lang="en-US" altLang="ja-JP" dirty="0"/>
              <a:t> 3],</a:t>
            </a:r>
          </a:p>
          <a:p>
            <a:r>
              <a:rPr lang="en-US" altLang="ja-JP" dirty="0"/>
              <a:t>[</a:t>
            </a:r>
            <a:r>
              <a:rPr lang="en-US" altLang="ja-JP" dirty="0" err="1"/>
              <a:t>RString</a:t>
            </a:r>
            <a:r>
              <a:rPr lang="en-US" altLang="ja-JP" dirty="0"/>
              <a:t> "</a:t>
            </a:r>
            <a:r>
              <a:rPr lang="en-US" altLang="ja-JP" dirty="0" err="1"/>
              <a:t>Lovesong</a:t>
            </a:r>
            <a:r>
              <a:rPr lang="en-US" altLang="ja-JP" dirty="0"/>
              <a:t>",</a:t>
            </a:r>
            <a:r>
              <a:rPr lang="en-US" altLang="ja-JP" dirty="0" err="1"/>
              <a:t>RInt</a:t>
            </a:r>
            <a:r>
              <a:rPr lang="en-US" altLang="ja-JP" dirty="0"/>
              <a:t> 5,RString "Disintegration",</a:t>
            </a:r>
            <a:r>
              <a:rPr lang="en-US" altLang="ja-JP" dirty="0" err="1"/>
              <a:t>RInt</a:t>
            </a:r>
            <a:r>
              <a:rPr lang="en-US" altLang="ja-JP" dirty="0"/>
              <a:t> 4],</a:t>
            </a:r>
          </a:p>
          <a:p>
            <a:r>
              <a:rPr lang="en-US" altLang="ja-JP" dirty="0"/>
              <a:t>[</a:t>
            </a:r>
            <a:r>
              <a:rPr lang="en-US" altLang="ja-JP" dirty="0" err="1">
                <a:solidFill>
                  <a:srgbClr val="FF6600"/>
                </a:solidFill>
              </a:rPr>
              <a:t>RString</a:t>
            </a:r>
            <a:r>
              <a:rPr lang="en-US" altLang="ja-JP" dirty="0">
                <a:solidFill>
                  <a:srgbClr val="FF6600"/>
                </a:solidFill>
              </a:rPr>
              <a:t> "Trust",</a:t>
            </a:r>
            <a:r>
              <a:rPr lang="en-US" altLang="ja-JP" dirty="0" err="1">
                <a:solidFill>
                  <a:srgbClr val="FF6600"/>
                </a:solidFill>
              </a:rPr>
              <a:t>RInt</a:t>
            </a:r>
            <a:r>
              <a:rPr lang="en-US" altLang="ja-JP" dirty="0">
                <a:solidFill>
                  <a:srgbClr val="FF6600"/>
                </a:solidFill>
              </a:rPr>
              <a:t> 4,RString "Wish",</a:t>
            </a:r>
            <a:r>
              <a:rPr lang="en-US" altLang="ja-JP" dirty="0" err="1">
                <a:solidFill>
                  <a:srgbClr val="FF6600"/>
                </a:solidFill>
              </a:rPr>
              <a:t>RInt</a:t>
            </a:r>
            <a:r>
              <a:rPr lang="en-US" altLang="ja-JP" dirty="0">
                <a:solidFill>
                  <a:srgbClr val="FF6600"/>
                </a:solidFill>
              </a:rPr>
              <a:t> 5]]</a:t>
            </a:r>
            <a:endParaRPr lang="ja-JP" altLang="en-US" dirty="0">
              <a:solidFill>
                <a:srgbClr val="FF6600"/>
              </a:solidFill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85800" y="1484784"/>
            <a:ext cx="3946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Testing</a:t>
            </a:r>
            <a:r>
              <a:rPr lang="ja-JP" altLang="en-US" dirty="0" smtClean="0"/>
              <a:t> </a:t>
            </a:r>
            <a:r>
              <a:rPr lang="en-US" altLang="ja-JP" dirty="0" smtClean="0"/>
              <a:t>the</a:t>
            </a:r>
            <a:r>
              <a:rPr lang="ja-JP" altLang="en-US" dirty="0" smtClean="0"/>
              <a:t> </a:t>
            </a:r>
            <a:r>
              <a:rPr lang="en-US" altLang="ja-JP" dirty="0" smtClean="0"/>
              <a:t>forward</a:t>
            </a:r>
            <a:r>
              <a:rPr lang="ja-JP" altLang="en-US" dirty="0" smtClean="0"/>
              <a:t> </a:t>
            </a:r>
            <a:r>
              <a:rPr lang="en-US" altLang="ja-JP" dirty="0" smtClean="0"/>
              <a:t>transformation:</a:t>
            </a:r>
          </a:p>
          <a:p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17852" y="3964414"/>
            <a:ext cx="409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Suppose that the view is changed to: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/>
        </p:nvSpPr>
        <p:spPr>
          <a:xfrm>
            <a:off x="725859" y="4581128"/>
            <a:ext cx="7458918" cy="923330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v =  [ [</a:t>
            </a:r>
            <a:r>
              <a:rPr lang="en-US" altLang="ja-JP" dirty="0" err="1"/>
              <a:t>RString</a:t>
            </a:r>
            <a:r>
              <a:rPr lang="en-US" altLang="ja-JP" dirty="0"/>
              <a:t> "Lullaby" , </a:t>
            </a:r>
            <a:r>
              <a:rPr lang="en-US" altLang="ja-JP" dirty="0" err="1"/>
              <a:t>RInt</a:t>
            </a:r>
            <a:r>
              <a:rPr lang="en-US" altLang="ja-JP" dirty="0"/>
              <a:t> </a:t>
            </a:r>
            <a:r>
              <a:rPr lang="en-US" altLang="ja-JP" dirty="0">
                <a:solidFill>
                  <a:srgbClr val="FF6600"/>
                </a:solidFill>
              </a:rPr>
              <a:t>4</a:t>
            </a:r>
            <a:r>
              <a:rPr lang="en-US" altLang="ja-JP" dirty="0"/>
              <a:t>, </a:t>
            </a:r>
            <a:r>
              <a:rPr lang="en-US" altLang="ja-JP" dirty="0" err="1"/>
              <a:t>RString</a:t>
            </a:r>
            <a:r>
              <a:rPr lang="en-US" altLang="ja-JP" dirty="0"/>
              <a:t> "Show"  , </a:t>
            </a:r>
            <a:r>
              <a:rPr lang="en-US" altLang="ja-JP" dirty="0" err="1"/>
              <a:t>RInt</a:t>
            </a:r>
            <a:r>
              <a:rPr lang="en-US" altLang="ja-JP" dirty="0"/>
              <a:t> 3]</a:t>
            </a:r>
          </a:p>
          <a:p>
            <a:r>
              <a:rPr lang="en-US" altLang="ja-JP" dirty="0"/>
              <a:t>     , [</a:t>
            </a:r>
            <a:r>
              <a:rPr lang="en-US" altLang="ja-JP" dirty="0" err="1"/>
              <a:t>RString</a:t>
            </a:r>
            <a:r>
              <a:rPr lang="en-US" altLang="ja-JP" dirty="0"/>
              <a:t> "</a:t>
            </a:r>
            <a:r>
              <a:rPr lang="en-US" altLang="ja-JP" dirty="0" err="1"/>
              <a:t>Lovesong</a:t>
            </a:r>
            <a:r>
              <a:rPr lang="en-US" altLang="ja-JP" dirty="0"/>
              <a:t>", </a:t>
            </a:r>
            <a:r>
              <a:rPr lang="en-US" altLang="ja-JP" dirty="0" err="1"/>
              <a:t>RInt</a:t>
            </a:r>
            <a:r>
              <a:rPr lang="en-US" altLang="ja-JP" dirty="0"/>
              <a:t> 5, </a:t>
            </a:r>
            <a:r>
              <a:rPr lang="en-US" altLang="ja-JP" dirty="0" err="1"/>
              <a:t>RString</a:t>
            </a:r>
            <a:r>
              <a:rPr lang="en-US" altLang="ja-JP" dirty="0"/>
              <a:t> "Disintegration" , </a:t>
            </a:r>
            <a:r>
              <a:rPr lang="en-US" altLang="ja-JP" dirty="0" err="1"/>
              <a:t>RInt</a:t>
            </a:r>
            <a:r>
              <a:rPr lang="en-US" altLang="ja-JP" dirty="0"/>
              <a:t> </a:t>
            </a:r>
            <a:r>
              <a:rPr lang="en-US" altLang="ja-JP" dirty="0">
                <a:solidFill>
                  <a:srgbClr val="FF6600"/>
                </a:solidFill>
              </a:rPr>
              <a:t>7</a:t>
            </a:r>
            <a:r>
              <a:rPr lang="en-US" altLang="ja-JP" dirty="0"/>
              <a:t>]</a:t>
            </a:r>
          </a:p>
          <a:p>
            <a:r>
              <a:rPr lang="en-US" altLang="ja-JP" dirty="0"/>
              <a:t>     ]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845097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57</a:t>
            </a:fld>
            <a:endParaRPr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85800" y="1484784"/>
            <a:ext cx="4102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Testing</a:t>
            </a:r>
            <a:r>
              <a:rPr lang="ja-JP" altLang="en-US" dirty="0" smtClean="0"/>
              <a:t> </a:t>
            </a:r>
            <a:r>
              <a:rPr lang="en-US" altLang="ja-JP" dirty="0" smtClean="0"/>
              <a:t>the</a:t>
            </a:r>
            <a:r>
              <a:rPr lang="ja-JP" altLang="en-US" dirty="0" smtClean="0"/>
              <a:t> </a:t>
            </a:r>
            <a:r>
              <a:rPr lang="en-US" altLang="ja-JP" dirty="0" smtClean="0"/>
              <a:t>backward</a:t>
            </a:r>
            <a:r>
              <a:rPr lang="ja-JP" altLang="en-US" dirty="0" smtClean="0"/>
              <a:t> </a:t>
            </a:r>
            <a:r>
              <a:rPr lang="en-US" altLang="ja-JP" dirty="0" smtClean="0"/>
              <a:t>transformation:</a:t>
            </a:r>
          </a:p>
          <a:p>
            <a:endParaRPr kumimoji="1" lang="ja-JP" altLang="en-US" dirty="0"/>
          </a:p>
        </p:txBody>
      </p:sp>
      <p:sp>
        <p:nvSpPr>
          <p:cNvPr id="3" name="正方形/長方形 2"/>
          <p:cNvSpPr/>
          <p:nvPr/>
        </p:nvSpPr>
        <p:spPr>
          <a:xfrm>
            <a:off x="683568" y="2132856"/>
            <a:ext cx="7808337" cy="17543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*</a:t>
            </a:r>
            <a:r>
              <a:rPr lang="en-US" altLang="ja-JP" dirty="0" err="1"/>
              <a:t>Brul</a:t>
            </a:r>
            <a:r>
              <a:rPr lang="en-US" altLang="ja-JP" dirty="0"/>
              <a:t>&gt; put (u0 (</a:t>
            </a:r>
            <a:r>
              <a:rPr lang="en-US" altLang="ja-JP" dirty="0" err="1"/>
              <a:t>RInt</a:t>
            </a:r>
            <a:r>
              <a:rPr lang="en-US" altLang="ja-JP" dirty="0"/>
              <a:t> (-1)) (</a:t>
            </a:r>
            <a:r>
              <a:rPr lang="en-US" altLang="ja-JP" dirty="0" err="1"/>
              <a:t>fdFun</a:t>
            </a:r>
            <a:r>
              <a:rPr lang="en-US" altLang="ja-JP" dirty="0"/>
              <a:t> </a:t>
            </a:r>
            <a:r>
              <a:rPr lang="en-US" altLang="ja-JP" dirty="0" err="1"/>
              <a:t>sfdMap</a:t>
            </a:r>
            <a:r>
              <a:rPr lang="en-US" altLang="ja-JP" dirty="0"/>
              <a:t> </a:t>
            </a:r>
            <a:r>
              <a:rPr lang="en-US" altLang="ja-JP" dirty="0" err="1"/>
              <a:t>vfdMap</a:t>
            </a:r>
            <a:r>
              <a:rPr lang="en-US" altLang="ja-JP" dirty="0"/>
              <a:t> </a:t>
            </a:r>
            <a:r>
              <a:rPr lang="en-US" altLang="ja-JP" dirty="0" err="1"/>
              <a:t>svMap</a:t>
            </a:r>
            <a:r>
              <a:rPr lang="en-US" altLang="ja-JP" dirty="0"/>
              <a:t> v)) s v</a:t>
            </a:r>
          </a:p>
          <a:p>
            <a:r>
              <a:rPr lang="en-US" altLang="ja-JP" dirty="0"/>
              <a:t>Just</a:t>
            </a:r>
          </a:p>
          <a:p>
            <a:r>
              <a:rPr lang="en-US" altLang="ja-JP" dirty="0"/>
              <a:t>[[</a:t>
            </a:r>
            <a:r>
              <a:rPr lang="en-US" altLang="ja-JP" dirty="0" err="1"/>
              <a:t>RString</a:t>
            </a:r>
            <a:r>
              <a:rPr lang="en-US" altLang="ja-JP" dirty="0"/>
              <a:t> "Lullaby",</a:t>
            </a:r>
            <a:r>
              <a:rPr lang="en-US" altLang="ja-JP" dirty="0" err="1"/>
              <a:t>RInt</a:t>
            </a:r>
            <a:r>
              <a:rPr lang="en-US" altLang="ja-JP" dirty="0"/>
              <a:t> 1989,RInt </a:t>
            </a:r>
            <a:r>
              <a:rPr lang="en-US" altLang="ja-JP" dirty="0">
                <a:solidFill>
                  <a:srgbClr val="FF6600"/>
                </a:solidFill>
              </a:rPr>
              <a:t>4</a:t>
            </a:r>
            <a:r>
              <a:rPr lang="en-US" altLang="ja-JP" dirty="0"/>
              <a:t>,RString "Galore",</a:t>
            </a:r>
            <a:r>
              <a:rPr lang="en-US" altLang="ja-JP" dirty="0" err="1"/>
              <a:t>RInt</a:t>
            </a:r>
            <a:r>
              <a:rPr lang="en-US" altLang="ja-JP" dirty="0"/>
              <a:t> 1],</a:t>
            </a:r>
          </a:p>
          <a:p>
            <a:r>
              <a:rPr lang="en-US" altLang="ja-JP" dirty="0"/>
              <a:t>[</a:t>
            </a:r>
            <a:r>
              <a:rPr lang="en-US" altLang="ja-JP" dirty="0" err="1"/>
              <a:t>RString</a:t>
            </a:r>
            <a:r>
              <a:rPr lang="en-US" altLang="ja-JP" dirty="0"/>
              <a:t> "Lullaby",</a:t>
            </a:r>
            <a:r>
              <a:rPr lang="en-US" altLang="ja-JP" dirty="0" err="1"/>
              <a:t>RInt</a:t>
            </a:r>
            <a:r>
              <a:rPr lang="en-US" altLang="ja-JP" dirty="0"/>
              <a:t> 1989,RInt </a:t>
            </a:r>
            <a:r>
              <a:rPr lang="en-US" altLang="ja-JP" dirty="0">
                <a:solidFill>
                  <a:srgbClr val="FF6600"/>
                </a:solidFill>
              </a:rPr>
              <a:t>4</a:t>
            </a:r>
            <a:r>
              <a:rPr lang="en-US" altLang="ja-JP" dirty="0"/>
              <a:t>,RString "Show",</a:t>
            </a:r>
            <a:r>
              <a:rPr lang="en-US" altLang="ja-JP" dirty="0" err="1"/>
              <a:t>RInt</a:t>
            </a:r>
            <a:r>
              <a:rPr lang="en-US" altLang="ja-JP" dirty="0"/>
              <a:t> 3],</a:t>
            </a:r>
          </a:p>
          <a:p>
            <a:r>
              <a:rPr lang="en-US" altLang="ja-JP" dirty="0"/>
              <a:t>[</a:t>
            </a:r>
            <a:r>
              <a:rPr lang="en-US" altLang="ja-JP" dirty="0" err="1"/>
              <a:t>RString</a:t>
            </a:r>
            <a:r>
              <a:rPr lang="en-US" altLang="ja-JP" dirty="0"/>
              <a:t> "</a:t>
            </a:r>
            <a:r>
              <a:rPr lang="en-US" altLang="ja-JP" dirty="0" err="1"/>
              <a:t>Lovesong</a:t>
            </a:r>
            <a:r>
              <a:rPr lang="en-US" altLang="ja-JP" dirty="0"/>
              <a:t>",</a:t>
            </a:r>
            <a:r>
              <a:rPr lang="en-US" altLang="ja-JP" dirty="0" err="1"/>
              <a:t>RInt</a:t>
            </a:r>
            <a:r>
              <a:rPr lang="en-US" altLang="ja-JP" dirty="0"/>
              <a:t> 1989,RInt 5,RString "Galore",</a:t>
            </a:r>
            <a:r>
              <a:rPr lang="en-US" altLang="ja-JP" dirty="0" err="1"/>
              <a:t>RInt</a:t>
            </a:r>
            <a:r>
              <a:rPr lang="en-US" altLang="ja-JP" dirty="0"/>
              <a:t> 1],</a:t>
            </a:r>
          </a:p>
          <a:p>
            <a:r>
              <a:rPr lang="en-US" altLang="ja-JP" dirty="0"/>
              <a:t>[</a:t>
            </a:r>
            <a:r>
              <a:rPr lang="en-US" altLang="ja-JP" dirty="0" err="1"/>
              <a:t>RString</a:t>
            </a:r>
            <a:r>
              <a:rPr lang="en-US" altLang="ja-JP" dirty="0"/>
              <a:t> "</a:t>
            </a:r>
            <a:r>
              <a:rPr lang="en-US" altLang="ja-JP" dirty="0" err="1"/>
              <a:t>Lovesong</a:t>
            </a:r>
            <a:r>
              <a:rPr lang="en-US" altLang="ja-JP" dirty="0"/>
              <a:t>",</a:t>
            </a:r>
            <a:r>
              <a:rPr lang="en-US" altLang="ja-JP" dirty="0" err="1"/>
              <a:t>RInt</a:t>
            </a:r>
            <a:r>
              <a:rPr lang="en-US" altLang="ja-JP" dirty="0"/>
              <a:t> 1989,RInt 5,RString "Disintegration",</a:t>
            </a:r>
            <a:r>
              <a:rPr lang="en-US" altLang="ja-JP" dirty="0" err="1"/>
              <a:t>RInt</a:t>
            </a:r>
            <a:r>
              <a:rPr lang="en-US" altLang="ja-JP" dirty="0"/>
              <a:t> 7]]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84706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58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685800" y="2492896"/>
            <a:ext cx="7848872" cy="3139321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u0 :: </a:t>
            </a:r>
            <a:r>
              <a:rPr lang="en-US" altLang="ja-JP" dirty="0" err="1"/>
              <a:t>RType</a:t>
            </a:r>
            <a:r>
              <a:rPr lang="en-US" altLang="ja-JP" dirty="0"/>
              <a:t> -&gt; (Record -&gt; Record) -&gt; </a:t>
            </a:r>
            <a:r>
              <a:rPr lang="en-US" altLang="ja-JP" dirty="0" err="1"/>
              <a:t>BiGUL</a:t>
            </a:r>
            <a:r>
              <a:rPr lang="en-US" altLang="ja-JP" dirty="0"/>
              <a:t> [Record] [Record]</a:t>
            </a:r>
          </a:p>
          <a:p>
            <a:r>
              <a:rPr lang="en-US" altLang="ja-JP" dirty="0"/>
              <a:t>u0 d =</a:t>
            </a:r>
          </a:p>
          <a:p>
            <a:r>
              <a:rPr lang="en-US" altLang="ja-JP" dirty="0"/>
              <a:t>  </a:t>
            </a:r>
            <a:r>
              <a:rPr lang="en-US" altLang="ja-JP" dirty="0" err="1"/>
              <a:t>relAlign</a:t>
            </a:r>
            <a:endParaRPr lang="en-US" altLang="ja-JP" dirty="0"/>
          </a:p>
          <a:p>
            <a:r>
              <a:rPr lang="en-US" altLang="ja-JP" dirty="0"/>
              <a:t>    (\r -&gt; (r !! 4) &gt; </a:t>
            </a:r>
            <a:r>
              <a:rPr lang="en-US" altLang="ja-JP" dirty="0" err="1"/>
              <a:t>RInt</a:t>
            </a:r>
            <a:r>
              <a:rPr lang="en-US" altLang="ja-JP" dirty="0"/>
              <a:t> 2)</a:t>
            </a:r>
          </a:p>
          <a:p>
            <a:r>
              <a:rPr lang="en-US" altLang="ja-JP" dirty="0"/>
              <a:t>    (\s -&gt; (s !! 0, s!!3))</a:t>
            </a:r>
          </a:p>
          <a:p>
            <a:r>
              <a:rPr lang="en-US" altLang="ja-JP" dirty="0"/>
              <a:t>    (\v -&gt; (v !! 0, v !! 2))</a:t>
            </a:r>
          </a:p>
          <a:p>
            <a:r>
              <a:rPr lang="en-US" altLang="ja-JP" dirty="0"/>
              <a:t>    $(update [p| (t: _: r: a: q: [])|]</a:t>
            </a:r>
          </a:p>
          <a:p>
            <a:r>
              <a:rPr lang="en-US" altLang="ja-JP" dirty="0"/>
              <a:t>             [p| (t: r: a: q: []) |]</a:t>
            </a:r>
          </a:p>
          <a:p>
            <a:r>
              <a:rPr lang="en-US" altLang="ja-JP" dirty="0"/>
              <a:t>             [d| t = Replace; r = Replace; a = Replace; q = Replace |])</a:t>
            </a:r>
          </a:p>
          <a:p>
            <a:r>
              <a:rPr lang="en-US" altLang="ja-JP" dirty="0"/>
              <a:t>    (\(t: r: a: q: []) -&gt; (t: d: r: a: q: []))</a:t>
            </a:r>
          </a:p>
          <a:p>
            <a:r>
              <a:rPr lang="en-US" altLang="ja-JP" dirty="0"/>
              <a:t>   </a:t>
            </a:r>
            <a:r>
              <a:rPr lang="en-US" altLang="ja-JP" dirty="0">
                <a:solidFill>
                  <a:srgbClr val="FF6600"/>
                </a:solidFill>
              </a:rPr>
              <a:t>(\(t: d: r: a: _: []) -&gt; Just (t: d: r: a: </a:t>
            </a:r>
            <a:r>
              <a:rPr lang="en-US" altLang="ja-JP" dirty="0" err="1" smtClean="0">
                <a:solidFill>
                  <a:srgbClr val="FF6600"/>
                </a:solidFill>
              </a:rPr>
              <a:t>Rint</a:t>
            </a:r>
            <a:r>
              <a:rPr lang="en-US" altLang="ja-JP" dirty="0" smtClean="0">
                <a:solidFill>
                  <a:srgbClr val="FF6600"/>
                </a:solidFill>
              </a:rPr>
              <a:t> 0:</a:t>
            </a:r>
            <a:r>
              <a:rPr lang="en-US" altLang="ja-JP" dirty="0">
                <a:solidFill>
                  <a:srgbClr val="FF6600"/>
                </a:solidFill>
              </a:rPr>
              <a:t>[]))</a:t>
            </a:r>
            <a:endParaRPr lang="ja-JP" altLang="en-US" dirty="0">
              <a:solidFill>
                <a:srgbClr val="FF6600"/>
              </a:solidFill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85800" y="1556792"/>
            <a:ext cx="7313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Define a new update policy: if an element is removed from the view,</a:t>
            </a:r>
            <a:r>
              <a:rPr lang="en-US" altLang="en-US" dirty="0" smtClean="0"/>
              <a:t> </a:t>
            </a:r>
          </a:p>
          <a:p>
            <a:r>
              <a:rPr lang="en-US" altLang="en-US" dirty="0" smtClean="0"/>
              <a:t>the corresponding source elements will have quantity 0. 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1388739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IST">
  <a:themeElements>
    <a:clrScheme name="IS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IST">
      <a:majorFont>
        <a:latin typeface="Times New Roman"/>
        <a:ea typeface="ヒラギノ丸ゴ Pro W4"/>
        <a:cs typeface="ヒラギノ丸ゴ Pro W4"/>
      </a:majorFont>
      <a:minorFont>
        <a:latin typeface="Chalkboard"/>
        <a:ea typeface="ヒラギノ丸ゴ Pro W4"/>
        <a:cs typeface="ヒラギノ丸ゴ Pro W4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pitchFamily="-111" charset="0"/>
            <a:ea typeface="ＭＳ Ｐゴシック" pitchFamily="-111" charset="-128"/>
            <a:cs typeface="ＭＳ Ｐゴシック" pitchFamily="-111" charset="-128"/>
          </a:defRPr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1" charset="0"/>
            <a:ea typeface="ＭＳ Ｐゴシック" pitchFamily="-111" charset="-128"/>
            <a:cs typeface="ＭＳ Ｐゴシック" pitchFamily="-111" charset="-128"/>
          </a:defRPr>
        </a:defPPr>
      </a:lstStyle>
    </a:lnDef>
  </a:objectDefaults>
  <a:extraClrSchemeLst>
    <a:extraClrScheme>
      <a:clrScheme name="IS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S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talk101113.ppt</Template>
  <TotalTime>67293</TotalTime>
  <Words>6351</Words>
  <Application>Microsoft Macintosh PowerPoint</Application>
  <PresentationFormat>画面に合わせる (4:3)</PresentationFormat>
  <Paragraphs>624</Paragraphs>
  <Slides>58</Slides>
  <Notes>5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58</vt:i4>
      </vt:variant>
    </vt:vector>
  </HeadingPairs>
  <TitlesOfParts>
    <vt:vector size="59" baseType="lpstr">
      <vt:lpstr>IST</vt:lpstr>
      <vt:lpstr>Principle and Practice of Putback-based Bidirectional Programming in BiGUL</vt:lpstr>
      <vt:lpstr>Overview</vt:lpstr>
      <vt:lpstr>Bidirectional Programming (using Functions)</vt:lpstr>
      <vt:lpstr>Bidirectional Transformation (BX)</vt:lpstr>
      <vt:lpstr>Roundtrip Properties</vt:lpstr>
      <vt:lpstr>Challenges</vt:lpstr>
      <vt:lpstr>Get-based Approach</vt:lpstr>
      <vt:lpstr>Ambiguity of “Put”</vt:lpstr>
      <vt:lpstr>PowerPoint プレゼンテーション</vt:lpstr>
      <vt:lpstr>One Solution: Enriching “get”</vt:lpstr>
      <vt:lpstr>Foundation of Putback-based Bidirectional Programming </vt:lpstr>
      <vt:lpstr>Putback is the essence of BX!</vt:lpstr>
      <vt:lpstr>Derived “get”: Uniqueness</vt:lpstr>
      <vt:lpstr>Derived “get”: Uniqueness</vt:lpstr>
      <vt:lpstr>Derived “get”: Existence</vt:lpstr>
      <vt:lpstr>Derived “get”: Existence</vt:lpstr>
      <vt:lpstr>Remark</vt:lpstr>
      <vt:lpstr>Well-behaved “put”</vt:lpstr>
      <vt:lpstr>Well-behaved “put”</vt:lpstr>
      <vt:lpstr>Validity Check of “Put”</vt:lpstr>
      <vt:lpstr>Putback-based Bidirectional Programming in BiGUL</vt:lpstr>
      <vt:lpstr>http://www.prg.nii.ac.jp/bx/</vt:lpstr>
      <vt:lpstr>Installing BiGUL</vt:lpstr>
      <vt:lpstr>Test.hs</vt:lpstr>
      <vt:lpstr>Put and Its Bidirectional Interpretation</vt:lpstr>
      <vt:lpstr>PowerPoint プレゼンテーション</vt:lpstr>
      <vt:lpstr>A Quick Tour of BiGUL</vt:lpstr>
      <vt:lpstr>1. Skip</vt:lpstr>
      <vt:lpstr>2. Replace</vt:lpstr>
      <vt:lpstr>3. Prod: Production of two puts</vt:lpstr>
      <vt:lpstr>4. Source/View Rearrangements</vt:lpstr>
      <vt:lpstr>PowerPoint プレゼンテーション</vt:lpstr>
      <vt:lpstr>PowerPoint プレゼンテーション</vt:lpstr>
      <vt:lpstr>PowerPoint プレゼンテーション</vt:lpstr>
      <vt:lpstr>5. Case</vt:lpstr>
      <vt:lpstr>PowerPoint プレゼンテーション</vt:lpstr>
      <vt:lpstr>PowerPoint プレゼンテーション</vt:lpstr>
      <vt:lpstr>Bidirectionalization of Functions on Lists</vt:lpstr>
      <vt:lpstr>Foldr</vt:lpstr>
      <vt:lpstr>lensFoldr</vt:lpstr>
      <vt:lpstr>lensMap</vt:lpstr>
      <vt:lpstr>LensReverse</vt:lpstr>
      <vt:lpstr>PowerPoint プレゼンテーション</vt:lpstr>
      <vt:lpstr>Bidirectionalizing relational queries with BiGUL</vt:lpstr>
      <vt:lpstr>View Updating for Relational Database</vt:lpstr>
      <vt:lpstr>Brul [BX 2015]</vt:lpstr>
      <vt:lpstr>Relational Table</vt:lpstr>
      <vt:lpstr>Functional Dependency</vt:lpstr>
      <vt:lpstr>From keyAlign to relAlign</vt:lpstr>
      <vt:lpstr>Review: keyAlign</vt:lpstr>
      <vt:lpstr>From keyAlign to pAlign</vt:lpstr>
      <vt:lpstr>From keyAlign to pAlign</vt:lpstr>
      <vt:lpstr>From keyAlign to pAlign</vt:lpstr>
      <vt:lpstr>From pAlign to relAlign</vt:lpstr>
      <vt:lpstr>Use of relAlign</vt:lpstr>
      <vt:lpstr>PowerPoint プレゼンテーション</vt:lpstr>
      <vt:lpstr>PowerPoint プレゼンテーション</vt:lpstr>
      <vt:lpstr>PowerPoint プレゼンテーション</vt:lpstr>
    </vt:vector>
  </TitlesOfParts>
  <Company>NII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Hu Zhenjiang</dc:creator>
  <cp:lastModifiedBy>Zhenjiang Hu</cp:lastModifiedBy>
  <cp:revision>633</cp:revision>
  <cp:lastPrinted>2013-12-23T12:47:28Z</cp:lastPrinted>
  <dcterms:created xsi:type="dcterms:W3CDTF">2012-04-11T02:32:42Z</dcterms:created>
  <dcterms:modified xsi:type="dcterms:W3CDTF">2016-07-26T07:48:08Z</dcterms:modified>
</cp:coreProperties>
</file>